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0" autoAdjust="0"/>
    <p:restoredTop sz="94610"/>
  </p:normalViewPr>
  <p:slideViewPr>
    <p:cSldViewPr snapToGrid="0" snapToObjects="1">
      <p:cViewPr>
        <p:scale>
          <a:sx n="96" d="100"/>
          <a:sy n="96" d="100"/>
        </p:scale>
        <p:origin x="29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1790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120640" cy="5143500"/>
          </a:xfrm>
          <a:prstGeom prst="rect">
            <a:avLst/>
          </a:prstGeom>
          <a:solidFill>
            <a:srgbClr val="06101A"/>
          </a:solidFill>
          <a:ln/>
        </p:spPr>
      </p:sp>
      <p:sp>
        <p:nvSpPr>
          <p:cNvPr id="3" name="Shape 1"/>
          <p:cNvSpPr/>
          <p:nvPr/>
        </p:nvSpPr>
        <p:spPr>
          <a:xfrm>
            <a:off x="0" y="0"/>
            <a:ext cx="91440" cy="5143500"/>
          </a:xfrm>
          <a:prstGeom prst="rect">
            <a:avLst/>
          </a:prstGeom>
          <a:solidFill>
            <a:srgbClr val="C8963E"/>
          </a:solidFill>
          <a:ln/>
        </p:spPr>
      </p:sp>
      <p:sp>
        <p:nvSpPr>
          <p:cNvPr id="4" name="Shape 2"/>
          <p:cNvSpPr/>
          <p:nvPr/>
        </p:nvSpPr>
        <p:spPr>
          <a:xfrm>
            <a:off x="3200400" y="-365760"/>
            <a:ext cx="2560320" cy="2560320"/>
          </a:xfrm>
          <a:prstGeom prst="ellipse">
            <a:avLst/>
          </a:prstGeom>
          <a:solidFill>
            <a:srgbClr val="0F2540"/>
          </a:solidFill>
          <a:ln w="25400">
            <a:solidFill>
              <a:srgbClr val="1B6CA8"/>
            </a:solidFill>
            <a:prstDash val="solid"/>
          </a:ln>
        </p:spPr>
      </p:sp>
      <p:sp>
        <p:nvSpPr>
          <p:cNvPr id="5" name="Shape 3"/>
          <p:cNvSpPr/>
          <p:nvPr/>
        </p:nvSpPr>
        <p:spPr>
          <a:xfrm>
            <a:off x="3657600" y="2926080"/>
            <a:ext cx="1463040" cy="1463040"/>
          </a:xfrm>
          <a:prstGeom prst="ellipse">
            <a:avLst/>
          </a:prstGeom>
          <a:solidFill>
            <a:srgbClr val="0F2540"/>
          </a:solidFill>
          <a:ln w="12700">
            <a:solidFill>
              <a:srgbClr val="C8963E"/>
            </a:solidFill>
            <a:prstDash val="solid"/>
          </a:ln>
        </p:spPr>
      </p:sp>
      <p:sp>
        <p:nvSpPr>
          <p:cNvPr id="6" name="Text 4"/>
          <p:cNvSpPr/>
          <p:nvPr/>
        </p:nvSpPr>
        <p:spPr>
          <a:xfrm>
            <a:off x="228600" y="640080"/>
            <a:ext cx="4754880" cy="7772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Portfolio</a:t>
            </a:r>
            <a:endParaRPr lang="en-US" sz="4200" dirty="0"/>
          </a:p>
        </p:txBody>
      </p:sp>
      <p:sp>
        <p:nvSpPr>
          <p:cNvPr id="7" name="Text 5"/>
          <p:cNvSpPr/>
          <p:nvPr/>
        </p:nvSpPr>
        <p:spPr>
          <a:xfrm>
            <a:off x="228600" y="1371600"/>
            <a:ext cx="4754880" cy="777240"/>
          </a:xfrm>
          <a:prstGeom prst="rect">
            <a:avLst/>
          </a:prstGeom>
          <a:noFill/>
          <a:ln/>
        </p:spPr>
        <p:txBody>
          <a:bodyPr wrap="square" lIns="0" tIns="0" rIns="0" bIns="0" rtlCol="0" anchor="ctr"/>
          <a:lstStyle/>
          <a:p>
            <a:pPr marL="0" indent="0">
              <a:buNone/>
            </a:pPr>
            <a:r>
              <a:rPr lang="en-US" sz="4200" b="1" dirty="0">
                <a:solidFill>
                  <a:srgbClr val="C8963E"/>
                </a:solidFill>
                <a:latin typeface="Calibri" pitchFamily="34" charset="0"/>
                <a:ea typeface="Calibri" pitchFamily="34" charset="-122"/>
                <a:cs typeface="Calibri" pitchFamily="34" charset="-120"/>
              </a:rPr>
              <a:t>Optimisation</a:t>
            </a:r>
            <a:endParaRPr lang="en-US" sz="4200" dirty="0"/>
          </a:p>
        </p:txBody>
      </p:sp>
      <p:sp>
        <p:nvSpPr>
          <p:cNvPr id="8" name="Shape 6"/>
          <p:cNvSpPr/>
          <p:nvPr/>
        </p:nvSpPr>
        <p:spPr>
          <a:xfrm>
            <a:off x="228600" y="2176272"/>
            <a:ext cx="2926080" cy="45720"/>
          </a:xfrm>
          <a:prstGeom prst="rect">
            <a:avLst/>
          </a:prstGeom>
          <a:solidFill>
            <a:srgbClr val="C8963E"/>
          </a:solidFill>
          <a:ln/>
        </p:spPr>
      </p:sp>
      <p:sp>
        <p:nvSpPr>
          <p:cNvPr id="9" name="Text 7"/>
          <p:cNvSpPr/>
          <p:nvPr/>
        </p:nvSpPr>
        <p:spPr>
          <a:xfrm>
            <a:off x="228600" y="2331720"/>
            <a:ext cx="4754880" cy="822960"/>
          </a:xfrm>
          <a:prstGeom prst="rect">
            <a:avLst/>
          </a:prstGeom>
          <a:noFill/>
          <a:ln/>
        </p:spPr>
        <p:txBody>
          <a:bodyPr wrap="square" lIns="0" tIns="0" rIns="0" bIns="0" rtlCol="0" anchor="ctr"/>
          <a:lstStyle/>
          <a:p>
            <a:pPr marL="0" indent="0">
              <a:buNone/>
            </a:pPr>
            <a:r>
              <a:rPr lang="en-US" sz="1200" dirty="0">
                <a:solidFill>
                  <a:srgbClr val="D6E0EA"/>
                </a:solidFill>
                <a:latin typeface="Calibri" pitchFamily="34" charset="0"/>
                <a:ea typeface="Calibri" pitchFamily="34" charset="-122"/>
                <a:cs typeface="Calibri" pitchFamily="34" charset="-120"/>
              </a:rPr>
              <a:t>A Quantitative Approach using</a:t>
            </a:r>
            <a:endParaRPr lang="en-US" sz="1200" dirty="0"/>
          </a:p>
          <a:p>
            <a:pPr marL="0" indent="0">
              <a:buNone/>
            </a:pPr>
            <a:r>
              <a:rPr lang="en-US" sz="1200" dirty="0">
                <a:solidFill>
                  <a:srgbClr val="D6E0EA"/>
                </a:solidFill>
                <a:latin typeface="Calibri" pitchFamily="34" charset="0"/>
                <a:ea typeface="Calibri" pitchFamily="34" charset="-122"/>
                <a:cs typeface="Calibri" pitchFamily="34" charset="-120"/>
              </a:rPr>
              <a:t>Mean-Variance Optimisation, Logistic Regression &amp; GARCH Models</a:t>
            </a:r>
            <a:endParaRPr lang="en-US" sz="1200" dirty="0"/>
          </a:p>
        </p:txBody>
      </p:sp>
      <p:sp>
        <p:nvSpPr>
          <p:cNvPr id="10" name="Shape 8"/>
          <p:cNvSpPr/>
          <p:nvPr/>
        </p:nvSpPr>
        <p:spPr>
          <a:xfrm>
            <a:off x="228600" y="3291840"/>
            <a:ext cx="4663440" cy="502920"/>
          </a:xfrm>
          <a:prstGeom prst="rect">
            <a:avLst/>
          </a:prstGeom>
          <a:solidFill>
            <a:srgbClr val="0F2540"/>
          </a:solidFill>
          <a:ln/>
          <a:effectLst>
            <a:outerShdw blurRad="76200" dist="25400" dir="8100000" algn="bl" rotWithShape="0">
              <a:srgbClr val="000000">
                <a:alpha val="12000"/>
              </a:srgbClr>
            </a:outerShdw>
          </a:effectLst>
        </p:spPr>
      </p:sp>
      <p:sp>
        <p:nvSpPr>
          <p:cNvPr id="11" name="Text 9"/>
          <p:cNvSpPr/>
          <p:nvPr/>
        </p:nvSpPr>
        <p:spPr>
          <a:xfrm>
            <a:off x="320040" y="3319272"/>
            <a:ext cx="4480560" cy="438912"/>
          </a:xfrm>
          <a:prstGeom prst="rect">
            <a:avLst/>
          </a:prstGeom>
          <a:noFill/>
          <a:ln/>
        </p:spPr>
        <p:txBody>
          <a:bodyPr wrap="square" lIns="0" tIns="0" rIns="0" bIns="0" rtlCol="0" anchor="ctr"/>
          <a:lstStyle/>
          <a:p>
            <a:pPr marL="0" indent="0">
              <a:buNone/>
            </a:pPr>
            <a:r>
              <a:rPr lang="en-US" sz="1100" i="1" dirty="0">
                <a:solidFill>
                  <a:srgbClr val="D6E0EA"/>
                </a:solidFill>
                <a:latin typeface="Calibri" pitchFamily="34" charset="0"/>
                <a:ea typeface="Calibri" pitchFamily="34" charset="-122"/>
                <a:cs typeface="Calibri" pitchFamily="34" charset="-120"/>
              </a:rPr>
              <a:t>Statistics for Finance  |  Indian Statistical Institute</a:t>
            </a:r>
            <a:endParaRPr lang="en-US" sz="1100" dirty="0"/>
          </a:p>
        </p:txBody>
      </p:sp>
      <p:sp>
        <p:nvSpPr>
          <p:cNvPr id="12" name="Text 10"/>
          <p:cNvSpPr/>
          <p:nvPr/>
        </p:nvSpPr>
        <p:spPr>
          <a:xfrm>
            <a:off x="228600" y="3913632"/>
            <a:ext cx="1828800" cy="274320"/>
          </a:xfrm>
          <a:prstGeom prst="rect">
            <a:avLst/>
          </a:prstGeom>
          <a:noFill/>
          <a:ln/>
        </p:spPr>
        <p:txBody>
          <a:bodyPr wrap="square" lIns="0" tIns="0" rIns="0" bIns="0" rtlCol="0" anchor="ctr"/>
          <a:lstStyle/>
          <a:p>
            <a:pPr marL="0" indent="0">
              <a:buNone/>
            </a:pPr>
            <a:r>
              <a:rPr lang="en-US" sz="1000" b="1" dirty="0">
                <a:solidFill>
                  <a:srgbClr val="C8963E"/>
                </a:solidFill>
                <a:latin typeface="Calibri" pitchFamily="34" charset="0"/>
                <a:ea typeface="Calibri" pitchFamily="34" charset="-122"/>
                <a:cs typeface="Calibri" pitchFamily="34" charset="-120"/>
              </a:rPr>
              <a:t>Project Team</a:t>
            </a:r>
            <a:endParaRPr lang="en-US" sz="1000" dirty="0"/>
          </a:p>
        </p:txBody>
      </p:sp>
      <p:sp>
        <p:nvSpPr>
          <p:cNvPr id="13" name="Text 11"/>
          <p:cNvSpPr/>
          <p:nvPr/>
        </p:nvSpPr>
        <p:spPr>
          <a:xfrm>
            <a:off x="228600" y="4206240"/>
            <a:ext cx="2194560" cy="1828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Member 1 Name</a:t>
            </a:r>
            <a:endParaRPr lang="en-US" sz="950" dirty="0"/>
          </a:p>
        </p:txBody>
      </p:sp>
      <p:sp>
        <p:nvSpPr>
          <p:cNvPr id="14" name="Text 12"/>
          <p:cNvSpPr/>
          <p:nvPr/>
        </p:nvSpPr>
        <p:spPr>
          <a:xfrm>
            <a:off x="228600" y="4389120"/>
            <a:ext cx="2194560" cy="1828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Member 2 Name</a:t>
            </a:r>
            <a:endParaRPr lang="en-US" sz="950" dirty="0"/>
          </a:p>
        </p:txBody>
      </p:sp>
      <p:sp>
        <p:nvSpPr>
          <p:cNvPr id="15" name="Text 13"/>
          <p:cNvSpPr/>
          <p:nvPr/>
        </p:nvSpPr>
        <p:spPr>
          <a:xfrm>
            <a:off x="228600" y="4572000"/>
            <a:ext cx="2194560" cy="1828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Member 3 Name</a:t>
            </a:r>
            <a:endParaRPr lang="en-US" sz="950" dirty="0"/>
          </a:p>
        </p:txBody>
      </p:sp>
      <p:sp>
        <p:nvSpPr>
          <p:cNvPr id="16" name="Text 14"/>
          <p:cNvSpPr/>
          <p:nvPr/>
        </p:nvSpPr>
        <p:spPr>
          <a:xfrm>
            <a:off x="2606040" y="4206240"/>
            <a:ext cx="2194560" cy="1828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Member 4 Name</a:t>
            </a:r>
            <a:endParaRPr lang="en-US" sz="950" dirty="0"/>
          </a:p>
        </p:txBody>
      </p:sp>
      <p:sp>
        <p:nvSpPr>
          <p:cNvPr id="17" name="Text 15"/>
          <p:cNvSpPr/>
          <p:nvPr/>
        </p:nvSpPr>
        <p:spPr>
          <a:xfrm>
            <a:off x="2606040" y="4389120"/>
            <a:ext cx="2194560" cy="1828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 Member 5 Name</a:t>
            </a:r>
            <a:endParaRPr lang="en-US" sz="950" dirty="0"/>
          </a:p>
        </p:txBody>
      </p:sp>
      <p:sp>
        <p:nvSpPr>
          <p:cNvPr id="18" name="Text 16"/>
          <p:cNvSpPr/>
          <p:nvPr/>
        </p:nvSpPr>
        <p:spPr>
          <a:xfrm>
            <a:off x="5486400" y="365760"/>
            <a:ext cx="3383280" cy="365760"/>
          </a:xfrm>
          <a:prstGeom prst="rect">
            <a:avLst/>
          </a:prstGeom>
          <a:noFill/>
          <a:ln/>
        </p:spPr>
        <p:txBody>
          <a:bodyPr wrap="square" lIns="0" tIns="0" rIns="0" bIns="0" rtlCol="0" anchor="ctr"/>
          <a:lstStyle/>
          <a:p>
            <a:pPr marL="0" indent="0">
              <a:buNone/>
            </a:pPr>
            <a:r>
              <a:rPr lang="en-US" sz="1300" b="1" dirty="0">
                <a:solidFill>
                  <a:srgbClr val="C8963E"/>
                </a:solidFill>
                <a:latin typeface="Calibri" pitchFamily="34" charset="0"/>
                <a:ea typeface="Calibri" pitchFamily="34" charset="-122"/>
                <a:cs typeface="Calibri" pitchFamily="34" charset="-120"/>
              </a:rPr>
              <a:t>Key Methods</a:t>
            </a:r>
            <a:endParaRPr lang="en-US" sz="1300" dirty="0"/>
          </a:p>
        </p:txBody>
      </p:sp>
      <p:sp>
        <p:nvSpPr>
          <p:cNvPr id="19" name="Shape 17"/>
          <p:cNvSpPr/>
          <p:nvPr/>
        </p:nvSpPr>
        <p:spPr>
          <a:xfrm>
            <a:off x="5349240" y="822960"/>
            <a:ext cx="3566160" cy="822960"/>
          </a:xfrm>
          <a:prstGeom prst="rect">
            <a:avLst/>
          </a:prstGeom>
          <a:solidFill>
            <a:srgbClr val="0D2B45"/>
          </a:solidFill>
          <a:ln/>
          <a:effectLst>
            <a:outerShdw blurRad="76200" dist="25400" dir="8100000" algn="bl" rotWithShape="0">
              <a:srgbClr val="000000">
                <a:alpha val="12000"/>
              </a:srgbClr>
            </a:outerShdw>
          </a:effectLst>
        </p:spPr>
      </p:sp>
      <p:sp>
        <p:nvSpPr>
          <p:cNvPr id="20" name="Shape 18"/>
          <p:cNvSpPr/>
          <p:nvPr/>
        </p:nvSpPr>
        <p:spPr>
          <a:xfrm>
            <a:off x="5349240" y="822960"/>
            <a:ext cx="54864" cy="822960"/>
          </a:xfrm>
          <a:prstGeom prst="rect">
            <a:avLst/>
          </a:prstGeom>
          <a:solidFill>
            <a:srgbClr val="C8963E"/>
          </a:solidFill>
          <a:ln/>
        </p:spPr>
      </p:sp>
      <p:pic>
        <p:nvPicPr>
          <p:cNvPr id="21" name="Image 0" descr="preencoded.png"/>
          <p:cNvPicPr>
            <a:picLocks noChangeAspect="1"/>
          </p:cNvPicPr>
          <p:nvPr/>
        </p:nvPicPr>
        <p:blipFill>
          <a:blip r:embed="rId3"/>
          <a:stretch>
            <a:fillRect/>
          </a:stretch>
        </p:blipFill>
        <p:spPr>
          <a:xfrm>
            <a:off x="5458968" y="960120"/>
            <a:ext cx="365760" cy="365760"/>
          </a:xfrm>
          <a:prstGeom prst="rect">
            <a:avLst/>
          </a:prstGeom>
        </p:spPr>
      </p:pic>
      <p:sp>
        <p:nvSpPr>
          <p:cNvPr id="22" name="Text 19"/>
          <p:cNvSpPr/>
          <p:nvPr/>
        </p:nvSpPr>
        <p:spPr>
          <a:xfrm>
            <a:off x="5907024" y="914400"/>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Mean-Variance Optimisation</a:t>
            </a:r>
            <a:endParaRPr lang="en-US" sz="1200" dirty="0"/>
          </a:p>
        </p:txBody>
      </p:sp>
      <p:sp>
        <p:nvSpPr>
          <p:cNvPr id="23" name="Text 20"/>
          <p:cNvSpPr/>
          <p:nvPr/>
        </p:nvSpPr>
        <p:spPr>
          <a:xfrm>
            <a:off x="5907024" y="1225296"/>
            <a:ext cx="2926080" cy="256032"/>
          </a:xfrm>
          <a:prstGeom prst="rect">
            <a:avLst/>
          </a:prstGeom>
          <a:noFill/>
          <a:ln/>
        </p:spPr>
        <p:txBody>
          <a:bodyPr wrap="square" lIns="0" tIns="0" rIns="0" bIns="0" rtlCol="0" anchor="ctr"/>
          <a:lstStyle/>
          <a:p>
            <a:pPr marL="0" indent="0">
              <a:buNone/>
            </a:pPr>
            <a:r>
              <a:rPr lang="en-US" sz="1000" dirty="0">
                <a:solidFill>
                  <a:srgbClr val="D6E0EA"/>
                </a:solidFill>
                <a:latin typeface="Calibri" pitchFamily="34" charset="0"/>
                <a:ea typeface="Calibri" pitchFamily="34" charset="-122"/>
                <a:cs typeface="Calibri" pitchFamily="34" charset="-120"/>
              </a:rPr>
              <a:t>Markowitz framework</a:t>
            </a:r>
            <a:endParaRPr lang="en-US" sz="1000" dirty="0"/>
          </a:p>
        </p:txBody>
      </p:sp>
      <p:sp>
        <p:nvSpPr>
          <p:cNvPr id="24" name="Shape 21"/>
          <p:cNvSpPr/>
          <p:nvPr/>
        </p:nvSpPr>
        <p:spPr>
          <a:xfrm>
            <a:off x="5349240" y="1828800"/>
            <a:ext cx="3566160" cy="822960"/>
          </a:xfrm>
          <a:prstGeom prst="rect">
            <a:avLst/>
          </a:prstGeom>
          <a:solidFill>
            <a:srgbClr val="0D2B45"/>
          </a:solidFill>
          <a:ln/>
          <a:effectLst>
            <a:outerShdw blurRad="76200" dist="25400" dir="8100000" algn="bl" rotWithShape="0">
              <a:srgbClr val="000000">
                <a:alpha val="12000"/>
              </a:srgbClr>
            </a:outerShdw>
          </a:effectLst>
        </p:spPr>
      </p:sp>
      <p:sp>
        <p:nvSpPr>
          <p:cNvPr id="25" name="Shape 22"/>
          <p:cNvSpPr/>
          <p:nvPr/>
        </p:nvSpPr>
        <p:spPr>
          <a:xfrm>
            <a:off x="5349240" y="1828800"/>
            <a:ext cx="54864" cy="822960"/>
          </a:xfrm>
          <a:prstGeom prst="rect">
            <a:avLst/>
          </a:prstGeom>
          <a:solidFill>
            <a:srgbClr val="C8963E"/>
          </a:solidFill>
          <a:ln/>
        </p:spPr>
      </p:sp>
      <p:pic>
        <p:nvPicPr>
          <p:cNvPr id="26" name="Image 1" descr="preencoded.png"/>
          <p:cNvPicPr>
            <a:picLocks noChangeAspect="1"/>
          </p:cNvPicPr>
          <p:nvPr/>
        </p:nvPicPr>
        <p:blipFill>
          <a:blip r:embed="rId4"/>
          <a:stretch>
            <a:fillRect/>
          </a:stretch>
        </p:blipFill>
        <p:spPr>
          <a:xfrm>
            <a:off x="5458968" y="1965960"/>
            <a:ext cx="365760" cy="365760"/>
          </a:xfrm>
          <a:prstGeom prst="rect">
            <a:avLst/>
          </a:prstGeom>
        </p:spPr>
      </p:pic>
      <p:sp>
        <p:nvSpPr>
          <p:cNvPr id="27" name="Text 23"/>
          <p:cNvSpPr/>
          <p:nvPr/>
        </p:nvSpPr>
        <p:spPr>
          <a:xfrm>
            <a:off x="5907024" y="1920240"/>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Logistic Regression</a:t>
            </a:r>
            <a:endParaRPr lang="en-US" sz="1200" dirty="0"/>
          </a:p>
        </p:txBody>
      </p:sp>
      <p:sp>
        <p:nvSpPr>
          <p:cNvPr id="28" name="Text 24"/>
          <p:cNvSpPr/>
          <p:nvPr/>
        </p:nvSpPr>
        <p:spPr>
          <a:xfrm>
            <a:off x="5907024" y="2231136"/>
            <a:ext cx="2926080" cy="256032"/>
          </a:xfrm>
          <a:prstGeom prst="rect">
            <a:avLst/>
          </a:prstGeom>
          <a:noFill/>
          <a:ln/>
        </p:spPr>
        <p:txBody>
          <a:bodyPr wrap="square" lIns="0" tIns="0" rIns="0" bIns="0" rtlCol="0" anchor="ctr"/>
          <a:lstStyle/>
          <a:p>
            <a:pPr marL="0" indent="0">
              <a:buNone/>
            </a:pPr>
            <a:r>
              <a:rPr lang="en-US" sz="1000" dirty="0">
                <a:solidFill>
                  <a:srgbClr val="D6E0EA"/>
                </a:solidFill>
                <a:latin typeface="Calibri" pitchFamily="34" charset="0"/>
                <a:ea typeface="Calibri" pitchFamily="34" charset="-122"/>
                <a:cs typeface="Calibri" pitchFamily="34" charset="-120"/>
              </a:rPr>
              <a:t>Classification-based weights</a:t>
            </a:r>
            <a:endParaRPr lang="en-US" sz="1000" dirty="0"/>
          </a:p>
        </p:txBody>
      </p:sp>
      <p:sp>
        <p:nvSpPr>
          <p:cNvPr id="29" name="Shape 25"/>
          <p:cNvSpPr/>
          <p:nvPr/>
        </p:nvSpPr>
        <p:spPr>
          <a:xfrm>
            <a:off x="5349240" y="2834640"/>
            <a:ext cx="3566160" cy="822960"/>
          </a:xfrm>
          <a:prstGeom prst="rect">
            <a:avLst/>
          </a:prstGeom>
          <a:solidFill>
            <a:srgbClr val="0D2B45"/>
          </a:solidFill>
          <a:ln/>
          <a:effectLst>
            <a:outerShdw blurRad="76200" dist="25400" dir="8100000" algn="bl" rotWithShape="0">
              <a:srgbClr val="000000">
                <a:alpha val="12000"/>
              </a:srgbClr>
            </a:outerShdw>
          </a:effectLst>
        </p:spPr>
      </p:sp>
      <p:sp>
        <p:nvSpPr>
          <p:cNvPr id="30" name="Shape 26"/>
          <p:cNvSpPr/>
          <p:nvPr/>
        </p:nvSpPr>
        <p:spPr>
          <a:xfrm>
            <a:off x="5349240" y="2834640"/>
            <a:ext cx="54864" cy="822960"/>
          </a:xfrm>
          <a:prstGeom prst="rect">
            <a:avLst/>
          </a:prstGeom>
          <a:solidFill>
            <a:srgbClr val="C8963E"/>
          </a:solidFill>
          <a:ln/>
        </p:spPr>
      </p:sp>
      <p:pic>
        <p:nvPicPr>
          <p:cNvPr id="31" name="Image 2" descr="preencoded.png"/>
          <p:cNvPicPr>
            <a:picLocks noChangeAspect="1"/>
          </p:cNvPicPr>
          <p:nvPr/>
        </p:nvPicPr>
        <p:blipFill>
          <a:blip r:embed="rId5"/>
          <a:stretch>
            <a:fillRect/>
          </a:stretch>
        </p:blipFill>
        <p:spPr>
          <a:xfrm>
            <a:off x="5458968" y="2971800"/>
            <a:ext cx="365760" cy="365760"/>
          </a:xfrm>
          <a:prstGeom prst="rect">
            <a:avLst/>
          </a:prstGeom>
        </p:spPr>
      </p:pic>
      <p:sp>
        <p:nvSpPr>
          <p:cNvPr id="32" name="Text 27"/>
          <p:cNvSpPr/>
          <p:nvPr/>
        </p:nvSpPr>
        <p:spPr>
          <a:xfrm>
            <a:off x="5907024" y="2926080"/>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GARCH Model</a:t>
            </a:r>
            <a:endParaRPr lang="en-US" sz="1200" dirty="0"/>
          </a:p>
        </p:txBody>
      </p:sp>
      <p:sp>
        <p:nvSpPr>
          <p:cNvPr id="33" name="Text 28"/>
          <p:cNvSpPr/>
          <p:nvPr/>
        </p:nvSpPr>
        <p:spPr>
          <a:xfrm>
            <a:off x="5907024" y="3236976"/>
            <a:ext cx="2926080" cy="256032"/>
          </a:xfrm>
          <a:prstGeom prst="rect">
            <a:avLst/>
          </a:prstGeom>
          <a:noFill/>
          <a:ln/>
        </p:spPr>
        <p:txBody>
          <a:bodyPr wrap="square" lIns="0" tIns="0" rIns="0" bIns="0" rtlCol="0" anchor="ctr"/>
          <a:lstStyle/>
          <a:p>
            <a:pPr marL="0" indent="0">
              <a:buNone/>
            </a:pPr>
            <a:r>
              <a:rPr lang="en-US" sz="1000" dirty="0">
                <a:solidFill>
                  <a:srgbClr val="D6E0EA"/>
                </a:solidFill>
                <a:latin typeface="Calibri" pitchFamily="34" charset="0"/>
                <a:ea typeface="Calibri" pitchFamily="34" charset="-122"/>
                <a:cs typeface="Calibri" pitchFamily="34" charset="-120"/>
              </a:rPr>
              <a:t>Volatility clustering</a:t>
            </a:r>
            <a:endParaRPr lang="en-US" sz="1000" dirty="0"/>
          </a:p>
        </p:txBody>
      </p:sp>
      <p:sp>
        <p:nvSpPr>
          <p:cNvPr id="34" name="Shape 29"/>
          <p:cNvSpPr/>
          <p:nvPr/>
        </p:nvSpPr>
        <p:spPr>
          <a:xfrm>
            <a:off x="5349240" y="3840480"/>
            <a:ext cx="3566160" cy="822960"/>
          </a:xfrm>
          <a:prstGeom prst="rect">
            <a:avLst/>
          </a:prstGeom>
          <a:solidFill>
            <a:srgbClr val="0D2B45"/>
          </a:solidFill>
          <a:ln/>
          <a:effectLst>
            <a:outerShdw blurRad="76200" dist="25400" dir="8100000" algn="bl" rotWithShape="0">
              <a:srgbClr val="000000">
                <a:alpha val="12000"/>
              </a:srgbClr>
            </a:outerShdw>
          </a:effectLst>
        </p:spPr>
      </p:sp>
      <p:sp>
        <p:nvSpPr>
          <p:cNvPr id="35" name="Shape 30"/>
          <p:cNvSpPr/>
          <p:nvPr/>
        </p:nvSpPr>
        <p:spPr>
          <a:xfrm>
            <a:off x="5349240" y="3840480"/>
            <a:ext cx="54864" cy="822960"/>
          </a:xfrm>
          <a:prstGeom prst="rect">
            <a:avLst/>
          </a:prstGeom>
          <a:solidFill>
            <a:srgbClr val="C8963E"/>
          </a:solidFill>
          <a:ln/>
        </p:spPr>
      </p:sp>
      <p:pic>
        <p:nvPicPr>
          <p:cNvPr id="36" name="Image 3" descr="preencoded.png"/>
          <p:cNvPicPr>
            <a:picLocks noChangeAspect="1"/>
          </p:cNvPicPr>
          <p:nvPr/>
        </p:nvPicPr>
        <p:blipFill>
          <a:blip r:embed="rId6"/>
          <a:stretch>
            <a:fillRect/>
          </a:stretch>
        </p:blipFill>
        <p:spPr>
          <a:xfrm>
            <a:off x="5458968" y="3977640"/>
            <a:ext cx="365760" cy="365760"/>
          </a:xfrm>
          <a:prstGeom prst="rect">
            <a:avLst/>
          </a:prstGeom>
        </p:spPr>
      </p:pic>
      <p:sp>
        <p:nvSpPr>
          <p:cNvPr id="37" name="Text 31"/>
          <p:cNvSpPr/>
          <p:nvPr/>
        </p:nvSpPr>
        <p:spPr>
          <a:xfrm>
            <a:off x="5907024" y="3931920"/>
            <a:ext cx="2926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Advanced Methods</a:t>
            </a:r>
            <a:endParaRPr lang="en-US" sz="1200" dirty="0"/>
          </a:p>
        </p:txBody>
      </p:sp>
      <p:sp>
        <p:nvSpPr>
          <p:cNvPr id="38" name="Text 32"/>
          <p:cNvSpPr/>
          <p:nvPr/>
        </p:nvSpPr>
        <p:spPr>
          <a:xfrm>
            <a:off x="5907024" y="4242816"/>
            <a:ext cx="2926080" cy="256032"/>
          </a:xfrm>
          <a:prstGeom prst="rect">
            <a:avLst/>
          </a:prstGeom>
          <a:noFill/>
          <a:ln/>
        </p:spPr>
        <p:txBody>
          <a:bodyPr wrap="square" lIns="0" tIns="0" rIns="0" bIns="0" rtlCol="0" anchor="ctr"/>
          <a:lstStyle/>
          <a:p>
            <a:pPr marL="0" indent="0">
              <a:buNone/>
            </a:pPr>
            <a:r>
              <a:rPr lang="en-US" sz="1000" dirty="0">
                <a:solidFill>
                  <a:srgbClr val="D6E0EA"/>
                </a:solidFill>
                <a:latin typeface="Calibri" pitchFamily="34" charset="0"/>
                <a:ea typeface="Calibri" pitchFamily="34" charset="-122"/>
                <a:cs typeface="Calibri" pitchFamily="34" charset="-120"/>
              </a:rPr>
              <a:t>ML / Deep Learning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Table of Contents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77240"/>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8" name="Shape 6"/>
          <p:cNvSpPr/>
          <p:nvPr/>
        </p:nvSpPr>
        <p:spPr>
          <a:xfrm>
            <a:off x="182880" y="777240"/>
            <a:ext cx="594360" cy="914400"/>
          </a:xfrm>
          <a:prstGeom prst="rect">
            <a:avLst/>
          </a:prstGeom>
          <a:solidFill>
            <a:srgbClr val="1B6CA8"/>
          </a:solidFill>
          <a:ln/>
        </p:spPr>
      </p:sp>
      <p:sp>
        <p:nvSpPr>
          <p:cNvPr id="9" name="Text 7"/>
          <p:cNvSpPr/>
          <p:nvPr/>
        </p:nvSpPr>
        <p:spPr>
          <a:xfrm>
            <a:off x="256032" y="1033272"/>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868680" y="850392"/>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Introduction to Stocks &amp; Portfolio</a:t>
            </a:r>
            <a:endParaRPr lang="en-US" sz="1150" dirty="0"/>
          </a:p>
        </p:txBody>
      </p:sp>
      <p:sp>
        <p:nvSpPr>
          <p:cNvPr id="11" name="Text 9"/>
          <p:cNvSpPr/>
          <p:nvPr/>
        </p:nvSpPr>
        <p:spPr>
          <a:xfrm>
            <a:off x="868680" y="1289304"/>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What, Why, and Key Metrics</a:t>
            </a:r>
            <a:endParaRPr lang="en-US" sz="950" dirty="0"/>
          </a:p>
        </p:txBody>
      </p:sp>
      <p:sp>
        <p:nvSpPr>
          <p:cNvPr id="12" name="Shape 10"/>
          <p:cNvSpPr/>
          <p:nvPr/>
        </p:nvSpPr>
        <p:spPr>
          <a:xfrm>
            <a:off x="182880" y="1847088"/>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13" name="Shape 11"/>
          <p:cNvSpPr/>
          <p:nvPr/>
        </p:nvSpPr>
        <p:spPr>
          <a:xfrm>
            <a:off x="182880" y="1847088"/>
            <a:ext cx="594360" cy="914400"/>
          </a:xfrm>
          <a:prstGeom prst="rect">
            <a:avLst/>
          </a:prstGeom>
          <a:solidFill>
            <a:srgbClr val="1B6CA8"/>
          </a:solidFill>
          <a:ln/>
        </p:spPr>
      </p:sp>
      <p:sp>
        <p:nvSpPr>
          <p:cNvPr id="14" name="Text 12"/>
          <p:cNvSpPr/>
          <p:nvPr/>
        </p:nvSpPr>
        <p:spPr>
          <a:xfrm>
            <a:off x="256032" y="210312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5" name="Text 13"/>
          <p:cNvSpPr/>
          <p:nvPr/>
        </p:nvSpPr>
        <p:spPr>
          <a:xfrm>
            <a:off x="868680" y="1920240"/>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Mean-Variance Optimisation (MVO)</a:t>
            </a:r>
            <a:endParaRPr lang="en-US" sz="1150" dirty="0"/>
          </a:p>
        </p:txBody>
      </p:sp>
      <p:sp>
        <p:nvSpPr>
          <p:cNvPr id="16" name="Text 14"/>
          <p:cNvSpPr/>
          <p:nvPr/>
        </p:nvSpPr>
        <p:spPr>
          <a:xfrm>
            <a:off x="868680" y="2359152"/>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Markowitz Framework &amp; Lagrange Multipliers</a:t>
            </a:r>
            <a:endParaRPr lang="en-US" sz="950" dirty="0"/>
          </a:p>
        </p:txBody>
      </p:sp>
      <p:sp>
        <p:nvSpPr>
          <p:cNvPr id="17" name="Shape 15"/>
          <p:cNvSpPr/>
          <p:nvPr/>
        </p:nvSpPr>
        <p:spPr>
          <a:xfrm>
            <a:off x="182880" y="2916936"/>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18" name="Shape 16"/>
          <p:cNvSpPr/>
          <p:nvPr/>
        </p:nvSpPr>
        <p:spPr>
          <a:xfrm>
            <a:off x="182880" y="2916936"/>
            <a:ext cx="594360" cy="914400"/>
          </a:xfrm>
          <a:prstGeom prst="rect">
            <a:avLst/>
          </a:prstGeom>
          <a:solidFill>
            <a:srgbClr val="1B6CA8"/>
          </a:solidFill>
          <a:ln/>
        </p:spPr>
      </p:sp>
      <p:sp>
        <p:nvSpPr>
          <p:cNvPr id="19" name="Text 17"/>
          <p:cNvSpPr/>
          <p:nvPr/>
        </p:nvSpPr>
        <p:spPr>
          <a:xfrm>
            <a:off x="256032" y="317296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0" name="Text 18"/>
          <p:cNvSpPr/>
          <p:nvPr/>
        </p:nvSpPr>
        <p:spPr>
          <a:xfrm>
            <a:off x="868680" y="2990088"/>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Portfolio Opt. via Logistic Regression</a:t>
            </a:r>
            <a:endParaRPr lang="en-US" sz="1150" dirty="0"/>
          </a:p>
        </p:txBody>
      </p:sp>
      <p:sp>
        <p:nvSpPr>
          <p:cNvPr id="21" name="Text 19"/>
          <p:cNvSpPr/>
          <p:nvPr/>
        </p:nvSpPr>
        <p:spPr>
          <a:xfrm>
            <a:off x="868680" y="3429000"/>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Classification Approach &amp; Efficient Frontier Testing</a:t>
            </a:r>
            <a:endParaRPr lang="en-US" sz="950" dirty="0"/>
          </a:p>
        </p:txBody>
      </p:sp>
      <p:sp>
        <p:nvSpPr>
          <p:cNvPr id="22" name="Shape 20"/>
          <p:cNvSpPr/>
          <p:nvPr/>
        </p:nvSpPr>
        <p:spPr>
          <a:xfrm>
            <a:off x="182880" y="3986784"/>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23" name="Shape 21"/>
          <p:cNvSpPr/>
          <p:nvPr/>
        </p:nvSpPr>
        <p:spPr>
          <a:xfrm>
            <a:off x="182880" y="3986784"/>
            <a:ext cx="594360" cy="914400"/>
          </a:xfrm>
          <a:prstGeom prst="rect">
            <a:avLst/>
          </a:prstGeom>
          <a:solidFill>
            <a:srgbClr val="1B6CA8"/>
          </a:solidFill>
          <a:ln/>
        </p:spPr>
      </p:sp>
      <p:sp>
        <p:nvSpPr>
          <p:cNvPr id="24" name="Text 22"/>
          <p:cNvSpPr/>
          <p:nvPr/>
        </p:nvSpPr>
        <p:spPr>
          <a:xfrm>
            <a:off x="256032" y="4242816"/>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5" name="Text 23"/>
          <p:cNvSpPr/>
          <p:nvPr/>
        </p:nvSpPr>
        <p:spPr>
          <a:xfrm>
            <a:off x="868680" y="4059936"/>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GARCH Model for Volatility</a:t>
            </a:r>
            <a:endParaRPr lang="en-US" sz="1150" dirty="0"/>
          </a:p>
        </p:txBody>
      </p:sp>
      <p:sp>
        <p:nvSpPr>
          <p:cNvPr id="26" name="Text 24"/>
          <p:cNvSpPr/>
          <p:nvPr/>
        </p:nvSpPr>
        <p:spPr>
          <a:xfrm>
            <a:off x="868680" y="4498848"/>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Model Specification, ACF/PACF Interpretation</a:t>
            </a:r>
            <a:endParaRPr lang="en-US" sz="950" dirty="0"/>
          </a:p>
        </p:txBody>
      </p:sp>
      <p:sp>
        <p:nvSpPr>
          <p:cNvPr id="27" name="Shape 25"/>
          <p:cNvSpPr/>
          <p:nvPr/>
        </p:nvSpPr>
        <p:spPr>
          <a:xfrm>
            <a:off x="4709160" y="777240"/>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28" name="Shape 26"/>
          <p:cNvSpPr/>
          <p:nvPr/>
        </p:nvSpPr>
        <p:spPr>
          <a:xfrm>
            <a:off x="4709160" y="777240"/>
            <a:ext cx="594360" cy="914400"/>
          </a:xfrm>
          <a:prstGeom prst="rect">
            <a:avLst/>
          </a:prstGeom>
          <a:solidFill>
            <a:srgbClr val="1B6CA8"/>
          </a:solidFill>
          <a:ln/>
        </p:spPr>
      </p:sp>
      <p:sp>
        <p:nvSpPr>
          <p:cNvPr id="29" name="Text 27"/>
          <p:cNvSpPr/>
          <p:nvPr/>
        </p:nvSpPr>
        <p:spPr>
          <a:xfrm>
            <a:off x="4782312" y="1033272"/>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30" name="Text 28"/>
          <p:cNvSpPr/>
          <p:nvPr/>
        </p:nvSpPr>
        <p:spPr>
          <a:xfrm>
            <a:off x="5394960" y="850392"/>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Data &amp; Methodology</a:t>
            </a:r>
            <a:endParaRPr lang="en-US" sz="1150" dirty="0"/>
          </a:p>
        </p:txBody>
      </p:sp>
      <p:sp>
        <p:nvSpPr>
          <p:cNvPr id="31" name="Text 29"/>
          <p:cNvSpPr/>
          <p:nvPr/>
        </p:nvSpPr>
        <p:spPr>
          <a:xfrm>
            <a:off x="5394960" y="1289304"/>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Real Data Application &amp; Results</a:t>
            </a:r>
            <a:endParaRPr lang="en-US" sz="950" dirty="0"/>
          </a:p>
        </p:txBody>
      </p:sp>
      <p:sp>
        <p:nvSpPr>
          <p:cNvPr id="32" name="Shape 30"/>
          <p:cNvSpPr/>
          <p:nvPr/>
        </p:nvSpPr>
        <p:spPr>
          <a:xfrm>
            <a:off x="4709160" y="1847088"/>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33" name="Shape 31"/>
          <p:cNvSpPr/>
          <p:nvPr/>
        </p:nvSpPr>
        <p:spPr>
          <a:xfrm>
            <a:off x="4709160" y="1847088"/>
            <a:ext cx="594360" cy="914400"/>
          </a:xfrm>
          <a:prstGeom prst="rect">
            <a:avLst/>
          </a:prstGeom>
          <a:solidFill>
            <a:srgbClr val="1B6CA8"/>
          </a:solidFill>
          <a:ln/>
        </p:spPr>
      </p:sp>
      <p:sp>
        <p:nvSpPr>
          <p:cNvPr id="34" name="Text 32"/>
          <p:cNvSpPr/>
          <p:nvPr/>
        </p:nvSpPr>
        <p:spPr>
          <a:xfrm>
            <a:off x="4782312" y="210312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5" name="Text 33"/>
          <p:cNvSpPr/>
          <p:nvPr/>
        </p:nvSpPr>
        <p:spPr>
          <a:xfrm>
            <a:off x="5394960" y="1920240"/>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Limitations &amp; Future Scope</a:t>
            </a:r>
            <a:endParaRPr lang="en-US" sz="1150" dirty="0"/>
          </a:p>
        </p:txBody>
      </p:sp>
      <p:sp>
        <p:nvSpPr>
          <p:cNvPr id="36" name="Text 34"/>
          <p:cNvSpPr/>
          <p:nvPr/>
        </p:nvSpPr>
        <p:spPr>
          <a:xfrm>
            <a:off x="5394960" y="2359152"/>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AI/DL Techniques, LSTM &amp; Beyond</a:t>
            </a:r>
            <a:endParaRPr lang="en-US" sz="950" dirty="0"/>
          </a:p>
        </p:txBody>
      </p:sp>
      <p:sp>
        <p:nvSpPr>
          <p:cNvPr id="37" name="Shape 35"/>
          <p:cNvSpPr/>
          <p:nvPr/>
        </p:nvSpPr>
        <p:spPr>
          <a:xfrm>
            <a:off x="4709160" y="2916936"/>
            <a:ext cx="4297680" cy="914400"/>
          </a:xfrm>
          <a:prstGeom prst="rect">
            <a:avLst/>
          </a:prstGeom>
          <a:solidFill>
            <a:srgbClr val="0D1B2A"/>
          </a:solidFill>
          <a:ln/>
          <a:effectLst>
            <a:outerShdw blurRad="76200" dist="25400" dir="8100000" algn="bl" rotWithShape="0">
              <a:srgbClr val="000000">
                <a:alpha val="12000"/>
              </a:srgbClr>
            </a:outerShdw>
          </a:effectLst>
        </p:spPr>
      </p:sp>
      <p:sp>
        <p:nvSpPr>
          <p:cNvPr id="38" name="Shape 36"/>
          <p:cNvSpPr/>
          <p:nvPr/>
        </p:nvSpPr>
        <p:spPr>
          <a:xfrm>
            <a:off x="4709160" y="2916936"/>
            <a:ext cx="594360" cy="914400"/>
          </a:xfrm>
          <a:prstGeom prst="rect">
            <a:avLst/>
          </a:prstGeom>
          <a:solidFill>
            <a:srgbClr val="1B6CA8"/>
          </a:solidFill>
          <a:ln/>
        </p:spPr>
      </p:sp>
      <p:sp>
        <p:nvSpPr>
          <p:cNvPr id="39" name="Text 37"/>
          <p:cNvSpPr/>
          <p:nvPr/>
        </p:nvSpPr>
        <p:spPr>
          <a:xfrm>
            <a:off x="4782312" y="3172968"/>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07</a:t>
            </a:r>
            <a:endParaRPr lang="en-US" sz="1800" dirty="0"/>
          </a:p>
        </p:txBody>
      </p:sp>
      <p:sp>
        <p:nvSpPr>
          <p:cNvPr id="40" name="Text 38"/>
          <p:cNvSpPr/>
          <p:nvPr/>
        </p:nvSpPr>
        <p:spPr>
          <a:xfrm>
            <a:off x="5394960" y="2990088"/>
            <a:ext cx="3520440" cy="41148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References &amp; Acknowledgement</a:t>
            </a:r>
            <a:endParaRPr lang="en-US" sz="1150" dirty="0"/>
          </a:p>
        </p:txBody>
      </p:sp>
      <p:sp>
        <p:nvSpPr>
          <p:cNvPr id="41" name="Text 39"/>
          <p:cNvSpPr/>
          <p:nvPr/>
        </p:nvSpPr>
        <p:spPr>
          <a:xfrm>
            <a:off x="5394960" y="3429000"/>
            <a:ext cx="3520440" cy="292608"/>
          </a:xfrm>
          <a:prstGeom prst="rect">
            <a:avLst/>
          </a:prstGeom>
          <a:noFill/>
          <a:ln/>
        </p:spPr>
        <p:txBody>
          <a:bodyPr wrap="square" lIns="0" tIns="0" rIns="0" bIns="0" rtlCol="0" anchor="ctr"/>
          <a:lstStyle/>
          <a:p>
            <a:pPr marL="0" indent="0">
              <a:buNone/>
            </a:pPr>
            <a:r>
              <a:rPr lang="en-US" sz="950" i="1" dirty="0">
                <a:solidFill>
                  <a:srgbClr val="D6E0EA"/>
                </a:solidFill>
                <a:latin typeface="Calibri" pitchFamily="34" charset="0"/>
                <a:ea typeface="Calibri" pitchFamily="34" charset="-122"/>
                <a:cs typeface="Calibri" pitchFamily="34" charset="-120"/>
              </a:rPr>
              <a:t>Citations and Team</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01</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Introduction to Stocks &amp; Portfolios</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Understanding the fundamentals of financial markets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What is a Stock?</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pic>
        <p:nvPicPr>
          <p:cNvPr id="7" name="Image 0" descr="preencoded.png"/>
          <p:cNvPicPr>
            <a:picLocks noChangeAspect="1"/>
          </p:cNvPicPr>
          <p:nvPr/>
        </p:nvPicPr>
        <p:blipFill>
          <a:blip r:embed="rId3"/>
          <a:stretch>
            <a:fillRect/>
          </a:stretch>
        </p:blipFill>
        <p:spPr>
          <a:xfrm>
            <a:off x="182880" y="685800"/>
            <a:ext cx="502920" cy="502920"/>
          </a:xfrm>
          <a:prstGeom prst="rect">
            <a:avLst/>
          </a:prstGeom>
        </p:spPr>
      </p:pic>
      <p:sp>
        <p:nvSpPr>
          <p:cNvPr id="8" name="Text 5"/>
          <p:cNvSpPr/>
          <p:nvPr/>
        </p:nvSpPr>
        <p:spPr>
          <a:xfrm>
            <a:off x="777240" y="731520"/>
            <a:ext cx="8046720" cy="411480"/>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Stocks — Ownership Instruments</a:t>
            </a:r>
            <a:endParaRPr lang="en-US" sz="1600" dirty="0"/>
          </a:p>
        </p:txBody>
      </p:sp>
      <p:sp>
        <p:nvSpPr>
          <p:cNvPr id="9" name="Shape 6"/>
          <p:cNvSpPr/>
          <p:nvPr/>
        </p:nvSpPr>
        <p:spPr>
          <a:xfrm>
            <a:off x="182880" y="1325880"/>
            <a:ext cx="4160520" cy="3383280"/>
          </a:xfrm>
          <a:prstGeom prst="rect">
            <a:avLst/>
          </a:prstGeom>
          <a:solidFill>
            <a:srgbClr val="EEF4FB"/>
          </a:solidFill>
          <a:ln/>
          <a:effectLst>
            <a:outerShdw blurRad="76200" dist="25400" dir="8100000" algn="bl" rotWithShape="0">
              <a:srgbClr val="000000">
                <a:alpha val="12000"/>
              </a:srgbClr>
            </a:outerShdw>
          </a:effectLst>
        </p:spPr>
      </p:sp>
      <p:sp>
        <p:nvSpPr>
          <p:cNvPr id="10" name="Shape 7"/>
          <p:cNvSpPr/>
          <p:nvPr/>
        </p:nvSpPr>
        <p:spPr>
          <a:xfrm>
            <a:off x="182880" y="1325880"/>
            <a:ext cx="4160520" cy="347472"/>
          </a:xfrm>
          <a:prstGeom prst="rect">
            <a:avLst/>
          </a:prstGeom>
          <a:solidFill>
            <a:srgbClr val="0D1B2A"/>
          </a:solidFill>
          <a:ln/>
        </p:spPr>
      </p:sp>
      <p:sp>
        <p:nvSpPr>
          <p:cNvPr id="11" name="Text 8"/>
          <p:cNvSpPr/>
          <p:nvPr/>
        </p:nvSpPr>
        <p:spPr>
          <a:xfrm>
            <a:off x="274320" y="1344168"/>
            <a:ext cx="393192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Definition &amp; Key Facts</a:t>
            </a:r>
            <a:endParaRPr lang="en-US" sz="1100" dirty="0"/>
          </a:p>
        </p:txBody>
      </p:sp>
      <p:sp>
        <p:nvSpPr>
          <p:cNvPr id="12" name="Text 9"/>
          <p:cNvSpPr/>
          <p:nvPr/>
        </p:nvSpPr>
        <p:spPr>
          <a:xfrm>
            <a:off x="274320" y="1773936"/>
            <a:ext cx="3977640" cy="50292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A stock (or share/equity) </a:t>
            </a:r>
            <a:r>
              <a:rPr lang="en-US" sz="1100" b="1" dirty="0">
                <a:solidFill>
                  <a:srgbClr val="0D1B2A"/>
                </a:solidFill>
                <a:latin typeface="Calibri" pitchFamily="34" charset="0"/>
                <a:ea typeface="Calibri" pitchFamily="34" charset="-122"/>
                <a:cs typeface="Calibri" pitchFamily="34" charset="-120"/>
              </a:rPr>
              <a:t>represents partial ownership</a:t>
            </a:r>
            <a:r>
              <a:rPr lang="en-US" sz="1100" dirty="0">
                <a:solidFill>
                  <a:srgbClr val="0D1B2A"/>
                </a:solidFill>
                <a:latin typeface="Calibri" pitchFamily="34" charset="0"/>
                <a:ea typeface="Calibri" pitchFamily="34" charset="-122"/>
                <a:cs typeface="Calibri" pitchFamily="34" charset="-120"/>
              </a:rPr>
              <a:t> of a corporation, entitling the holder to a proportionate claim on future earnings and assets.</a:t>
            </a:r>
            <a:endParaRPr lang="en-US" sz="1100" dirty="0"/>
          </a:p>
        </p:txBody>
      </p:sp>
      <p:sp>
        <p:nvSpPr>
          <p:cNvPr id="13" name="Text 10"/>
          <p:cNvSpPr/>
          <p:nvPr/>
        </p:nvSpPr>
        <p:spPr>
          <a:xfrm>
            <a:off x="274320" y="2350008"/>
            <a:ext cx="3977640" cy="36576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  </a:t>
            </a:r>
            <a:r>
              <a:rPr lang="en-US" sz="1050" dirty="0">
                <a:solidFill>
                  <a:srgbClr val="0D1B2A"/>
                </a:solidFill>
                <a:latin typeface="Calibri" pitchFamily="34" charset="0"/>
                <a:ea typeface="Calibri" pitchFamily="34" charset="-122"/>
                <a:cs typeface="Calibri" pitchFamily="34" charset="-120"/>
              </a:rPr>
              <a:t>Common Stock: Voting rights; dividends after preferred shareholders</a:t>
            </a:r>
            <a:endParaRPr lang="en-US" sz="1050" dirty="0"/>
          </a:p>
        </p:txBody>
      </p:sp>
      <p:sp>
        <p:nvSpPr>
          <p:cNvPr id="14" name="Text 11"/>
          <p:cNvSpPr/>
          <p:nvPr/>
        </p:nvSpPr>
        <p:spPr>
          <a:xfrm>
            <a:off x="274320" y="2770632"/>
            <a:ext cx="3977640" cy="36576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  </a:t>
            </a:r>
            <a:r>
              <a:rPr lang="en-US" sz="1050" dirty="0">
                <a:solidFill>
                  <a:srgbClr val="0D1B2A"/>
                </a:solidFill>
                <a:latin typeface="Calibri" pitchFamily="34" charset="0"/>
                <a:ea typeface="Calibri" pitchFamily="34" charset="-122"/>
                <a:cs typeface="Calibri" pitchFamily="34" charset="-120"/>
              </a:rPr>
              <a:t>Preferred Stock: Fixed dividend; priority in liquidation; no voting rights</a:t>
            </a:r>
            <a:endParaRPr lang="en-US" sz="1050" dirty="0"/>
          </a:p>
        </p:txBody>
      </p:sp>
      <p:sp>
        <p:nvSpPr>
          <p:cNvPr id="15" name="Text 12"/>
          <p:cNvSpPr/>
          <p:nvPr/>
        </p:nvSpPr>
        <p:spPr>
          <a:xfrm>
            <a:off x="274320" y="3191256"/>
            <a:ext cx="3977640" cy="36576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  </a:t>
            </a:r>
            <a:r>
              <a:rPr lang="en-US" sz="1050" dirty="0">
                <a:solidFill>
                  <a:srgbClr val="0D1B2A"/>
                </a:solidFill>
                <a:latin typeface="Calibri" pitchFamily="34" charset="0"/>
                <a:ea typeface="Calibri" pitchFamily="34" charset="-122"/>
                <a:cs typeface="Calibri" pitchFamily="34" charset="-120"/>
              </a:rPr>
              <a:t>Price determined by supply &amp; demand: P/E ratio, EPS, dividends</a:t>
            </a:r>
            <a:endParaRPr lang="en-US" sz="1050" dirty="0"/>
          </a:p>
        </p:txBody>
      </p:sp>
      <p:sp>
        <p:nvSpPr>
          <p:cNvPr id="16" name="Text 13"/>
          <p:cNvSpPr/>
          <p:nvPr/>
        </p:nvSpPr>
        <p:spPr>
          <a:xfrm>
            <a:off x="274320" y="3611880"/>
            <a:ext cx="3977640" cy="36576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  </a:t>
            </a:r>
            <a:r>
              <a:rPr lang="en-US" sz="1050" dirty="0">
                <a:solidFill>
                  <a:srgbClr val="0D1B2A"/>
                </a:solidFill>
                <a:latin typeface="Calibri" pitchFamily="34" charset="0"/>
                <a:ea typeface="Calibri" pitchFamily="34" charset="-122"/>
                <a:cs typeface="Calibri" pitchFamily="34" charset="-120"/>
              </a:rPr>
              <a:t>Returns come from capital gains (price rise) and dividends</a:t>
            </a:r>
            <a:endParaRPr lang="en-US" sz="1050" dirty="0"/>
          </a:p>
        </p:txBody>
      </p:sp>
      <p:sp>
        <p:nvSpPr>
          <p:cNvPr id="17" name="Text 14"/>
          <p:cNvSpPr/>
          <p:nvPr/>
        </p:nvSpPr>
        <p:spPr>
          <a:xfrm>
            <a:off x="274320" y="4032504"/>
            <a:ext cx="3977640" cy="36576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  </a:t>
            </a:r>
            <a:r>
              <a:rPr lang="en-US" sz="1050" dirty="0">
                <a:solidFill>
                  <a:srgbClr val="0D1B2A"/>
                </a:solidFill>
                <a:latin typeface="Calibri" pitchFamily="34" charset="0"/>
                <a:ea typeface="Calibri" pitchFamily="34" charset="-122"/>
                <a:cs typeface="Calibri" pitchFamily="34" charset="-120"/>
              </a:rPr>
              <a:t>Risk stems from price volatility — market, sector, and firm-specific</a:t>
            </a:r>
            <a:endParaRPr lang="en-US" sz="1050" dirty="0"/>
          </a:p>
        </p:txBody>
      </p:sp>
      <p:sp>
        <p:nvSpPr>
          <p:cNvPr id="18" name="Shape 15"/>
          <p:cNvSpPr/>
          <p:nvPr/>
        </p:nvSpPr>
        <p:spPr>
          <a:xfrm>
            <a:off x="4617720" y="1325880"/>
            <a:ext cx="4297680" cy="1188720"/>
          </a:xfrm>
          <a:prstGeom prst="rect">
            <a:avLst/>
          </a:prstGeom>
          <a:solidFill>
            <a:srgbClr val="0D1B2A"/>
          </a:solidFill>
          <a:ln/>
          <a:effectLst>
            <a:outerShdw blurRad="76200" dist="25400" dir="8100000" algn="bl" rotWithShape="0">
              <a:srgbClr val="000000">
                <a:alpha val="12000"/>
              </a:srgbClr>
            </a:outerShdw>
          </a:effectLst>
        </p:spPr>
      </p:sp>
      <p:sp>
        <p:nvSpPr>
          <p:cNvPr id="19" name="Text 16"/>
          <p:cNvSpPr/>
          <p:nvPr/>
        </p:nvSpPr>
        <p:spPr>
          <a:xfrm>
            <a:off x="4709160" y="1371600"/>
            <a:ext cx="411480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Simple Return</a:t>
            </a:r>
            <a:endParaRPr lang="en-US" sz="1100" dirty="0"/>
          </a:p>
        </p:txBody>
      </p:sp>
      <p:sp>
        <p:nvSpPr>
          <p:cNvPr id="20" name="Text 17"/>
          <p:cNvSpPr/>
          <p:nvPr/>
        </p:nvSpPr>
        <p:spPr>
          <a:xfrm>
            <a:off x="4709160" y="1691640"/>
            <a:ext cx="41148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R_t  =  (P_t  −  P_{t-1}  +  D_t) / P_{t-1}</a:t>
            </a:r>
            <a:endParaRPr lang="en-US" sz="1300" dirty="0"/>
          </a:p>
        </p:txBody>
      </p:sp>
      <p:sp>
        <p:nvSpPr>
          <p:cNvPr id="21" name="Text 18"/>
          <p:cNvSpPr/>
          <p:nvPr/>
        </p:nvSpPr>
        <p:spPr>
          <a:xfrm>
            <a:off x="4709160" y="2057400"/>
            <a:ext cx="4114800" cy="365760"/>
          </a:xfrm>
          <a:prstGeom prst="rect">
            <a:avLst/>
          </a:prstGeom>
          <a:noFill/>
          <a:ln/>
        </p:spPr>
        <p:txBody>
          <a:bodyPr wrap="square" lIns="0" tIns="0" rIns="0" bIns="0" rtlCol="0" anchor="ctr"/>
          <a:lstStyle/>
          <a:p>
            <a:pPr marL="0" indent="0" algn="ctr">
              <a:buNone/>
            </a:pPr>
            <a:r>
              <a:rPr lang="en-US" sz="950" dirty="0">
                <a:solidFill>
                  <a:srgbClr val="D6E0EA"/>
                </a:solidFill>
                <a:latin typeface="Calibri" pitchFamily="34" charset="0"/>
                <a:ea typeface="Calibri" pitchFamily="34" charset="-122"/>
                <a:cs typeface="Calibri" pitchFamily="34" charset="-120"/>
              </a:rPr>
              <a:t>P_t = Price at time t,  D_t = Dividend,  P_{t-1} = Previous price</a:t>
            </a:r>
            <a:endParaRPr lang="en-US" sz="950" dirty="0"/>
          </a:p>
        </p:txBody>
      </p:sp>
      <p:sp>
        <p:nvSpPr>
          <p:cNvPr id="22" name="Shape 19"/>
          <p:cNvSpPr/>
          <p:nvPr/>
        </p:nvSpPr>
        <p:spPr>
          <a:xfrm>
            <a:off x="4617720" y="2651760"/>
            <a:ext cx="4297680" cy="1188720"/>
          </a:xfrm>
          <a:prstGeom prst="rect">
            <a:avLst/>
          </a:prstGeom>
          <a:solidFill>
            <a:srgbClr val="0D1B2A"/>
          </a:solidFill>
          <a:ln/>
          <a:effectLst>
            <a:outerShdw blurRad="76200" dist="25400" dir="8100000" algn="bl" rotWithShape="0">
              <a:srgbClr val="000000">
                <a:alpha val="12000"/>
              </a:srgbClr>
            </a:outerShdw>
          </a:effectLst>
        </p:spPr>
      </p:sp>
      <p:sp>
        <p:nvSpPr>
          <p:cNvPr id="23" name="Text 20"/>
          <p:cNvSpPr/>
          <p:nvPr/>
        </p:nvSpPr>
        <p:spPr>
          <a:xfrm>
            <a:off x="4709160" y="2697480"/>
            <a:ext cx="411480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Log Return (Continuously Compounded)</a:t>
            </a:r>
            <a:endParaRPr lang="en-US" sz="1100" dirty="0"/>
          </a:p>
        </p:txBody>
      </p:sp>
      <p:sp>
        <p:nvSpPr>
          <p:cNvPr id="24" name="Text 21"/>
          <p:cNvSpPr/>
          <p:nvPr/>
        </p:nvSpPr>
        <p:spPr>
          <a:xfrm>
            <a:off x="4709160" y="3035808"/>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r_t  =  ln(P_t / P_{t-1})</a:t>
            </a:r>
            <a:endParaRPr lang="en-US" sz="1300" dirty="0"/>
          </a:p>
        </p:txBody>
      </p:sp>
      <p:sp>
        <p:nvSpPr>
          <p:cNvPr id="25" name="Text 22"/>
          <p:cNvSpPr/>
          <p:nvPr/>
        </p:nvSpPr>
        <p:spPr>
          <a:xfrm>
            <a:off x="4709160" y="3419856"/>
            <a:ext cx="4114800" cy="347472"/>
          </a:xfrm>
          <a:prstGeom prst="rect">
            <a:avLst/>
          </a:prstGeom>
          <a:noFill/>
          <a:ln/>
        </p:spPr>
        <p:txBody>
          <a:bodyPr wrap="square" lIns="0" tIns="0" rIns="0" bIns="0" rtlCol="0" anchor="ctr"/>
          <a:lstStyle/>
          <a:p>
            <a:pPr marL="0" indent="0" algn="ctr">
              <a:buNone/>
            </a:pPr>
            <a:r>
              <a:rPr lang="en-US" sz="950" dirty="0">
                <a:solidFill>
                  <a:srgbClr val="D6E0EA"/>
                </a:solidFill>
                <a:latin typeface="Calibri" pitchFamily="34" charset="0"/>
                <a:ea typeface="Calibri" pitchFamily="34" charset="-122"/>
                <a:cs typeface="Calibri" pitchFamily="34" charset="-120"/>
              </a:rPr>
              <a:t>Log returns are preferred: time-additive, approximately normal, and numerically stable</a:t>
            </a:r>
            <a:endParaRPr lang="en-US" sz="950" dirty="0"/>
          </a:p>
        </p:txBody>
      </p:sp>
      <p:sp>
        <p:nvSpPr>
          <p:cNvPr id="26" name="Shape 23"/>
          <p:cNvSpPr/>
          <p:nvPr/>
        </p:nvSpPr>
        <p:spPr>
          <a:xfrm>
            <a:off x="4617720" y="3959352"/>
            <a:ext cx="4297680" cy="658368"/>
          </a:xfrm>
          <a:prstGeom prst="rect">
            <a:avLst/>
          </a:prstGeom>
          <a:solidFill>
            <a:srgbClr val="0D2B45"/>
          </a:solidFill>
          <a:ln/>
          <a:effectLst>
            <a:outerShdw blurRad="76200" dist="25400" dir="8100000" algn="bl" rotWithShape="0">
              <a:srgbClr val="000000">
                <a:alpha val="12000"/>
              </a:srgbClr>
            </a:outerShdw>
          </a:effectLst>
        </p:spPr>
      </p:sp>
      <p:pic>
        <p:nvPicPr>
          <p:cNvPr id="27" name="Image 1" descr="preencoded.png"/>
          <p:cNvPicPr>
            <a:picLocks noChangeAspect="1"/>
          </p:cNvPicPr>
          <p:nvPr/>
        </p:nvPicPr>
        <p:blipFill>
          <a:blip r:embed="rId4"/>
          <a:stretch>
            <a:fillRect/>
          </a:stretch>
        </p:blipFill>
        <p:spPr>
          <a:xfrm>
            <a:off x="4709160" y="4041648"/>
            <a:ext cx="347472" cy="347472"/>
          </a:xfrm>
          <a:prstGeom prst="rect">
            <a:avLst/>
          </a:prstGeom>
        </p:spPr>
      </p:pic>
      <p:sp>
        <p:nvSpPr>
          <p:cNvPr id="28" name="Text 24"/>
          <p:cNvSpPr/>
          <p:nvPr/>
        </p:nvSpPr>
        <p:spPr>
          <a:xfrm>
            <a:off x="5102352" y="3986784"/>
            <a:ext cx="3749040" cy="566928"/>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Key Assumption: Future returns are uncertain — only their distribution can be estimated. This uncertainty (risk) is the central challenge in portfolio construction.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What is a Portfolio?</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475488"/>
          </a:xfrm>
          <a:prstGeom prst="rect">
            <a:avLst/>
          </a:prstGeom>
          <a:noFill/>
          <a:ln/>
        </p:spPr>
        <p:txBody>
          <a:bodyPr wrap="square" lIns="0" tIns="0" rIns="0" bIns="0" rtlCol="0" anchor="ctr"/>
          <a:lstStyle/>
          <a:p>
            <a:pPr marL="0" indent="0">
              <a:buNone/>
            </a:pPr>
            <a:r>
              <a:rPr lang="en-US" sz="1200" i="1" dirty="0">
                <a:solidFill>
                  <a:srgbClr val="0D1B2A"/>
                </a:solidFill>
                <a:latin typeface="Calibri" pitchFamily="34" charset="0"/>
                <a:ea typeface="Calibri" pitchFamily="34" charset="-122"/>
                <a:cs typeface="Calibri" pitchFamily="34" charset="-120"/>
              </a:rPr>
              <a:t>A portfolio is a collection of financial assets (stocks, bonds, derivatives) held together to achieve specific investment goals while managing risk through diversification.</a:t>
            </a:r>
            <a:endParaRPr lang="en-US" sz="1200" dirty="0"/>
          </a:p>
        </p:txBody>
      </p:sp>
      <p:sp>
        <p:nvSpPr>
          <p:cNvPr id="8" name="Shape 6"/>
          <p:cNvSpPr/>
          <p:nvPr/>
        </p:nvSpPr>
        <p:spPr>
          <a:xfrm>
            <a:off x="182880" y="1298448"/>
            <a:ext cx="2852928" cy="352044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298448"/>
            <a:ext cx="2852928" cy="347472"/>
          </a:xfrm>
          <a:prstGeom prst="rect">
            <a:avLst/>
          </a:prstGeom>
          <a:solidFill>
            <a:srgbClr val="0D1B2A"/>
          </a:solidFill>
          <a:ln/>
        </p:spPr>
      </p:sp>
      <p:sp>
        <p:nvSpPr>
          <p:cNvPr id="10" name="Text 8"/>
          <p:cNvSpPr/>
          <p:nvPr/>
        </p:nvSpPr>
        <p:spPr>
          <a:xfrm>
            <a:off x="274320" y="1316736"/>
            <a:ext cx="269748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Portfolio Return</a:t>
            </a:r>
            <a:endParaRPr lang="en-US" sz="1100" dirty="0"/>
          </a:p>
        </p:txBody>
      </p:sp>
      <p:sp>
        <p:nvSpPr>
          <p:cNvPr id="11" name="Text 9"/>
          <p:cNvSpPr/>
          <p:nvPr/>
        </p:nvSpPr>
        <p:spPr>
          <a:xfrm>
            <a:off x="292608" y="1719072"/>
            <a:ext cx="2651760" cy="3017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For N assets with weights w_1, w_2, ..., w_N:</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E[R_p]  =  Σ w_i · E[R_i]  =  wᵀ μ</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where:</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w = (w_1, ..., w_N)ᵀ — weight vector</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μ = (μ_1, ..., μ_N)ᵀ — expected returns</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Constraint: Σ w_i = 1 (fully invested)</a:t>
            </a:r>
            <a:endParaRPr lang="en-US" sz="1000" dirty="0"/>
          </a:p>
        </p:txBody>
      </p:sp>
      <p:sp>
        <p:nvSpPr>
          <p:cNvPr id="12" name="Shape 10"/>
          <p:cNvSpPr/>
          <p:nvPr/>
        </p:nvSpPr>
        <p:spPr>
          <a:xfrm>
            <a:off x="3172968" y="1298448"/>
            <a:ext cx="2852928" cy="3520440"/>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3172968" y="1298448"/>
            <a:ext cx="2852928" cy="347472"/>
          </a:xfrm>
          <a:prstGeom prst="rect">
            <a:avLst/>
          </a:prstGeom>
          <a:solidFill>
            <a:srgbClr val="1B6CA8"/>
          </a:solidFill>
          <a:ln/>
        </p:spPr>
      </p:sp>
      <p:sp>
        <p:nvSpPr>
          <p:cNvPr id="14" name="Text 12"/>
          <p:cNvSpPr/>
          <p:nvPr/>
        </p:nvSpPr>
        <p:spPr>
          <a:xfrm>
            <a:off x="3264408" y="1316736"/>
            <a:ext cx="269748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Portfolio Variance</a:t>
            </a:r>
            <a:endParaRPr lang="en-US" sz="1100" dirty="0"/>
          </a:p>
        </p:txBody>
      </p:sp>
      <p:sp>
        <p:nvSpPr>
          <p:cNvPr id="15" name="Text 13"/>
          <p:cNvSpPr/>
          <p:nvPr/>
        </p:nvSpPr>
        <p:spPr>
          <a:xfrm>
            <a:off x="3282696" y="1719072"/>
            <a:ext cx="2651760" cy="3017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σ²_p  =  wᵀ Σ w</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where Σ is the N×N covariance matrix:</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Σ_ij = Cov(R_i, R_j) = ρ_ij · σ_i · σ_j</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Diagonal: σ²_i (individual variances)</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Off-diagonal: covariances capture co-movement</a:t>
            </a:r>
            <a:endParaRPr lang="en-US" sz="1000" dirty="0"/>
          </a:p>
        </p:txBody>
      </p:sp>
      <p:sp>
        <p:nvSpPr>
          <p:cNvPr id="16" name="Shape 14"/>
          <p:cNvSpPr/>
          <p:nvPr/>
        </p:nvSpPr>
        <p:spPr>
          <a:xfrm>
            <a:off x="6163056" y="1298448"/>
            <a:ext cx="2852928" cy="3520440"/>
          </a:xfrm>
          <a:prstGeom prst="rect">
            <a:avLst/>
          </a:prstGeom>
          <a:solidFill>
            <a:srgbClr val="EEF4FB"/>
          </a:solidFill>
          <a:ln/>
          <a:effectLst>
            <a:outerShdw blurRad="76200" dist="25400" dir="8100000" algn="bl" rotWithShape="0">
              <a:srgbClr val="000000">
                <a:alpha val="12000"/>
              </a:srgbClr>
            </a:outerShdw>
          </a:effectLst>
        </p:spPr>
      </p:sp>
      <p:sp>
        <p:nvSpPr>
          <p:cNvPr id="17" name="Shape 15"/>
          <p:cNvSpPr/>
          <p:nvPr/>
        </p:nvSpPr>
        <p:spPr>
          <a:xfrm>
            <a:off x="6163056" y="1298448"/>
            <a:ext cx="2852928" cy="347472"/>
          </a:xfrm>
          <a:prstGeom prst="rect">
            <a:avLst/>
          </a:prstGeom>
          <a:solidFill>
            <a:srgbClr val="1E8449"/>
          </a:solidFill>
          <a:ln/>
        </p:spPr>
      </p:sp>
      <p:sp>
        <p:nvSpPr>
          <p:cNvPr id="18" name="Text 16"/>
          <p:cNvSpPr/>
          <p:nvPr/>
        </p:nvSpPr>
        <p:spPr>
          <a:xfrm>
            <a:off x="6254496" y="1316736"/>
            <a:ext cx="269748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Diversification Effect</a:t>
            </a:r>
            <a:endParaRPr lang="en-US" sz="1100" dirty="0"/>
          </a:p>
        </p:txBody>
      </p:sp>
      <p:sp>
        <p:nvSpPr>
          <p:cNvPr id="19" name="Text 17"/>
          <p:cNvSpPr/>
          <p:nvPr/>
        </p:nvSpPr>
        <p:spPr>
          <a:xfrm>
            <a:off x="6272784" y="1719072"/>
            <a:ext cx="2651760" cy="30175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For two assets (equal weights):</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σ²_p = (1/4)σ²_1 + (1/4)σ²_2 + (1/2)ρσ_1σ_2</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If ρ = −1: σ_p can → 0</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If ρ = +1: σ_p = (σ_1+σ_2)/2</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If ρ = 0:  σ_p &lt; avg(σ_1,σ_2)</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Diversification ALWAYS helps when ρ &lt; 1!</a:t>
            </a:r>
            <a:endParaRPr lang="en-US" sz="1000" dirty="0"/>
          </a:p>
        </p:txBody>
      </p:sp>
      <p:sp>
        <p:nvSpPr>
          <p:cNvPr id="20" name="Shape 18"/>
          <p:cNvSpPr/>
          <p:nvPr/>
        </p:nvSpPr>
        <p:spPr>
          <a:xfrm>
            <a:off x="182880" y="4828032"/>
            <a:ext cx="8778240" cy="0"/>
          </a:xfrm>
          <a:prstGeom prst="rect">
            <a:avLst/>
          </a:prstGeom>
          <a:noFill/>
          <a:ln/>
        </p:spPr>
      </p:sp>
      <p:pic>
        <p:nvPicPr>
          <p:cNvPr id="21" name="Image 0" descr="preencoded.png"/>
          <p:cNvPicPr>
            <a:picLocks noChangeAspect="1"/>
          </p:cNvPicPr>
          <p:nvPr/>
        </p:nvPicPr>
        <p:blipFill>
          <a:blip r:embed="rId3"/>
          <a:stretch>
            <a:fillRect/>
          </a:stretch>
        </p:blipFill>
        <p:spPr>
          <a:xfrm>
            <a:off x="201168" y="4645152"/>
            <a:ext cx="347472" cy="347472"/>
          </a:xfrm>
          <a:prstGeom prst="rect">
            <a:avLst/>
          </a:prstGeom>
        </p:spPr>
      </p:pic>
      <p:sp>
        <p:nvSpPr>
          <p:cNvPr id="22" name="Text 19"/>
          <p:cNvSpPr/>
          <p:nvPr/>
        </p:nvSpPr>
        <p:spPr>
          <a:xfrm>
            <a:off x="594360" y="4663440"/>
            <a:ext cx="8321040" cy="32004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Core Insight: The benefit of combining assets depends not on individual risks, but on how assets move relative to each other (correlation).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Key Technical Terms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498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49808"/>
            <a:ext cx="64008" cy="1234440"/>
          </a:xfrm>
          <a:prstGeom prst="rect">
            <a:avLst/>
          </a:prstGeom>
          <a:solidFill>
            <a:srgbClr val="0D1B2A"/>
          </a:solidFill>
          <a:ln/>
        </p:spPr>
      </p:sp>
      <p:sp>
        <p:nvSpPr>
          <p:cNvPr id="9" name="Text 7"/>
          <p:cNvSpPr/>
          <p:nvPr/>
        </p:nvSpPr>
        <p:spPr>
          <a:xfrm>
            <a:off x="329184" y="795528"/>
            <a:ext cx="4023360" cy="256032"/>
          </a:xfrm>
          <a:prstGeom prst="rect">
            <a:avLst/>
          </a:prstGeom>
          <a:noFill/>
          <a:ln/>
        </p:spPr>
        <p:txBody>
          <a:bodyPr wrap="square" lIns="0" tIns="0" rIns="0" bIns="0"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Expected Return  (μ)</a:t>
            </a:r>
            <a:endParaRPr lang="en-US" sz="1150" dirty="0"/>
          </a:p>
        </p:txBody>
      </p:sp>
      <p:sp>
        <p:nvSpPr>
          <p:cNvPr id="10" name="Shape 8"/>
          <p:cNvSpPr/>
          <p:nvPr/>
        </p:nvSpPr>
        <p:spPr>
          <a:xfrm>
            <a:off x="329184" y="1078992"/>
            <a:ext cx="4041648" cy="274320"/>
          </a:xfrm>
          <a:prstGeom prst="rect">
            <a:avLst/>
          </a:prstGeom>
          <a:solidFill>
            <a:srgbClr val="0D1B2A">
              <a:alpha val="15000"/>
            </a:srgbClr>
          </a:solidFill>
          <a:ln/>
        </p:spPr>
      </p:sp>
      <p:sp>
        <p:nvSpPr>
          <p:cNvPr id="11" name="Text 9"/>
          <p:cNvSpPr/>
          <p:nvPr/>
        </p:nvSpPr>
        <p:spPr>
          <a:xfrm>
            <a:off x="384048" y="10972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μ = (1/T) Σ r_t  or  E[R]</a:t>
            </a:r>
            <a:endParaRPr lang="en-US" sz="1000" dirty="0"/>
          </a:p>
        </p:txBody>
      </p:sp>
      <p:sp>
        <p:nvSpPr>
          <p:cNvPr id="12" name="Text 10"/>
          <p:cNvSpPr/>
          <p:nvPr/>
        </p:nvSpPr>
        <p:spPr>
          <a:xfrm>
            <a:off x="329184" y="13990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Average of historical log-returns; estimate of future mean performance.</a:t>
            </a:r>
            <a:endParaRPr lang="en-US" sz="950" dirty="0"/>
          </a:p>
        </p:txBody>
      </p:sp>
      <p:sp>
        <p:nvSpPr>
          <p:cNvPr id="13" name="Shape 11"/>
          <p:cNvSpPr/>
          <p:nvPr/>
        </p:nvSpPr>
        <p:spPr>
          <a:xfrm>
            <a:off x="4663440" y="7498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14" name="Shape 12"/>
          <p:cNvSpPr/>
          <p:nvPr/>
        </p:nvSpPr>
        <p:spPr>
          <a:xfrm>
            <a:off x="4663440" y="749808"/>
            <a:ext cx="64008" cy="1234440"/>
          </a:xfrm>
          <a:prstGeom prst="rect">
            <a:avLst/>
          </a:prstGeom>
          <a:solidFill>
            <a:srgbClr val="1B6CA8"/>
          </a:solidFill>
          <a:ln/>
        </p:spPr>
      </p:sp>
      <p:sp>
        <p:nvSpPr>
          <p:cNvPr id="15" name="Text 13"/>
          <p:cNvSpPr/>
          <p:nvPr/>
        </p:nvSpPr>
        <p:spPr>
          <a:xfrm>
            <a:off x="4809744" y="795528"/>
            <a:ext cx="4023360" cy="256032"/>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Volatility  (σ)</a:t>
            </a:r>
            <a:endParaRPr lang="en-US" sz="1150" dirty="0"/>
          </a:p>
        </p:txBody>
      </p:sp>
      <p:sp>
        <p:nvSpPr>
          <p:cNvPr id="16" name="Shape 14"/>
          <p:cNvSpPr/>
          <p:nvPr/>
        </p:nvSpPr>
        <p:spPr>
          <a:xfrm>
            <a:off x="4809744" y="1078992"/>
            <a:ext cx="4041648" cy="274320"/>
          </a:xfrm>
          <a:prstGeom prst="rect">
            <a:avLst/>
          </a:prstGeom>
          <a:solidFill>
            <a:srgbClr val="1B6CA8">
              <a:alpha val="15000"/>
            </a:srgbClr>
          </a:solidFill>
          <a:ln/>
        </p:spPr>
      </p:sp>
      <p:sp>
        <p:nvSpPr>
          <p:cNvPr id="17" name="Text 15"/>
          <p:cNvSpPr/>
          <p:nvPr/>
        </p:nvSpPr>
        <p:spPr>
          <a:xfrm>
            <a:off x="4864608" y="10972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σ = √[ (1/T−1) Σ (r_t−μ)² ]</a:t>
            </a:r>
            <a:endParaRPr lang="en-US" sz="1000" dirty="0"/>
          </a:p>
        </p:txBody>
      </p:sp>
      <p:sp>
        <p:nvSpPr>
          <p:cNvPr id="18" name="Text 16"/>
          <p:cNvSpPr/>
          <p:nvPr/>
        </p:nvSpPr>
        <p:spPr>
          <a:xfrm>
            <a:off x="4809744" y="13990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Standard deviation of returns; primary measure of investment risk. Annualised: σ_annual = σ_daily × √252.</a:t>
            </a:r>
            <a:endParaRPr lang="en-US" sz="950" dirty="0"/>
          </a:p>
        </p:txBody>
      </p:sp>
      <p:sp>
        <p:nvSpPr>
          <p:cNvPr id="19" name="Shape 17"/>
          <p:cNvSpPr/>
          <p:nvPr/>
        </p:nvSpPr>
        <p:spPr>
          <a:xfrm>
            <a:off x="182880" y="21214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20" name="Shape 18"/>
          <p:cNvSpPr/>
          <p:nvPr/>
        </p:nvSpPr>
        <p:spPr>
          <a:xfrm>
            <a:off x="182880" y="2121408"/>
            <a:ext cx="64008" cy="1234440"/>
          </a:xfrm>
          <a:prstGeom prst="rect">
            <a:avLst/>
          </a:prstGeom>
          <a:solidFill>
            <a:srgbClr val="1E8449"/>
          </a:solidFill>
          <a:ln/>
        </p:spPr>
      </p:sp>
      <p:sp>
        <p:nvSpPr>
          <p:cNvPr id="21" name="Text 19"/>
          <p:cNvSpPr/>
          <p:nvPr/>
        </p:nvSpPr>
        <p:spPr>
          <a:xfrm>
            <a:off x="329184" y="2167128"/>
            <a:ext cx="4023360" cy="256032"/>
          </a:xfrm>
          <a:prstGeom prst="rect">
            <a:avLst/>
          </a:prstGeom>
          <a:noFill/>
          <a:ln/>
        </p:spPr>
        <p:txBody>
          <a:bodyPr wrap="square" lIns="0" tIns="0" rIns="0" bIns="0" rtlCol="0" anchor="ctr"/>
          <a:lstStyle/>
          <a:p>
            <a:pPr marL="0" indent="0">
              <a:buNone/>
            </a:pPr>
            <a:r>
              <a:rPr lang="en-US" sz="1150" b="1" dirty="0">
                <a:solidFill>
                  <a:srgbClr val="1E8449"/>
                </a:solidFill>
                <a:latin typeface="Calibri" pitchFamily="34" charset="0"/>
                <a:ea typeface="Calibri" pitchFamily="34" charset="-122"/>
                <a:cs typeface="Calibri" pitchFamily="34" charset="-120"/>
              </a:rPr>
              <a:t>Sharpe Ratio  (SR)</a:t>
            </a:r>
            <a:endParaRPr lang="en-US" sz="1150" dirty="0"/>
          </a:p>
        </p:txBody>
      </p:sp>
      <p:sp>
        <p:nvSpPr>
          <p:cNvPr id="22" name="Shape 20"/>
          <p:cNvSpPr/>
          <p:nvPr/>
        </p:nvSpPr>
        <p:spPr>
          <a:xfrm>
            <a:off x="329184" y="2450592"/>
            <a:ext cx="4041648" cy="274320"/>
          </a:xfrm>
          <a:prstGeom prst="rect">
            <a:avLst/>
          </a:prstGeom>
          <a:solidFill>
            <a:srgbClr val="1E8449">
              <a:alpha val="15000"/>
            </a:srgbClr>
          </a:solidFill>
          <a:ln/>
        </p:spPr>
      </p:sp>
      <p:sp>
        <p:nvSpPr>
          <p:cNvPr id="23" name="Text 21"/>
          <p:cNvSpPr/>
          <p:nvPr/>
        </p:nvSpPr>
        <p:spPr>
          <a:xfrm>
            <a:off x="384048" y="24688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SR = (μ_p − r_f) / σ_p</a:t>
            </a:r>
            <a:endParaRPr lang="en-US" sz="1000" dirty="0"/>
          </a:p>
        </p:txBody>
      </p:sp>
      <p:sp>
        <p:nvSpPr>
          <p:cNvPr id="24" name="Text 22"/>
          <p:cNvSpPr/>
          <p:nvPr/>
        </p:nvSpPr>
        <p:spPr>
          <a:xfrm>
            <a:off x="329184" y="27706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Risk-adjusted performance per unit of total risk. Higher SR = better risk-adjusted return. r_f is the risk-free rate (e.g. T-bill).</a:t>
            </a:r>
            <a:endParaRPr lang="en-US" sz="950" dirty="0"/>
          </a:p>
        </p:txBody>
      </p:sp>
      <p:sp>
        <p:nvSpPr>
          <p:cNvPr id="25" name="Shape 23"/>
          <p:cNvSpPr/>
          <p:nvPr/>
        </p:nvSpPr>
        <p:spPr>
          <a:xfrm>
            <a:off x="4663440" y="21214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26" name="Shape 24"/>
          <p:cNvSpPr/>
          <p:nvPr/>
        </p:nvSpPr>
        <p:spPr>
          <a:xfrm>
            <a:off x="4663440" y="2121408"/>
            <a:ext cx="64008" cy="1234440"/>
          </a:xfrm>
          <a:prstGeom prst="rect">
            <a:avLst/>
          </a:prstGeom>
          <a:solidFill>
            <a:srgbClr val="7D3C98"/>
          </a:solidFill>
          <a:ln/>
        </p:spPr>
      </p:sp>
      <p:sp>
        <p:nvSpPr>
          <p:cNvPr id="27" name="Text 25"/>
          <p:cNvSpPr/>
          <p:nvPr/>
        </p:nvSpPr>
        <p:spPr>
          <a:xfrm>
            <a:off x="4809744" y="2167128"/>
            <a:ext cx="4023360" cy="256032"/>
          </a:xfrm>
          <a:prstGeom prst="rect">
            <a:avLst/>
          </a:prstGeom>
          <a:noFill/>
          <a:ln/>
        </p:spPr>
        <p:txBody>
          <a:bodyPr wrap="square" lIns="0" tIns="0" rIns="0" bIns="0" rtlCol="0" anchor="ctr"/>
          <a:lstStyle/>
          <a:p>
            <a:pPr marL="0" indent="0">
              <a:buNone/>
            </a:pPr>
            <a:r>
              <a:rPr lang="en-US" sz="1150" b="1" dirty="0">
                <a:solidFill>
                  <a:srgbClr val="7D3C98"/>
                </a:solidFill>
                <a:latin typeface="Calibri" pitchFamily="34" charset="0"/>
                <a:ea typeface="Calibri" pitchFamily="34" charset="-122"/>
                <a:cs typeface="Calibri" pitchFamily="34" charset="-120"/>
              </a:rPr>
              <a:t>Covariance  (Cov)</a:t>
            </a:r>
            <a:endParaRPr lang="en-US" sz="1150" dirty="0"/>
          </a:p>
        </p:txBody>
      </p:sp>
      <p:sp>
        <p:nvSpPr>
          <p:cNvPr id="28" name="Shape 26"/>
          <p:cNvSpPr/>
          <p:nvPr/>
        </p:nvSpPr>
        <p:spPr>
          <a:xfrm>
            <a:off x="4809744" y="2450592"/>
            <a:ext cx="4041648" cy="274320"/>
          </a:xfrm>
          <a:prstGeom prst="rect">
            <a:avLst/>
          </a:prstGeom>
          <a:solidFill>
            <a:srgbClr val="7D3C98">
              <a:alpha val="15000"/>
            </a:srgbClr>
          </a:solidFill>
          <a:ln/>
        </p:spPr>
      </p:sp>
      <p:sp>
        <p:nvSpPr>
          <p:cNvPr id="29" name="Text 27"/>
          <p:cNvSpPr/>
          <p:nvPr/>
        </p:nvSpPr>
        <p:spPr>
          <a:xfrm>
            <a:off x="4864608" y="24688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Cov(R_i,R_j) = (1/T−1) Σ (r_it−μ_i)(r_jt−μ_j)</a:t>
            </a:r>
            <a:endParaRPr lang="en-US" sz="1000" dirty="0"/>
          </a:p>
        </p:txBody>
      </p:sp>
      <p:sp>
        <p:nvSpPr>
          <p:cNvPr id="30" name="Text 28"/>
          <p:cNvSpPr/>
          <p:nvPr/>
        </p:nvSpPr>
        <p:spPr>
          <a:xfrm>
            <a:off x="4809744" y="27706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Measures joint variability. Positive: assets move together. Negative: they offset each other.</a:t>
            </a:r>
            <a:endParaRPr lang="en-US" sz="950" dirty="0"/>
          </a:p>
        </p:txBody>
      </p:sp>
      <p:sp>
        <p:nvSpPr>
          <p:cNvPr id="31" name="Shape 29"/>
          <p:cNvSpPr/>
          <p:nvPr/>
        </p:nvSpPr>
        <p:spPr>
          <a:xfrm>
            <a:off x="182880" y="34930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32" name="Shape 30"/>
          <p:cNvSpPr/>
          <p:nvPr/>
        </p:nvSpPr>
        <p:spPr>
          <a:xfrm>
            <a:off x="182880" y="3493008"/>
            <a:ext cx="64008" cy="1234440"/>
          </a:xfrm>
          <a:prstGeom prst="rect">
            <a:avLst/>
          </a:prstGeom>
          <a:solidFill>
            <a:srgbClr val="C8963E"/>
          </a:solidFill>
          <a:ln/>
        </p:spPr>
      </p:sp>
      <p:sp>
        <p:nvSpPr>
          <p:cNvPr id="33" name="Text 31"/>
          <p:cNvSpPr/>
          <p:nvPr/>
        </p:nvSpPr>
        <p:spPr>
          <a:xfrm>
            <a:off x="329184" y="3538728"/>
            <a:ext cx="4023360" cy="256032"/>
          </a:xfrm>
          <a:prstGeom prst="rect">
            <a:avLst/>
          </a:prstGeom>
          <a:noFill/>
          <a:ln/>
        </p:spPr>
        <p:txBody>
          <a:bodyPr wrap="square" lIns="0" tIns="0" rIns="0" bIns="0" rtlCol="0" anchor="ctr"/>
          <a:lstStyle/>
          <a:p>
            <a:pPr marL="0" indent="0">
              <a:buNone/>
            </a:pPr>
            <a:r>
              <a:rPr lang="en-US" sz="1150" b="1" dirty="0">
                <a:solidFill>
                  <a:srgbClr val="C8963E"/>
                </a:solidFill>
                <a:latin typeface="Calibri" pitchFamily="34" charset="0"/>
                <a:ea typeface="Calibri" pitchFamily="34" charset="-122"/>
                <a:cs typeface="Calibri" pitchFamily="34" charset="-120"/>
              </a:rPr>
              <a:t>Correlation  (ρ)</a:t>
            </a:r>
            <a:endParaRPr lang="en-US" sz="1150" dirty="0"/>
          </a:p>
        </p:txBody>
      </p:sp>
      <p:sp>
        <p:nvSpPr>
          <p:cNvPr id="34" name="Shape 32"/>
          <p:cNvSpPr/>
          <p:nvPr/>
        </p:nvSpPr>
        <p:spPr>
          <a:xfrm>
            <a:off x="329184" y="3822192"/>
            <a:ext cx="4041648" cy="274320"/>
          </a:xfrm>
          <a:prstGeom prst="rect">
            <a:avLst/>
          </a:prstGeom>
          <a:solidFill>
            <a:srgbClr val="C8963E">
              <a:alpha val="15000"/>
            </a:srgbClr>
          </a:solidFill>
          <a:ln/>
        </p:spPr>
      </p:sp>
      <p:sp>
        <p:nvSpPr>
          <p:cNvPr id="35" name="Text 33"/>
          <p:cNvSpPr/>
          <p:nvPr/>
        </p:nvSpPr>
        <p:spPr>
          <a:xfrm>
            <a:off x="384048" y="38404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ρ_ij = Cov(R_i,R_j) / (σ_i · σ_j) ∈ [−1, 1]</a:t>
            </a:r>
            <a:endParaRPr lang="en-US" sz="1000" dirty="0"/>
          </a:p>
        </p:txBody>
      </p:sp>
      <p:sp>
        <p:nvSpPr>
          <p:cNvPr id="36" name="Text 34"/>
          <p:cNvSpPr/>
          <p:nvPr/>
        </p:nvSpPr>
        <p:spPr>
          <a:xfrm>
            <a:off x="329184" y="41422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Normalised covariance. ρ = −1: perfect inverse; ρ = 0: uncorrelated; ρ = +1: perfect positive co-movement.</a:t>
            </a:r>
            <a:endParaRPr lang="en-US" sz="950" dirty="0"/>
          </a:p>
        </p:txBody>
      </p:sp>
      <p:sp>
        <p:nvSpPr>
          <p:cNvPr id="37" name="Shape 35"/>
          <p:cNvSpPr/>
          <p:nvPr/>
        </p:nvSpPr>
        <p:spPr>
          <a:xfrm>
            <a:off x="4663440" y="3493008"/>
            <a:ext cx="4315968" cy="1234440"/>
          </a:xfrm>
          <a:prstGeom prst="rect">
            <a:avLst/>
          </a:prstGeom>
          <a:solidFill>
            <a:srgbClr val="EEF4FB"/>
          </a:solidFill>
          <a:ln/>
          <a:effectLst>
            <a:outerShdw blurRad="76200" dist="25400" dir="8100000" algn="bl" rotWithShape="0">
              <a:srgbClr val="000000">
                <a:alpha val="12000"/>
              </a:srgbClr>
            </a:outerShdw>
          </a:effectLst>
        </p:spPr>
      </p:sp>
      <p:sp>
        <p:nvSpPr>
          <p:cNvPr id="38" name="Shape 36"/>
          <p:cNvSpPr/>
          <p:nvPr/>
        </p:nvSpPr>
        <p:spPr>
          <a:xfrm>
            <a:off x="4663440" y="3493008"/>
            <a:ext cx="64008" cy="1234440"/>
          </a:xfrm>
          <a:prstGeom prst="rect">
            <a:avLst/>
          </a:prstGeom>
          <a:solidFill>
            <a:srgbClr val="1B6CA8"/>
          </a:solidFill>
          <a:ln/>
        </p:spPr>
      </p:sp>
      <p:sp>
        <p:nvSpPr>
          <p:cNvPr id="39" name="Text 37"/>
          <p:cNvSpPr/>
          <p:nvPr/>
        </p:nvSpPr>
        <p:spPr>
          <a:xfrm>
            <a:off x="4809744" y="3538728"/>
            <a:ext cx="4023360" cy="256032"/>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Efficient Frontier</a:t>
            </a:r>
            <a:endParaRPr lang="en-US" sz="1150" dirty="0"/>
          </a:p>
        </p:txBody>
      </p:sp>
      <p:sp>
        <p:nvSpPr>
          <p:cNvPr id="40" name="Shape 38"/>
          <p:cNvSpPr/>
          <p:nvPr/>
        </p:nvSpPr>
        <p:spPr>
          <a:xfrm>
            <a:off x="4809744" y="3822192"/>
            <a:ext cx="4041648" cy="274320"/>
          </a:xfrm>
          <a:prstGeom prst="rect">
            <a:avLst/>
          </a:prstGeom>
          <a:solidFill>
            <a:srgbClr val="1B6CA8">
              <a:alpha val="15000"/>
            </a:srgbClr>
          </a:solidFill>
          <a:ln/>
        </p:spPr>
      </p:sp>
      <p:sp>
        <p:nvSpPr>
          <p:cNvPr id="41" name="Text 39"/>
          <p:cNvSpPr/>
          <p:nvPr/>
        </p:nvSpPr>
        <p:spPr>
          <a:xfrm>
            <a:off x="4864608" y="3840480"/>
            <a:ext cx="3931920" cy="23774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min σ²_p  s.t.  E[R_p] = μ̄,  Σw_i = 1</a:t>
            </a:r>
            <a:endParaRPr lang="en-US" sz="1000" dirty="0"/>
          </a:p>
        </p:txBody>
      </p:sp>
      <p:sp>
        <p:nvSpPr>
          <p:cNvPr id="42" name="Text 40"/>
          <p:cNvSpPr/>
          <p:nvPr/>
        </p:nvSpPr>
        <p:spPr>
          <a:xfrm>
            <a:off x="4809744" y="4142232"/>
            <a:ext cx="4041648" cy="530352"/>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Curve of portfolios offering maximum return for each risk level. Portfolios below the frontier are suboptimal (dominated).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Why Portfolio Optimisation Matters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4160520" cy="411480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13232"/>
            <a:ext cx="4160520" cy="365760"/>
          </a:xfrm>
          <a:prstGeom prst="rect">
            <a:avLst/>
          </a:prstGeom>
          <a:solidFill>
            <a:srgbClr val="C0392B"/>
          </a:solidFill>
          <a:ln/>
        </p:spPr>
      </p:sp>
      <p:pic>
        <p:nvPicPr>
          <p:cNvPr id="9" name="Image 0" descr="preencoded.png"/>
          <p:cNvPicPr>
            <a:picLocks noChangeAspect="1"/>
          </p:cNvPicPr>
          <p:nvPr/>
        </p:nvPicPr>
        <p:blipFill>
          <a:blip r:embed="rId3"/>
          <a:stretch>
            <a:fillRect/>
          </a:stretch>
        </p:blipFill>
        <p:spPr>
          <a:xfrm>
            <a:off x="274320" y="777240"/>
            <a:ext cx="292608" cy="292608"/>
          </a:xfrm>
          <a:prstGeom prst="rect">
            <a:avLst/>
          </a:prstGeom>
        </p:spPr>
      </p:pic>
      <p:sp>
        <p:nvSpPr>
          <p:cNvPr id="10" name="Text 7"/>
          <p:cNvSpPr/>
          <p:nvPr/>
        </p:nvSpPr>
        <p:spPr>
          <a:xfrm>
            <a:off x="621792" y="768096"/>
            <a:ext cx="3657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Equal-Weight Problem</a:t>
            </a:r>
            <a:endParaRPr lang="en-US" sz="1200" dirty="0"/>
          </a:p>
        </p:txBody>
      </p:sp>
      <p:sp>
        <p:nvSpPr>
          <p:cNvPr id="11" name="Text 8"/>
          <p:cNvSpPr/>
          <p:nvPr/>
        </p:nvSpPr>
        <p:spPr>
          <a:xfrm>
            <a:off x="292608" y="1170432"/>
            <a:ext cx="3931920" cy="3200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Suppose we hold 3 assets with equal weights (1/3 each):</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92608" y="1536192"/>
          <a:ext cx="3931920" cy="960120"/>
        </p:xfrm>
        <a:graphic>
          <a:graphicData uri="http://schemas.openxmlformats.org/drawingml/2006/table">
            <a:tbl>
              <a:tblPr/>
              <a:tblGrid>
                <a:gridCol w="982980">
                  <a:extLst>
                    <a:ext uri="{9D8B030D-6E8A-4147-A177-3AD203B41FA5}">
                      <a16:colId xmlns:a16="http://schemas.microsoft.com/office/drawing/2014/main" val="20000"/>
                    </a:ext>
                  </a:extLst>
                </a:gridCol>
                <a:gridCol w="982980">
                  <a:extLst>
                    <a:ext uri="{9D8B030D-6E8A-4147-A177-3AD203B41FA5}">
                      <a16:colId xmlns:a16="http://schemas.microsoft.com/office/drawing/2014/main" val="20001"/>
                    </a:ext>
                  </a:extLst>
                </a:gridCol>
                <a:gridCol w="982980">
                  <a:extLst>
                    <a:ext uri="{9D8B030D-6E8A-4147-A177-3AD203B41FA5}">
                      <a16:colId xmlns:a16="http://schemas.microsoft.com/office/drawing/2014/main" val="20002"/>
                    </a:ext>
                  </a:extLst>
                </a:gridCol>
                <a:gridCol w="982980">
                  <a:extLst>
                    <a:ext uri="{9D8B030D-6E8A-4147-A177-3AD203B41FA5}">
                      <a16:colId xmlns:a16="http://schemas.microsoft.com/office/drawing/2014/main" val="20003"/>
                    </a:ext>
                  </a:extLst>
                </a:gridCol>
              </a:tblGrid>
              <a:tr h="24003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Asset</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Exp. Return</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Volatility</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Correlation</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003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Stock A</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ρ(A,B)=0.9</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003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Stock B</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ρ(A,C)=−0.2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003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Bond C</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ρ(B,C)=0.1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9"/>
          <p:cNvSpPr/>
          <p:nvPr/>
        </p:nvSpPr>
        <p:spPr>
          <a:xfrm>
            <a:off x="292608" y="2578608"/>
            <a:ext cx="3931920" cy="1234440"/>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Equal weight portfolio:</a:t>
            </a:r>
            <a:endParaRPr lang="en-US" sz="1100" dirty="0"/>
          </a:p>
          <a:p>
            <a:pPr marL="0" indent="0">
              <a:buNone/>
            </a:pP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E[R_p] = (1/3)(12+8+4) = 8%</a:t>
            </a:r>
            <a:endParaRPr lang="en-US" sz="1100" dirty="0"/>
          </a:p>
          <a:p>
            <a:pPr marL="0" indent="0">
              <a:buNone/>
            </a:pP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σ_p ≈ 17.6%  (dominated by Stock A correlation)</a:t>
            </a:r>
            <a:endParaRPr lang="en-US" sz="1100" dirty="0"/>
          </a:p>
          <a:p>
            <a:pPr marL="0" indent="0">
              <a:buNone/>
            </a:pPr>
            <a:endParaRPr lang="en-US" sz="1100" dirty="0"/>
          </a:p>
          <a:p>
            <a:pPr marL="0" indent="0">
              <a:buNone/>
            </a:pPr>
            <a:r>
              <a:rPr lang="en-US" sz="1100" dirty="0">
                <a:solidFill>
                  <a:srgbClr val="0D1B2A"/>
                </a:solidFill>
                <a:latin typeface="Calibri" pitchFamily="34" charset="0"/>
                <a:ea typeface="Calibri" pitchFamily="34" charset="-122"/>
                <a:cs typeface="Calibri" pitchFamily="34" charset="-120"/>
              </a:rPr>
              <a:t>Sharpe Ratio ≈ (8−2)/17.6 = 0.34</a:t>
            </a:r>
            <a:endParaRPr lang="en-US" sz="1100" dirty="0"/>
          </a:p>
        </p:txBody>
      </p:sp>
      <p:sp>
        <p:nvSpPr>
          <p:cNvPr id="14" name="Shape 10"/>
          <p:cNvSpPr/>
          <p:nvPr/>
        </p:nvSpPr>
        <p:spPr>
          <a:xfrm>
            <a:off x="292608" y="3858768"/>
            <a:ext cx="3931920" cy="822960"/>
          </a:xfrm>
          <a:prstGeom prst="rect">
            <a:avLst/>
          </a:prstGeom>
          <a:solidFill>
            <a:srgbClr val="FFF3CD"/>
          </a:solidFill>
          <a:ln/>
        </p:spPr>
      </p:sp>
      <p:pic>
        <p:nvPicPr>
          <p:cNvPr id="15" name="Image 1" descr="preencoded.png"/>
          <p:cNvPicPr>
            <a:picLocks noChangeAspect="1"/>
          </p:cNvPicPr>
          <p:nvPr/>
        </p:nvPicPr>
        <p:blipFill>
          <a:blip r:embed="rId3"/>
          <a:stretch>
            <a:fillRect/>
          </a:stretch>
        </p:blipFill>
        <p:spPr>
          <a:xfrm>
            <a:off x="384048" y="3977640"/>
            <a:ext cx="320040" cy="320040"/>
          </a:xfrm>
          <a:prstGeom prst="rect">
            <a:avLst/>
          </a:prstGeom>
        </p:spPr>
      </p:pic>
      <p:sp>
        <p:nvSpPr>
          <p:cNvPr id="16" name="Text 11"/>
          <p:cNvSpPr/>
          <p:nvPr/>
        </p:nvSpPr>
        <p:spPr>
          <a:xfrm>
            <a:off x="758952" y="3895344"/>
            <a:ext cx="3401568" cy="731520"/>
          </a:xfrm>
          <a:prstGeom prst="rect">
            <a:avLst/>
          </a:prstGeom>
          <a:noFill/>
          <a:ln/>
        </p:spPr>
        <p:txBody>
          <a:bodyPr wrap="square" lIns="0" tIns="0" rIns="0" bIns="0" rtlCol="0" anchor="ctr"/>
          <a:lstStyle/>
          <a:p>
            <a:pPr marL="0" indent="0">
              <a:buNone/>
            </a:pPr>
            <a:r>
              <a:rPr lang="en-US" sz="1000" dirty="0">
                <a:solidFill>
                  <a:srgbClr val="7D4E00"/>
                </a:solidFill>
                <a:latin typeface="Calibri" pitchFamily="34" charset="0"/>
                <a:ea typeface="Calibri" pitchFamily="34" charset="-122"/>
                <a:cs typeface="Calibri" pitchFamily="34" charset="-120"/>
              </a:rPr>
              <a:t>Problem: Equal weights ignore the high A–B correlation (0.9), which bloats portfolio risk. An optimised portfolio would under-weight A and B while increasing Bond C.</a:t>
            </a:r>
            <a:endParaRPr lang="en-US" sz="1000" dirty="0"/>
          </a:p>
        </p:txBody>
      </p:sp>
      <p:sp>
        <p:nvSpPr>
          <p:cNvPr id="17" name="Shape 12"/>
          <p:cNvSpPr/>
          <p:nvPr/>
        </p:nvSpPr>
        <p:spPr>
          <a:xfrm>
            <a:off x="4617720" y="713232"/>
            <a:ext cx="4297680" cy="4114800"/>
          </a:xfrm>
          <a:prstGeom prst="rect">
            <a:avLst/>
          </a:prstGeom>
          <a:solidFill>
            <a:srgbClr val="EEF4FB"/>
          </a:solidFill>
          <a:ln/>
          <a:effectLst>
            <a:outerShdw blurRad="76200" dist="25400" dir="8100000" algn="bl" rotWithShape="0">
              <a:srgbClr val="000000">
                <a:alpha val="12000"/>
              </a:srgbClr>
            </a:outerShdw>
          </a:effectLst>
        </p:spPr>
      </p:sp>
      <p:sp>
        <p:nvSpPr>
          <p:cNvPr id="18" name="Shape 13"/>
          <p:cNvSpPr/>
          <p:nvPr/>
        </p:nvSpPr>
        <p:spPr>
          <a:xfrm>
            <a:off x="4617720" y="713232"/>
            <a:ext cx="4297680" cy="365760"/>
          </a:xfrm>
          <a:prstGeom prst="rect">
            <a:avLst/>
          </a:prstGeom>
          <a:solidFill>
            <a:srgbClr val="1E8449"/>
          </a:solidFill>
          <a:ln/>
        </p:spPr>
      </p:sp>
      <p:pic>
        <p:nvPicPr>
          <p:cNvPr id="19" name="Image 2" descr="preencoded.png"/>
          <p:cNvPicPr>
            <a:picLocks noChangeAspect="1"/>
          </p:cNvPicPr>
          <p:nvPr/>
        </p:nvPicPr>
        <p:blipFill>
          <a:blip r:embed="rId4"/>
          <a:stretch>
            <a:fillRect/>
          </a:stretch>
        </p:blipFill>
        <p:spPr>
          <a:xfrm>
            <a:off x="4709160" y="777240"/>
            <a:ext cx="292608" cy="292608"/>
          </a:xfrm>
          <a:prstGeom prst="rect">
            <a:avLst/>
          </a:prstGeom>
        </p:spPr>
      </p:pic>
      <p:sp>
        <p:nvSpPr>
          <p:cNvPr id="20" name="Text 14"/>
          <p:cNvSpPr/>
          <p:nvPr/>
        </p:nvSpPr>
        <p:spPr>
          <a:xfrm>
            <a:off x="5047488" y="768096"/>
            <a:ext cx="3749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Optimised Portfolio Comparison</a:t>
            </a:r>
            <a:endParaRPr lang="en-US" sz="12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09160" y="1133856"/>
          <a:ext cx="4114800" cy="1737358"/>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Equal Wt.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Opt. (Max SR)</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Stock A</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33.3%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Stock B</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33.3%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Bond C</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33.3%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E[R_p]</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σ_p</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17.6%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819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Sharpe Ratio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0.34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0.63 ✓</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2" name="Text 15"/>
          <p:cNvSpPr/>
          <p:nvPr/>
        </p:nvSpPr>
        <p:spPr>
          <a:xfrm>
            <a:off x="4709160" y="2962656"/>
            <a:ext cx="4114800" cy="393192"/>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1.  </a:t>
            </a:r>
            <a:r>
              <a:rPr lang="en-US" sz="1050" dirty="0">
                <a:solidFill>
                  <a:srgbClr val="0D1B2A"/>
                </a:solidFill>
                <a:latin typeface="Calibri" pitchFamily="34" charset="0"/>
                <a:ea typeface="Calibri" pitchFamily="34" charset="-122"/>
                <a:cs typeface="Calibri" pitchFamily="34" charset="-120"/>
              </a:rPr>
              <a:t>Optimisation finds weights that best balance return vs. risk.</a:t>
            </a:r>
            <a:endParaRPr lang="en-US" sz="1050" dirty="0"/>
          </a:p>
        </p:txBody>
      </p:sp>
      <p:sp>
        <p:nvSpPr>
          <p:cNvPr id="23" name="Text 16"/>
          <p:cNvSpPr/>
          <p:nvPr/>
        </p:nvSpPr>
        <p:spPr>
          <a:xfrm>
            <a:off x="4709160" y="3401568"/>
            <a:ext cx="4114800" cy="393192"/>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2.  </a:t>
            </a:r>
            <a:r>
              <a:rPr lang="en-US" sz="1050" dirty="0">
                <a:solidFill>
                  <a:srgbClr val="0D1B2A"/>
                </a:solidFill>
                <a:latin typeface="Calibri" pitchFamily="34" charset="0"/>
                <a:ea typeface="Calibri" pitchFamily="34" charset="-122"/>
                <a:cs typeface="Calibri" pitchFamily="34" charset="-120"/>
              </a:rPr>
              <a:t>A lower expected return can be BETTER if it comes with much lower risk.</a:t>
            </a:r>
            <a:endParaRPr lang="en-US" sz="1050" dirty="0"/>
          </a:p>
        </p:txBody>
      </p:sp>
      <p:sp>
        <p:nvSpPr>
          <p:cNvPr id="24" name="Text 17"/>
          <p:cNvSpPr/>
          <p:nvPr/>
        </p:nvSpPr>
        <p:spPr>
          <a:xfrm>
            <a:off x="4709160" y="3840480"/>
            <a:ext cx="4114800" cy="393192"/>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3.  </a:t>
            </a:r>
            <a:r>
              <a:rPr lang="en-US" sz="1050" dirty="0">
                <a:solidFill>
                  <a:srgbClr val="0D1B2A"/>
                </a:solidFill>
                <a:latin typeface="Calibri" pitchFamily="34" charset="0"/>
                <a:ea typeface="Calibri" pitchFamily="34" charset="-122"/>
                <a:cs typeface="Calibri" pitchFamily="34" charset="-120"/>
              </a:rPr>
              <a:t>Real portfolios often benefit from over-weighting low-volatility, low-correlation assets.</a:t>
            </a:r>
            <a:endParaRPr lang="en-US" sz="1050" dirty="0"/>
          </a:p>
        </p:txBody>
      </p:sp>
      <p:sp>
        <p:nvSpPr>
          <p:cNvPr id="25" name="Text 18"/>
          <p:cNvSpPr/>
          <p:nvPr/>
        </p:nvSpPr>
        <p:spPr>
          <a:xfrm>
            <a:off x="4709160" y="4279392"/>
            <a:ext cx="4114800" cy="393192"/>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4.  </a:t>
            </a:r>
            <a:r>
              <a:rPr lang="en-US" sz="1050" dirty="0">
                <a:solidFill>
                  <a:srgbClr val="0D1B2A"/>
                </a:solidFill>
                <a:latin typeface="Calibri" pitchFamily="34" charset="0"/>
                <a:ea typeface="Calibri" pitchFamily="34" charset="-122"/>
                <a:cs typeface="Calibri" pitchFamily="34" charset="-120"/>
              </a:rPr>
              <a:t>Naive equal weighting is dominated by more correlated positions — risk is NOT diversified.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02</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Mean-Variance Optimisation</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Markowitz Framework (1952) — The foundation of modern portfolio theory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Mean-Variance Optimisation (MVO) — Overview</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41148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Harry Markowitz (Nobel Prize 1990) formalised the idea that rational investors prefer portfolios offering the highest return for a given level of risk.</a:t>
            </a:r>
            <a:endParaRPr lang="en-US" sz="1150" dirty="0"/>
          </a:p>
        </p:txBody>
      </p:sp>
      <p:sp>
        <p:nvSpPr>
          <p:cNvPr id="8" name="Shape 6"/>
          <p:cNvSpPr/>
          <p:nvPr/>
        </p:nvSpPr>
        <p:spPr>
          <a:xfrm>
            <a:off x="182880" y="1234440"/>
            <a:ext cx="4251960" cy="352044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234440"/>
            <a:ext cx="4251960" cy="365760"/>
          </a:xfrm>
          <a:prstGeom prst="rect">
            <a:avLst/>
          </a:prstGeom>
          <a:solidFill>
            <a:srgbClr val="1B6CA8"/>
          </a:solidFill>
          <a:ln/>
        </p:spPr>
      </p:sp>
      <p:sp>
        <p:nvSpPr>
          <p:cNvPr id="10" name="Text 8"/>
          <p:cNvSpPr/>
          <p:nvPr/>
        </p:nvSpPr>
        <p:spPr>
          <a:xfrm>
            <a:off x="274320" y="1252728"/>
            <a:ext cx="406908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Type 1: Minimum Variance Portfolio (MVP)</a:t>
            </a:r>
            <a:endParaRPr lang="en-US" sz="1100" dirty="0"/>
          </a:p>
        </p:txBody>
      </p:sp>
      <p:sp>
        <p:nvSpPr>
          <p:cNvPr id="11" name="Text 9"/>
          <p:cNvSpPr/>
          <p:nvPr/>
        </p:nvSpPr>
        <p:spPr>
          <a:xfrm>
            <a:off x="310896" y="1682496"/>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Objective: Minimise portfolio variance (risk).</a:t>
            </a:r>
            <a:endParaRPr lang="en-US" sz="1050" dirty="0"/>
          </a:p>
        </p:txBody>
      </p:sp>
      <p:sp>
        <p:nvSpPr>
          <p:cNvPr id="12" name="Text 10"/>
          <p:cNvSpPr/>
          <p:nvPr/>
        </p:nvSpPr>
        <p:spPr>
          <a:xfrm>
            <a:off x="310896" y="1993392"/>
            <a:ext cx="3977640" cy="292608"/>
          </a:xfrm>
          <a:prstGeom prst="rect">
            <a:avLst/>
          </a:prstGeom>
          <a:noFill/>
          <a:ln/>
        </p:spPr>
        <p:txBody>
          <a:bodyPr wrap="square" lIns="0" tIns="0" rIns="0" bIns="0" rtlCol="0" anchor="ctr"/>
          <a:lstStyle/>
          <a:p>
            <a:pPr marL="0" indent="0">
              <a:buNone/>
            </a:pPr>
            <a:endParaRPr lang="en-US" sz="1050" dirty="0"/>
          </a:p>
        </p:txBody>
      </p:sp>
      <p:sp>
        <p:nvSpPr>
          <p:cNvPr id="13" name="Text 11"/>
          <p:cNvSpPr/>
          <p:nvPr/>
        </p:nvSpPr>
        <p:spPr>
          <a:xfrm>
            <a:off x="310896" y="2304288"/>
            <a:ext cx="3977640" cy="292608"/>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Problem:  min_{w}  wᵀΣw</a:t>
            </a:r>
            <a:endParaRPr lang="en-US" sz="1050" dirty="0"/>
          </a:p>
        </p:txBody>
      </p:sp>
      <p:sp>
        <p:nvSpPr>
          <p:cNvPr id="14" name="Text 12"/>
          <p:cNvSpPr/>
          <p:nvPr/>
        </p:nvSpPr>
        <p:spPr>
          <a:xfrm>
            <a:off x="310896" y="2615184"/>
            <a:ext cx="3977640" cy="292608"/>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Subject to:</a:t>
            </a:r>
            <a:endParaRPr lang="en-US" sz="1050" dirty="0"/>
          </a:p>
        </p:txBody>
      </p:sp>
      <p:sp>
        <p:nvSpPr>
          <p:cNvPr id="15" name="Text 13"/>
          <p:cNvSpPr/>
          <p:nvPr/>
        </p:nvSpPr>
        <p:spPr>
          <a:xfrm>
            <a:off x="310896" y="2926080"/>
            <a:ext cx="3977640" cy="292608"/>
          </a:xfrm>
          <a:prstGeom prst="rect">
            <a:avLst/>
          </a:prstGeom>
          <a:noFill/>
          <a:ln/>
        </p:spPr>
        <p:txBody>
          <a:bodyPr wrap="square" lIns="0" tIns="0" rIns="0" bIns="0" rtlCol="0" anchor="ctr"/>
          <a:lstStyle/>
          <a:p>
            <a:pPr marL="0" indent="0">
              <a:buNone/>
            </a:pPr>
            <a:r>
              <a:rPr lang="en-US" sz="1050" dirty="0">
                <a:solidFill>
                  <a:srgbClr val="1B6CA8"/>
                </a:solidFill>
                <a:latin typeface="Calibri" pitchFamily="34" charset="0"/>
                <a:ea typeface="Calibri" pitchFamily="34" charset="-122"/>
                <a:cs typeface="Calibri" pitchFamily="34" charset="-120"/>
              </a:rPr>
              <a:t>  (i)  1ᵀw = 1   (fully invested)</a:t>
            </a:r>
            <a:endParaRPr lang="en-US" sz="1050" dirty="0"/>
          </a:p>
        </p:txBody>
      </p:sp>
      <p:sp>
        <p:nvSpPr>
          <p:cNvPr id="16" name="Text 14"/>
          <p:cNvSpPr/>
          <p:nvPr/>
        </p:nvSpPr>
        <p:spPr>
          <a:xfrm>
            <a:off x="310896" y="3236976"/>
            <a:ext cx="3977640" cy="292608"/>
          </a:xfrm>
          <a:prstGeom prst="rect">
            <a:avLst/>
          </a:prstGeom>
          <a:noFill/>
          <a:ln/>
        </p:spPr>
        <p:txBody>
          <a:bodyPr wrap="square" lIns="0" tIns="0" rIns="0" bIns="0" rtlCol="0" anchor="ctr"/>
          <a:lstStyle/>
          <a:p>
            <a:pPr marL="0" indent="0">
              <a:buNone/>
            </a:pPr>
            <a:r>
              <a:rPr lang="en-US" sz="1050" dirty="0">
                <a:solidFill>
                  <a:srgbClr val="1B6CA8"/>
                </a:solidFill>
                <a:latin typeface="Calibri" pitchFamily="34" charset="0"/>
                <a:ea typeface="Calibri" pitchFamily="34" charset="-122"/>
                <a:cs typeface="Calibri" pitchFamily="34" charset="-120"/>
              </a:rPr>
              <a:t>  (ii) w ≥ 0      (long-only, optional)</a:t>
            </a:r>
            <a:endParaRPr lang="en-US" sz="1050" dirty="0"/>
          </a:p>
        </p:txBody>
      </p:sp>
      <p:sp>
        <p:nvSpPr>
          <p:cNvPr id="17" name="Text 15"/>
          <p:cNvSpPr/>
          <p:nvPr/>
        </p:nvSpPr>
        <p:spPr>
          <a:xfrm>
            <a:off x="310896" y="3547872"/>
            <a:ext cx="3977640" cy="292608"/>
          </a:xfrm>
          <a:prstGeom prst="rect">
            <a:avLst/>
          </a:prstGeom>
          <a:noFill/>
          <a:ln/>
        </p:spPr>
        <p:txBody>
          <a:bodyPr wrap="square" lIns="0" tIns="0" rIns="0" bIns="0" rtlCol="0" anchor="ctr"/>
          <a:lstStyle/>
          <a:p>
            <a:pPr marL="0" indent="0">
              <a:buNone/>
            </a:pPr>
            <a:endParaRPr lang="en-US" sz="1050" dirty="0"/>
          </a:p>
        </p:txBody>
      </p:sp>
      <p:sp>
        <p:nvSpPr>
          <p:cNvPr id="18" name="Text 16"/>
          <p:cNvSpPr/>
          <p:nvPr/>
        </p:nvSpPr>
        <p:spPr>
          <a:xfrm>
            <a:off x="310896" y="3858768"/>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No target return is specified.</a:t>
            </a:r>
            <a:endParaRPr lang="en-US" sz="1050" dirty="0"/>
          </a:p>
        </p:txBody>
      </p:sp>
      <p:sp>
        <p:nvSpPr>
          <p:cNvPr id="19" name="Text 17"/>
          <p:cNvSpPr/>
          <p:nvPr/>
        </p:nvSpPr>
        <p:spPr>
          <a:xfrm>
            <a:off x="310896" y="4169664"/>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Produces the safest possible portfolio.</a:t>
            </a:r>
            <a:endParaRPr lang="en-US" sz="1050" dirty="0"/>
          </a:p>
        </p:txBody>
      </p:sp>
      <p:sp>
        <p:nvSpPr>
          <p:cNvPr id="20" name="Text 18"/>
          <p:cNvSpPr/>
          <p:nvPr/>
        </p:nvSpPr>
        <p:spPr>
          <a:xfrm>
            <a:off x="310896" y="4480560"/>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Useful when return estimates are unreliable.</a:t>
            </a:r>
            <a:endParaRPr lang="en-US" sz="1050" dirty="0"/>
          </a:p>
        </p:txBody>
      </p:sp>
      <p:sp>
        <p:nvSpPr>
          <p:cNvPr id="21" name="Shape 19"/>
          <p:cNvSpPr/>
          <p:nvPr/>
        </p:nvSpPr>
        <p:spPr>
          <a:xfrm>
            <a:off x="4663440" y="1234440"/>
            <a:ext cx="4251960" cy="3520440"/>
          </a:xfrm>
          <a:prstGeom prst="rect">
            <a:avLst/>
          </a:prstGeom>
          <a:solidFill>
            <a:srgbClr val="EEF4FB"/>
          </a:solidFill>
          <a:ln/>
          <a:effectLst>
            <a:outerShdw blurRad="76200" dist="25400" dir="8100000" algn="bl" rotWithShape="0">
              <a:srgbClr val="000000">
                <a:alpha val="12000"/>
              </a:srgbClr>
            </a:outerShdw>
          </a:effectLst>
        </p:spPr>
      </p:sp>
      <p:sp>
        <p:nvSpPr>
          <p:cNvPr id="22" name="Shape 20"/>
          <p:cNvSpPr/>
          <p:nvPr/>
        </p:nvSpPr>
        <p:spPr>
          <a:xfrm>
            <a:off x="4663440" y="1234440"/>
            <a:ext cx="4251960" cy="365760"/>
          </a:xfrm>
          <a:prstGeom prst="rect">
            <a:avLst/>
          </a:prstGeom>
          <a:solidFill>
            <a:srgbClr val="C8963E"/>
          </a:solidFill>
          <a:ln/>
        </p:spPr>
      </p:sp>
      <p:sp>
        <p:nvSpPr>
          <p:cNvPr id="23" name="Text 21"/>
          <p:cNvSpPr/>
          <p:nvPr/>
        </p:nvSpPr>
        <p:spPr>
          <a:xfrm>
            <a:off x="4754880" y="1252728"/>
            <a:ext cx="406908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Type 2: Maximum Sharpe Ratio Portfolio (Tangency)</a:t>
            </a:r>
            <a:endParaRPr lang="en-US" sz="1100" dirty="0"/>
          </a:p>
        </p:txBody>
      </p:sp>
      <p:sp>
        <p:nvSpPr>
          <p:cNvPr id="24" name="Text 22"/>
          <p:cNvSpPr/>
          <p:nvPr/>
        </p:nvSpPr>
        <p:spPr>
          <a:xfrm>
            <a:off x="4791456" y="1682496"/>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Objective: Maximise risk-adjusted return.</a:t>
            </a:r>
            <a:endParaRPr lang="en-US" sz="1050" dirty="0"/>
          </a:p>
        </p:txBody>
      </p:sp>
      <p:sp>
        <p:nvSpPr>
          <p:cNvPr id="25" name="Text 23"/>
          <p:cNvSpPr/>
          <p:nvPr/>
        </p:nvSpPr>
        <p:spPr>
          <a:xfrm>
            <a:off x="4791456" y="1993392"/>
            <a:ext cx="3977640" cy="292608"/>
          </a:xfrm>
          <a:prstGeom prst="rect">
            <a:avLst/>
          </a:prstGeom>
          <a:noFill/>
          <a:ln/>
        </p:spPr>
        <p:txBody>
          <a:bodyPr wrap="square" lIns="0" tIns="0" rIns="0" bIns="0" rtlCol="0" anchor="ctr"/>
          <a:lstStyle/>
          <a:p>
            <a:pPr marL="0" indent="0">
              <a:buNone/>
            </a:pPr>
            <a:endParaRPr lang="en-US" sz="1050" dirty="0"/>
          </a:p>
        </p:txBody>
      </p:sp>
      <p:sp>
        <p:nvSpPr>
          <p:cNvPr id="26" name="Text 24"/>
          <p:cNvSpPr/>
          <p:nvPr/>
        </p:nvSpPr>
        <p:spPr>
          <a:xfrm>
            <a:off x="4791456" y="2304288"/>
            <a:ext cx="3977640" cy="292608"/>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Problem:  max_{w}  (wᵀμ − r_f) / √(wᵀΣw)</a:t>
            </a:r>
            <a:endParaRPr lang="en-US" sz="1050" dirty="0"/>
          </a:p>
        </p:txBody>
      </p:sp>
      <p:sp>
        <p:nvSpPr>
          <p:cNvPr id="27" name="Text 25"/>
          <p:cNvSpPr/>
          <p:nvPr/>
        </p:nvSpPr>
        <p:spPr>
          <a:xfrm>
            <a:off x="4791456" y="2615184"/>
            <a:ext cx="3977640" cy="292608"/>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Subject to:</a:t>
            </a:r>
            <a:endParaRPr lang="en-US" sz="1050" dirty="0"/>
          </a:p>
        </p:txBody>
      </p:sp>
      <p:sp>
        <p:nvSpPr>
          <p:cNvPr id="28" name="Text 26"/>
          <p:cNvSpPr/>
          <p:nvPr/>
        </p:nvSpPr>
        <p:spPr>
          <a:xfrm>
            <a:off x="4791456" y="2926080"/>
            <a:ext cx="3977640" cy="292608"/>
          </a:xfrm>
          <a:prstGeom prst="rect">
            <a:avLst/>
          </a:prstGeom>
          <a:noFill/>
          <a:ln/>
        </p:spPr>
        <p:txBody>
          <a:bodyPr wrap="square" lIns="0" tIns="0" rIns="0" bIns="0" rtlCol="0" anchor="ctr"/>
          <a:lstStyle/>
          <a:p>
            <a:pPr marL="0" indent="0">
              <a:buNone/>
            </a:pPr>
            <a:r>
              <a:rPr lang="en-US" sz="1050" dirty="0">
                <a:solidFill>
                  <a:srgbClr val="1B6CA8"/>
                </a:solidFill>
                <a:latin typeface="Calibri" pitchFamily="34" charset="0"/>
                <a:ea typeface="Calibri" pitchFamily="34" charset="-122"/>
                <a:cs typeface="Calibri" pitchFamily="34" charset="-120"/>
              </a:rPr>
              <a:t>  (i)  1ᵀw = 1</a:t>
            </a:r>
            <a:endParaRPr lang="en-US" sz="1050" dirty="0"/>
          </a:p>
        </p:txBody>
      </p:sp>
      <p:sp>
        <p:nvSpPr>
          <p:cNvPr id="29" name="Text 27"/>
          <p:cNvSpPr/>
          <p:nvPr/>
        </p:nvSpPr>
        <p:spPr>
          <a:xfrm>
            <a:off x="4791456" y="3236976"/>
            <a:ext cx="3977640" cy="292608"/>
          </a:xfrm>
          <a:prstGeom prst="rect">
            <a:avLst/>
          </a:prstGeom>
          <a:noFill/>
          <a:ln/>
        </p:spPr>
        <p:txBody>
          <a:bodyPr wrap="square" lIns="0" tIns="0" rIns="0" bIns="0" rtlCol="0" anchor="ctr"/>
          <a:lstStyle/>
          <a:p>
            <a:pPr marL="0" indent="0">
              <a:buNone/>
            </a:pPr>
            <a:r>
              <a:rPr lang="en-US" sz="1050" dirty="0">
                <a:solidFill>
                  <a:srgbClr val="1B6CA8"/>
                </a:solidFill>
                <a:latin typeface="Calibri" pitchFamily="34" charset="0"/>
                <a:ea typeface="Calibri" pitchFamily="34" charset="-122"/>
                <a:cs typeface="Calibri" pitchFamily="34" charset="-120"/>
              </a:rPr>
              <a:t>  (ii) w ≥ 0  (optional)</a:t>
            </a:r>
            <a:endParaRPr lang="en-US" sz="1050" dirty="0"/>
          </a:p>
        </p:txBody>
      </p:sp>
      <p:sp>
        <p:nvSpPr>
          <p:cNvPr id="30" name="Text 28"/>
          <p:cNvSpPr/>
          <p:nvPr/>
        </p:nvSpPr>
        <p:spPr>
          <a:xfrm>
            <a:off x="4791456" y="3547872"/>
            <a:ext cx="3977640" cy="292608"/>
          </a:xfrm>
          <a:prstGeom prst="rect">
            <a:avLst/>
          </a:prstGeom>
          <a:noFill/>
          <a:ln/>
        </p:spPr>
        <p:txBody>
          <a:bodyPr wrap="square" lIns="0" tIns="0" rIns="0" bIns="0" rtlCol="0" anchor="ctr"/>
          <a:lstStyle/>
          <a:p>
            <a:pPr marL="0" indent="0">
              <a:buNone/>
            </a:pPr>
            <a:endParaRPr lang="en-US" sz="1050" dirty="0"/>
          </a:p>
        </p:txBody>
      </p:sp>
      <p:sp>
        <p:nvSpPr>
          <p:cNvPr id="31" name="Text 29"/>
          <p:cNvSpPr/>
          <p:nvPr/>
        </p:nvSpPr>
        <p:spPr>
          <a:xfrm>
            <a:off x="4791456" y="3858768"/>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Produces the portfolio on the Capital Market Line.</a:t>
            </a:r>
            <a:endParaRPr lang="en-US" sz="1050" dirty="0"/>
          </a:p>
        </p:txBody>
      </p:sp>
      <p:sp>
        <p:nvSpPr>
          <p:cNvPr id="32" name="Text 30"/>
          <p:cNvSpPr/>
          <p:nvPr/>
        </p:nvSpPr>
        <p:spPr>
          <a:xfrm>
            <a:off x="4791456" y="4169664"/>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Most popular in practice.</a:t>
            </a:r>
            <a:endParaRPr lang="en-US" sz="1050" dirty="0"/>
          </a:p>
        </p:txBody>
      </p:sp>
      <p:sp>
        <p:nvSpPr>
          <p:cNvPr id="33" name="Text 31"/>
          <p:cNvSpPr/>
          <p:nvPr/>
        </p:nvSpPr>
        <p:spPr>
          <a:xfrm>
            <a:off x="4791456" y="4480560"/>
            <a:ext cx="3977640" cy="29260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Sensitive to μ estimates — estimation error matters.</a:t>
            </a:r>
            <a:endParaRPr lang="en-US" sz="1050" dirty="0"/>
          </a:p>
        </p:txBody>
      </p:sp>
      <p:pic>
        <p:nvPicPr>
          <p:cNvPr id="34" name="Image 0" descr="preencoded.png"/>
          <p:cNvPicPr>
            <a:picLocks noChangeAspect="1"/>
          </p:cNvPicPr>
          <p:nvPr/>
        </p:nvPicPr>
        <p:blipFill>
          <a:blip r:embed="rId3"/>
          <a:stretch>
            <a:fillRect/>
          </a:stretch>
        </p:blipFill>
        <p:spPr>
          <a:xfrm>
            <a:off x="201168" y="4736592"/>
            <a:ext cx="292608" cy="292608"/>
          </a:xfrm>
          <a:prstGeom prst="rect">
            <a:avLst/>
          </a:prstGeom>
        </p:spPr>
      </p:pic>
      <p:sp>
        <p:nvSpPr>
          <p:cNvPr id="35" name="Text 32"/>
          <p:cNvSpPr/>
          <p:nvPr/>
        </p:nvSpPr>
        <p:spPr>
          <a:xfrm>
            <a:off x="548640" y="4754880"/>
            <a:ext cx="8321040" cy="27432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Both formulations require estimating μ (expected returns) and Σ (covariance matrix) from historical data — the estimation risk problem.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MVO via Lagrange Multipliers — Minimum Variance</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8778240" cy="347472"/>
          </a:xfrm>
          <a:prstGeom prst="rect">
            <a:avLst/>
          </a:prstGeom>
          <a:solidFill>
            <a:srgbClr val="0D1B2A"/>
          </a:solidFill>
          <a:ln/>
        </p:spPr>
      </p:sp>
      <p:sp>
        <p:nvSpPr>
          <p:cNvPr id="8" name="Text 6"/>
          <p:cNvSpPr/>
          <p:nvPr/>
        </p:nvSpPr>
        <p:spPr>
          <a:xfrm>
            <a:off x="274320" y="731520"/>
            <a:ext cx="85039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Analytical Solution: Unconstrained Long-Short Portfolio</a:t>
            </a:r>
            <a:endParaRPr lang="en-US" sz="1200" dirty="0"/>
          </a:p>
        </p:txBody>
      </p:sp>
      <p:sp>
        <p:nvSpPr>
          <p:cNvPr id="9" name="Shape 7"/>
          <p:cNvSpPr/>
          <p:nvPr/>
        </p:nvSpPr>
        <p:spPr>
          <a:xfrm>
            <a:off x="182880" y="11704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10" name="Shape 8"/>
          <p:cNvSpPr/>
          <p:nvPr/>
        </p:nvSpPr>
        <p:spPr>
          <a:xfrm>
            <a:off x="182880" y="1170432"/>
            <a:ext cx="4315968" cy="320040"/>
          </a:xfrm>
          <a:prstGeom prst="rect">
            <a:avLst/>
          </a:prstGeom>
          <a:solidFill>
            <a:srgbClr val="0D1B2A"/>
          </a:solidFill>
          <a:ln/>
        </p:spPr>
      </p:sp>
      <p:sp>
        <p:nvSpPr>
          <p:cNvPr id="11" name="Text 9"/>
          <p:cNvSpPr/>
          <p:nvPr/>
        </p:nvSpPr>
        <p:spPr>
          <a:xfrm>
            <a:off x="274320" y="1197864"/>
            <a:ext cx="411480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Step 1 — Lagrangian Formulation</a:t>
            </a:r>
            <a:endParaRPr lang="en-US" sz="1050" dirty="0"/>
          </a:p>
        </p:txBody>
      </p:sp>
      <p:sp>
        <p:nvSpPr>
          <p:cNvPr id="12" name="Text 10"/>
          <p:cNvSpPr/>
          <p:nvPr/>
        </p:nvSpPr>
        <p:spPr>
          <a:xfrm>
            <a:off x="274320" y="1572768"/>
            <a:ext cx="4114800"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Minimize  L(w, λ) = wᵀΣw  +  λ(1ᵀw − 1)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where λ is the Lagrange multiplier for the budget constraint (Σw_i = 1).</a:t>
            </a:r>
            <a:endParaRPr lang="en-US" sz="1000" dirty="0"/>
          </a:p>
        </p:txBody>
      </p:sp>
      <p:sp>
        <p:nvSpPr>
          <p:cNvPr id="13" name="Shape 11"/>
          <p:cNvSpPr/>
          <p:nvPr/>
        </p:nvSpPr>
        <p:spPr>
          <a:xfrm>
            <a:off x="4663440" y="11704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14" name="Shape 12"/>
          <p:cNvSpPr/>
          <p:nvPr/>
        </p:nvSpPr>
        <p:spPr>
          <a:xfrm>
            <a:off x="4663440" y="1170432"/>
            <a:ext cx="4315968" cy="320040"/>
          </a:xfrm>
          <a:prstGeom prst="rect">
            <a:avLst/>
          </a:prstGeom>
          <a:solidFill>
            <a:srgbClr val="0D1B2A"/>
          </a:solidFill>
          <a:ln/>
        </p:spPr>
      </p:sp>
      <p:sp>
        <p:nvSpPr>
          <p:cNvPr id="15" name="Text 13"/>
          <p:cNvSpPr/>
          <p:nvPr/>
        </p:nvSpPr>
        <p:spPr>
          <a:xfrm>
            <a:off x="4754880" y="1197864"/>
            <a:ext cx="411480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Step 2 — First Order Conditions (FOC)</a:t>
            </a:r>
            <a:endParaRPr lang="en-US" sz="1050" dirty="0"/>
          </a:p>
        </p:txBody>
      </p:sp>
      <p:sp>
        <p:nvSpPr>
          <p:cNvPr id="16" name="Text 14"/>
          <p:cNvSpPr/>
          <p:nvPr/>
        </p:nvSpPr>
        <p:spPr>
          <a:xfrm>
            <a:off x="4754880" y="1572768"/>
            <a:ext cx="4114800"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∂L/∂w = 0  ⟹  2Σw = λ1</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∂L/∂λ = 0  ⟹  1ᵀw = 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From the first condition:  w* = (λ/2)Σ⁻¹1</a:t>
            </a:r>
            <a:endParaRPr lang="en-US" sz="1000" dirty="0"/>
          </a:p>
        </p:txBody>
      </p:sp>
      <p:sp>
        <p:nvSpPr>
          <p:cNvPr id="17" name="Shape 15"/>
          <p:cNvSpPr/>
          <p:nvPr/>
        </p:nvSpPr>
        <p:spPr>
          <a:xfrm>
            <a:off x="182880" y="29992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18" name="Shape 16"/>
          <p:cNvSpPr/>
          <p:nvPr/>
        </p:nvSpPr>
        <p:spPr>
          <a:xfrm>
            <a:off x="182880" y="2999232"/>
            <a:ext cx="4315968" cy="320040"/>
          </a:xfrm>
          <a:prstGeom prst="rect">
            <a:avLst/>
          </a:prstGeom>
          <a:solidFill>
            <a:srgbClr val="0D1B2A"/>
          </a:solidFill>
          <a:ln/>
        </p:spPr>
      </p:sp>
      <p:sp>
        <p:nvSpPr>
          <p:cNvPr id="19" name="Text 17"/>
          <p:cNvSpPr/>
          <p:nvPr/>
        </p:nvSpPr>
        <p:spPr>
          <a:xfrm>
            <a:off x="274320" y="3026664"/>
            <a:ext cx="411480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Step 3 — Apply Budget Constraint</a:t>
            </a:r>
            <a:endParaRPr lang="en-US" sz="1050" dirty="0"/>
          </a:p>
        </p:txBody>
      </p:sp>
      <p:sp>
        <p:nvSpPr>
          <p:cNvPr id="20" name="Text 18"/>
          <p:cNvSpPr/>
          <p:nvPr/>
        </p:nvSpPr>
        <p:spPr>
          <a:xfrm>
            <a:off x="274320" y="3401568"/>
            <a:ext cx="4114800"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Substituting into 1ᵀw = 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λ/2 · 1ᵀΣ⁻¹1 = 1  ⟹  λ/2 = 1/(1ᵀΣ⁻¹1)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Therefore the MVP optimal weights:</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 = Σ⁻¹1 / (1ᵀΣ⁻¹1)</a:t>
            </a:r>
            <a:endParaRPr lang="en-US" sz="1000" dirty="0"/>
          </a:p>
        </p:txBody>
      </p:sp>
      <p:sp>
        <p:nvSpPr>
          <p:cNvPr id="21" name="Shape 19"/>
          <p:cNvSpPr/>
          <p:nvPr/>
        </p:nvSpPr>
        <p:spPr>
          <a:xfrm>
            <a:off x="4663440" y="29992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22" name="Shape 20"/>
          <p:cNvSpPr/>
          <p:nvPr/>
        </p:nvSpPr>
        <p:spPr>
          <a:xfrm>
            <a:off x="4663440" y="2999232"/>
            <a:ext cx="4315968" cy="320040"/>
          </a:xfrm>
          <a:prstGeom prst="rect">
            <a:avLst/>
          </a:prstGeom>
          <a:solidFill>
            <a:srgbClr val="0D1B2A"/>
          </a:solidFill>
          <a:ln/>
        </p:spPr>
      </p:sp>
      <p:sp>
        <p:nvSpPr>
          <p:cNvPr id="23" name="Text 21"/>
          <p:cNvSpPr/>
          <p:nvPr/>
        </p:nvSpPr>
        <p:spPr>
          <a:xfrm>
            <a:off x="4754880" y="3026664"/>
            <a:ext cx="411480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Step 4 — Minimum Variance &amp; Risk</a:t>
            </a:r>
            <a:endParaRPr lang="en-US" sz="1050" dirty="0"/>
          </a:p>
        </p:txBody>
      </p:sp>
      <p:sp>
        <p:nvSpPr>
          <p:cNvPr id="24" name="Text 22"/>
          <p:cNvSpPr/>
          <p:nvPr/>
        </p:nvSpPr>
        <p:spPr>
          <a:xfrm>
            <a:off x="4754880" y="3401568"/>
            <a:ext cx="4114800"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Minimum portfolio variance:</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σ²_min = w*ᵀΣw* = 1 / (1ᵀΣ⁻¹1)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Minimum standard deviation (risk):</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σ_min = 1 / √(1ᵀΣ⁻¹1)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MVO via Lagrange Multipliers — Maximum Sharpe Ratio (Tangency Portfolio)</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8778240" cy="347472"/>
          </a:xfrm>
          <a:prstGeom prst="rect">
            <a:avLst/>
          </a:prstGeom>
          <a:solidFill>
            <a:srgbClr val="1E8449"/>
          </a:solidFill>
          <a:ln/>
        </p:spPr>
      </p:sp>
      <p:sp>
        <p:nvSpPr>
          <p:cNvPr id="8" name="Text 6"/>
          <p:cNvSpPr/>
          <p:nvPr/>
        </p:nvSpPr>
        <p:spPr>
          <a:xfrm>
            <a:off x="274320" y="731520"/>
            <a:ext cx="85039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Excess Return Maximisation Problem</a:t>
            </a:r>
            <a:endParaRPr lang="en-US" sz="1200" dirty="0"/>
          </a:p>
        </p:txBody>
      </p:sp>
      <p:sp>
        <p:nvSpPr>
          <p:cNvPr id="9" name="Shape 7"/>
          <p:cNvSpPr/>
          <p:nvPr/>
        </p:nvSpPr>
        <p:spPr>
          <a:xfrm>
            <a:off x="182880" y="1170432"/>
            <a:ext cx="5029200" cy="3657600"/>
          </a:xfrm>
          <a:prstGeom prst="rect">
            <a:avLst/>
          </a:prstGeom>
          <a:solidFill>
            <a:srgbClr val="EEF4FB"/>
          </a:solidFill>
          <a:ln/>
          <a:effectLst>
            <a:outerShdw blurRad="76200" dist="25400" dir="8100000" algn="bl" rotWithShape="0">
              <a:srgbClr val="000000">
                <a:alpha val="12000"/>
              </a:srgbClr>
            </a:outerShdw>
          </a:effectLst>
        </p:spPr>
      </p:sp>
      <p:sp>
        <p:nvSpPr>
          <p:cNvPr id="10" name="Shape 8"/>
          <p:cNvSpPr/>
          <p:nvPr/>
        </p:nvSpPr>
        <p:spPr>
          <a:xfrm>
            <a:off x="182880" y="1170432"/>
            <a:ext cx="5029200" cy="329184"/>
          </a:xfrm>
          <a:prstGeom prst="rect">
            <a:avLst/>
          </a:prstGeom>
          <a:solidFill>
            <a:srgbClr val="1B6CA8"/>
          </a:solidFill>
          <a:ln/>
        </p:spPr>
      </p:sp>
      <p:sp>
        <p:nvSpPr>
          <p:cNvPr id="11" name="Text 9"/>
          <p:cNvSpPr/>
          <p:nvPr/>
        </p:nvSpPr>
        <p:spPr>
          <a:xfrm>
            <a:off x="274320" y="1188720"/>
            <a:ext cx="48463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Full Derivation</a:t>
            </a:r>
            <a:endParaRPr lang="en-US" sz="1100" dirty="0"/>
          </a:p>
        </p:txBody>
      </p:sp>
      <p:sp>
        <p:nvSpPr>
          <p:cNvPr id="12" name="Text 10"/>
          <p:cNvSpPr/>
          <p:nvPr/>
        </p:nvSpPr>
        <p:spPr>
          <a:xfrm>
            <a:off x="274320" y="1581912"/>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Let μ_e = μ − r_f·1  (excess return vector)</a:t>
            </a:r>
            <a:endParaRPr lang="en-US" sz="1050" dirty="0"/>
          </a:p>
        </p:txBody>
      </p:sp>
      <p:sp>
        <p:nvSpPr>
          <p:cNvPr id="13" name="Text 11"/>
          <p:cNvSpPr/>
          <p:nvPr/>
        </p:nvSpPr>
        <p:spPr>
          <a:xfrm>
            <a:off x="274320" y="1778508"/>
            <a:ext cx="4846320" cy="192024"/>
          </a:xfrm>
          <a:prstGeom prst="rect">
            <a:avLst/>
          </a:prstGeom>
          <a:noFill/>
          <a:ln/>
        </p:spPr>
        <p:txBody>
          <a:bodyPr wrap="square" lIns="0" tIns="0" rIns="0" bIns="0" rtlCol="0" anchor="ctr"/>
          <a:lstStyle/>
          <a:p>
            <a:pPr marL="0" indent="0">
              <a:buNone/>
            </a:pPr>
            <a:endParaRPr lang="en-US" sz="1050" dirty="0"/>
          </a:p>
        </p:txBody>
      </p:sp>
      <p:sp>
        <p:nvSpPr>
          <p:cNvPr id="14" name="Text 12"/>
          <p:cNvSpPr/>
          <p:nvPr/>
        </p:nvSpPr>
        <p:spPr>
          <a:xfrm>
            <a:off x="274320" y="1975104"/>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Transform: max SR ↔ min  wᵀΣw  s.t. wᵀμ_e = 1</a:t>
            </a:r>
            <a:endParaRPr lang="en-US" sz="1050" dirty="0"/>
          </a:p>
        </p:txBody>
      </p:sp>
      <p:sp>
        <p:nvSpPr>
          <p:cNvPr id="15" name="Text 13"/>
          <p:cNvSpPr/>
          <p:nvPr/>
        </p:nvSpPr>
        <p:spPr>
          <a:xfrm>
            <a:off x="274320" y="2171700"/>
            <a:ext cx="4846320" cy="192024"/>
          </a:xfrm>
          <a:prstGeom prst="rect">
            <a:avLst/>
          </a:prstGeom>
          <a:noFill/>
          <a:ln/>
        </p:spPr>
        <p:txBody>
          <a:bodyPr wrap="square" lIns="0" tIns="0" rIns="0" bIns="0" rtlCol="0" anchor="ctr"/>
          <a:lstStyle/>
          <a:p>
            <a:pPr marL="0" indent="0">
              <a:buNone/>
            </a:pPr>
            <a:endParaRPr lang="en-US" sz="1050" dirty="0"/>
          </a:p>
        </p:txBody>
      </p:sp>
      <p:sp>
        <p:nvSpPr>
          <p:cNvPr id="16" name="Text 14"/>
          <p:cNvSpPr/>
          <p:nvPr/>
        </p:nvSpPr>
        <p:spPr>
          <a:xfrm>
            <a:off x="274320" y="2368296"/>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Lagrangian:  L = wᵀΣw − λ(wᵀμ_e − 1)</a:t>
            </a:r>
            <a:endParaRPr lang="en-US" sz="1050" dirty="0"/>
          </a:p>
        </p:txBody>
      </p:sp>
      <p:sp>
        <p:nvSpPr>
          <p:cNvPr id="17" name="Text 15"/>
          <p:cNvSpPr/>
          <p:nvPr/>
        </p:nvSpPr>
        <p:spPr>
          <a:xfrm>
            <a:off x="274320" y="2564892"/>
            <a:ext cx="4846320" cy="192024"/>
          </a:xfrm>
          <a:prstGeom prst="rect">
            <a:avLst/>
          </a:prstGeom>
          <a:noFill/>
          <a:ln/>
        </p:spPr>
        <p:txBody>
          <a:bodyPr wrap="square" lIns="0" tIns="0" rIns="0" bIns="0" rtlCol="0" anchor="ctr"/>
          <a:lstStyle/>
          <a:p>
            <a:pPr marL="0" indent="0">
              <a:buNone/>
            </a:pPr>
            <a:endParaRPr lang="en-US" sz="1050" dirty="0"/>
          </a:p>
        </p:txBody>
      </p:sp>
      <p:sp>
        <p:nvSpPr>
          <p:cNvPr id="18" name="Text 16"/>
          <p:cNvSpPr/>
          <p:nvPr/>
        </p:nvSpPr>
        <p:spPr>
          <a:xfrm>
            <a:off x="274320" y="2761488"/>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FOC:  ∂L/∂w = 0  ⟹  2Σw = λμ_e</a:t>
            </a:r>
            <a:endParaRPr lang="en-US" sz="1050" dirty="0"/>
          </a:p>
        </p:txBody>
      </p:sp>
      <p:sp>
        <p:nvSpPr>
          <p:cNvPr id="19" name="Text 17"/>
          <p:cNvSpPr/>
          <p:nvPr/>
        </p:nvSpPr>
        <p:spPr>
          <a:xfrm>
            <a:off x="274320" y="2958084"/>
            <a:ext cx="4846320" cy="192024"/>
          </a:xfrm>
          <a:prstGeom prst="rect">
            <a:avLst/>
          </a:prstGeom>
          <a:noFill/>
          <a:ln/>
        </p:spPr>
        <p:txBody>
          <a:bodyPr wrap="square" lIns="0" tIns="0" rIns="0" bIns="0" rtlCol="0" anchor="ctr"/>
          <a:lstStyle/>
          <a:p>
            <a:pPr marL="0" indent="0">
              <a:buNone/>
            </a:pPr>
            <a:r>
              <a:rPr lang="en-US" sz="1050" dirty="0">
                <a:solidFill>
                  <a:srgbClr val="1B6CA8"/>
                </a:solidFill>
                <a:latin typeface="Calibri" pitchFamily="34" charset="0"/>
                <a:ea typeface="Calibri" pitchFamily="34" charset="-122"/>
                <a:cs typeface="Calibri" pitchFamily="34" charset="-120"/>
              </a:rPr>
              <a:t>      ⟹  w ∝ Σ⁻¹μ_e</a:t>
            </a:r>
            <a:endParaRPr lang="en-US" sz="1050" dirty="0"/>
          </a:p>
        </p:txBody>
      </p:sp>
      <p:sp>
        <p:nvSpPr>
          <p:cNvPr id="20" name="Text 18"/>
          <p:cNvSpPr/>
          <p:nvPr/>
        </p:nvSpPr>
        <p:spPr>
          <a:xfrm>
            <a:off x="274320" y="3154680"/>
            <a:ext cx="4846320" cy="192024"/>
          </a:xfrm>
          <a:prstGeom prst="rect">
            <a:avLst/>
          </a:prstGeom>
          <a:noFill/>
          <a:ln/>
        </p:spPr>
        <p:txBody>
          <a:bodyPr wrap="square" lIns="0" tIns="0" rIns="0" bIns="0" rtlCol="0" anchor="ctr"/>
          <a:lstStyle/>
          <a:p>
            <a:pPr marL="0" indent="0">
              <a:buNone/>
            </a:pPr>
            <a:endParaRPr lang="en-US" sz="1050" dirty="0"/>
          </a:p>
        </p:txBody>
      </p:sp>
      <p:sp>
        <p:nvSpPr>
          <p:cNvPr id="21" name="Text 19"/>
          <p:cNvSpPr/>
          <p:nvPr/>
        </p:nvSpPr>
        <p:spPr>
          <a:xfrm>
            <a:off x="274320" y="3351276"/>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Applying  1ᵀw = 1:</a:t>
            </a:r>
            <a:endParaRPr lang="en-US" sz="1050" dirty="0"/>
          </a:p>
        </p:txBody>
      </p:sp>
      <p:sp>
        <p:nvSpPr>
          <p:cNvPr id="22" name="Text 20"/>
          <p:cNvSpPr/>
          <p:nvPr/>
        </p:nvSpPr>
        <p:spPr>
          <a:xfrm>
            <a:off x="274320" y="3547872"/>
            <a:ext cx="4846320" cy="192024"/>
          </a:xfrm>
          <a:prstGeom prst="rect">
            <a:avLst/>
          </a:prstGeom>
          <a:noFill/>
          <a:ln/>
        </p:spPr>
        <p:txBody>
          <a:bodyPr wrap="square" lIns="0" tIns="0" rIns="0" bIns="0" rtlCol="0" anchor="ctr"/>
          <a:lstStyle/>
          <a:p>
            <a:pPr marL="0" indent="0">
              <a:buNone/>
            </a:pPr>
            <a:endParaRPr lang="en-US" sz="1050" dirty="0"/>
          </a:p>
        </p:txBody>
      </p:sp>
      <p:sp>
        <p:nvSpPr>
          <p:cNvPr id="23" name="Text 21"/>
          <p:cNvSpPr/>
          <p:nvPr/>
        </p:nvSpPr>
        <p:spPr>
          <a:xfrm>
            <a:off x="274320" y="3744468"/>
            <a:ext cx="4846320" cy="192024"/>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  w_tangency = Σ⁻¹μ_e / (1ᵀΣ⁻¹μ_e)</a:t>
            </a:r>
            <a:endParaRPr lang="en-US" sz="1050" dirty="0"/>
          </a:p>
        </p:txBody>
      </p:sp>
      <p:sp>
        <p:nvSpPr>
          <p:cNvPr id="24" name="Text 22"/>
          <p:cNvSpPr/>
          <p:nvPr/>
        </p:nvSpPr>
        <p:spPr>
          <a:xfrm>
            <a:off x="274320" y="3941064"/>
            <a:ext cx="4846320" cy="192024"/>
          </a:xfrm>
          <a:prstGeom prst="rect">
            <a:avLst/>
          </a:prstGeom>
          <a:noFill/>
          <a:ln/>
        </p:spPr>
        <p:txBody>
          <a:bodyPr wrap="square" lIns="0" tIns="0" rIns="0" bIns="0" rtlCol="0" anchor="ctr"/>
          <a:lstStyle/>
          <a:p>
            <a:pPr marL="0" indent="0">
              <a:buNone/>
            </a:pPr>
            <a:endParaRPr lang="en-US" sz="1050" dirty="0"/>
          </a:p>
        </p:txBody>
      </p:sp>
      <p:sp>
        <p:nvSpPr>
          <p:cNvPr id="25" name="Text 23"/>
          <p:cNvSpPr/>
          <p:nvPr/>
        </p:nvSpPr>
        <p:spPr>
          <a:xfrm>
            <a:off x="274320" y="4137660"/>
            <a:ext cx="4846320" cy="192024"/>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Tangency Portfolio return and Sharpe Ratio:</a:t>
            </a:r>
            <a:endParaRPr lang="en-US" sz="1050" dirty="0"/>
          </a:p>
        </p:txBody>
      </p:sp>
      <p:sp>
        <p:nvSpPr>
          <p:cNvPr id="26" name="Text 24"/>
          <p:cNvSpPr/>
          <p:nvPr/>
        </p:nvSpPr>
        <p:spPr>
          <a:xfrm>
            <a:off x="274320" y="4334256"/>
            <a:ext cx="4846320" cy="192024"/>
          </a:xfrm>
          <a:prstGeom prst="rect">
            <a:avLst/>
          </a:prstGeom>
          <a:noFill/>
          <a:ln/>
        </p:spPr>
        <p:txBody>
          <a:bodyPr wrap="square" lIns="0" tIns="0" rIns="0" bIns="0" rtlCol="0" anchor="ctr"/>
          <a:lstStyle/>
          <a:p>
            <a:pPr marL="0" indent="0">
              <a:buNone/>
            </a:pPr>
            <a:endParaRPr lang="en-US" sz="1050" dirty="0"/>
          </a:p>
        </p:txBody>
      </p:sp>
      <p:sp>
        <p:nvSpPr>
          <p:cNvPr id="27" name="Text 25"/>
          <p:cNvSpPr/>
          <p:nvPr/>
        </p:nvSpPr>
        <p:spPr>
          <a:xfrm>
            <a:off x="274320" y="4530852"/>
            <a:ext cx="4846320" cy="192024"/>
          </a:xfrm>
          <a:prstGeom prst="rect">
            <a:avLst/>
          </a:prstGeom>
          <a:noFill/>
          <a:ln/>
        </p:spPr>
        <p:txBody>
          <a:bodyPr wrap="square" lIns="0" tIns="0" rIns="0" bIns="0"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  E[R_T] = w_T ᵀ μ,    SR_T = (w_T ᵀ μ_e) / √(w_T ᵀ Σ w_T)</a:t>
            </a:r>
            <a:endParaRPr lang="en-US" sz="1050" dirty="0"/>
          </a:p>
        </p:txBody>
      </p:sp>
      <p:sp>
        <p:nvSpPr>
          <p:cNvPr id="28" name="Shape 26"/>
          <p:cNvSpPr/>
          <p:nvPr/>
        </p:nvSpPr>
        <p:spPr>
          <a:xfrm>
            <a:off x="5394960" y="1170432"/>
            <a:ext cx="3566160" cy="1115568"/>
          </a:xfrm>
          <a:prstGeom prst="rect">
            <a:avLst/>
          </a:prstGeom>
          <a:solidFill>
            <a:srgbClr val="EEF4FB"/>
          </a:solidFill>
          <a:ln/>
          <a:effectLst>
            <a:outerShdw blurRad="76200" dist="25400" dir="8100000" algn="bl" rotWithShape="0">
              <a:srgbClr val="000000">
                <a:alpha val="12000"/>
              </a:srgbClr>
            </a:outerShdw>
          </a:effectLst>
        </p:spPr>
      </p:sp>
      <p:sp>
        <p:nvSpPr>
          <p:cNvPr id="29" name="Shape 27"/>
          <p:cNvSpPr/>
          <p:nvPr/>
        </p:nvSpPr>
        <p:spPr>
          <a:xfrm>
            <a:off x="5394960" y="1170432"/>
            <a:ext cx="3566160" cy="320040"/>
          </a:xfrm>
          <a:prstGeom prst="rect">
            <a:avLst/>
          </a:prstGeom>
          <a:solidFill>
            <a:srgbClr val="0D1B2A"/>
          </a:solidFill>
          <a:ln/>
        </p:spPr>
      </p:sp>
      <p:sp>
        <p:nvSpPr>
          <p:cNvPr id="30" name="Text 28"/>
          <p:cNvSpPr/>
          <p:nvPr/>
        </p:nvSpPr>
        <p:spPr>
          <a:xfrm>
            <a:off x="5486400" y="1188720"/>
            <a:ext cx="338328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Efficient Frontier</a:t>
            </a:r>
            <a:endParaRPr lang="en-US" sz="1050" dirty="0"/>
          </a:p>
        </p:txBody>
      </p:sp>
      <p:sp>
        <p:nvSpPr>
          <p:cNvPr id="31" name="Text 29"/>
          <p:cNvSpPr/>
          <p:nvPr/>
        </p:nvSpPr>
        <p:spPr>
          <a:xfrm>
            <a:off x="5486400" y="1554480"/>
            <a:ext cx="3383280" cy="7132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The set of all portfolios that minimise variance for a given return. Parametrised by target return μ̄:</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min wᵀΣw  s.t.  wᵀμ=μ̄,  1ᵀw=1</a:t>
            </a:r>
            <a:endParaRPr lang="en-US" sz="1000" dirty="0"/>
          </a:p>
        </p:txBody>
      </p:sp>
      <p:sp>
        <p:nvSpPr>
          <p:cNvPr id="32" name="Shape 30"/>
          <p:cNvSpPr/>
          <p:nvPr/>
        </p:nvSpPr>
        <p:spPr>
          <a:xfrm>
            <a:off x="5394960" y="2386584"/>
            <a:ext cx="3566160" cy="1115568"/>
          </a:xfrm>
          <a:prstGeom prst="rect">
            <a:avLst/>
          </a:prstGeom>
          <a:solidFill>
            <a:srgbClr val="EEF4FB"/>
          </a:solidFill>
          <a:ln/>
          <a:effectLst>
            <a:outerShdw blurRad="76200" dist="25400" dir="8100000" algn="bl" rotWithShape="0">
              <a:srgbClr val="000000">
                <a:alpha val="12000"/>
              </a:srgbClr>
            </a:outerShdw>
          </a:effectLst>
        </p:spPr>
      </p:sp>
      <p:sp>
        <p:nvSpPr>
          <p:cNvPr id="33" name="Shape 31"/>
          <p:cNvSpPr/>
          <p:nvPr/>
        </p:nvSpPr>
        <p:spPr>
          <a:xfrm>
            <a:off x="5394960" y="2386584"/>
            <a:ext cx="3566160" cy="320040"/>
          </a:xfrm>
          <a:prstGeom prst="rect">
            <a:avLst/>
          </a:prstGeom>
          <a:solidFill>
            <a:srgbClr val="0D1B2A"/>
          </a:solidFill>
          <a:ln/>
        </p:spPr>
      </p:sp>
      <p:sp>
        <p:nvSpPr>
          <p:cNvPr id="34" name="Text 32"/>
          <p:cNvSpPr/>
          <p:nvPr/>
        </p:nvSpPr>
        <p:spPr>
          <a:xfrm>
            <a:off x="5486400" y="2404872"/>
            <a:ext cx="338328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Two-Fund Separation</a:t>
            </a:r>
            <a:endParaRPr lang="en-US" sz="1050" dirty="0"/>
          </a:p>
        </p:txBody>
      </p:sp>
      <p:sp>
        <p:nvSpPr>
          <p:cNvPr id="35" name="Text 33"/>
          <p:cNvSpPr/>
          <p:nvPr/>
        </p:nvSpPr>
        <p:spPr>
          <a:xfrm>
            <a:off x="5486400" y="2770632"/>
            <a:ext cx="3383280" cy="7132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Any efficient portfolio = linear combination of</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(i) Minimum Variance Portfolio, and</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(ii) Tangency Portfolio</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 = α·w_MVP + (1−α)·w_T</a:t>
            </a:r>
            <a:endParaRPr lang="en-US" sz="1000" dirty="0"/>
          </a:p>
        </p:txBody>
      </p:sp>
      <p:sp>
        <p:nvSpPr>
          <p:cNvPr id="36" name="Shape 34"/>
          <p:cNvSpPr/>
          <p:nvPr/>
        </p:nvSpPr>
        <p:spPr>
          <a:xfrm>
            <a:off x="5394960" y="3602736"/>
            <a:ext cx="3566160" cy="1115568"/>
          </a:xfrm>
          <a:prstGeom prst="rect">
            <a:avLst/>
          </a:prstGeom>
          <a:solidFill>
            <a:srgbClr val="EEF4FB"/>
          </a:solidFill>
          <a:ln/>
          <a:effectLst>
            <a:outerShdw blurRad="76200" dist="25400" dir="8100000" algn="bl" rotWithShape="0">
              <a:srgbClr val="000000">
                <a:alpha val="12000"/>
              </a:srgbClr>
            </a:outerShdw>
          </a:effectLst>
        </p:spPr>
      </p:sp>
      <p:sp>
        <p:nvSpPr>
          <p:cNvPr id="37" name="Shape 35"/>
          <p:cNvSpPr/>
          <p:nvPr/>
        </p:nvSpPr>
        <p:spPr>
          <a:xfrm>
            <a:off x="5394960" y="3602736"/>
            <a:ext cx="3566160" cy="320040"/>
          </a:xfrm>
          <a:prstGeom prst="rect">
            <a:avLst/>
          </a:prstGeom>
          <a:solidFill>
            <a:srgbClr val="0D1B2A"/>
          </a:solidFill>
          <a:ln/>
        </p:spPr>
      </p:sp>
      <p:sp>
        <p:nvSpPr>
          <p:cNvPr id="38" name="Text 36"/>
          <p:cNvSpPr/>
          <p:nvPr/>
        </p:nvSpPr>
        <p:spPr>
          <a:xfrm>
            <a:off x="5486400" y="3621024"/>
            <a:ext cx="3383280"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Capital Market Line (CML)</a:t>
            </a:r>
            <a:endParaRPr lang="en-US" sz="1050" dirty="0"/>
          </a:p>
        </p:txBody>
      </p:sp>
      <p:sp>
        <p:nvSpPr>
          <p:cNvPr id="39" name="Text 37"/>
          <p:cNvSpPr/>
          <p:nvPr/>
        </p:nvSpPr>
        <p:spPr>
          <a:xfrm>
            <a:off x="5486400" y="3986784"/>
            <a:ext cx="3383280" cy="7132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E[R_p] = r_f + SR_T · σ_p</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All efficient portfolios lie on the CML,</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which is tangent to the efficient frontier</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at the tangency portfolio.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MVO — Assumptions &amp; Limitations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49808"/>
            <a:ext cx="4315968" cy="196596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49808"/>
            <a:ext cx="4315968" cy="329184"/>
          </a:xfrm>
          <a:prstGeom prst="rect">
            <a:avLst/>
          </a:prstGeom>
          <a:solidFill>
            <a:srgbClr val="1B6CA8"/>
          </a:solidFill>
          <a:ln/>
        </p:spPr>
      </p:sp>
      <p:sp>
        <p:nvSpPr>
          <p:cNvPr id="9" name="Text 7"/>
          <p:cNvSpPr/>
          <p:nvPr/>
        </p:nvSpPr>
        <p:spPr>
          <a:xfrm>
            <a:off x="274320" y="777240"/>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Quadratic Utility / Normal Returns</a:t>
            </a:r>
            <a:endParaRPr lang="en-US" sz="1100" dirty="0"/>
          </a:p>
        </p:txBody>
      </p:sp>
      <p:sp>
        <p:nvSpPr>
          <p:cNvPr id="10" name="Text 8"/>
          <p:cNvSpPr/>
          <p:nvPr/>
        </p:nvSpPr>
        <p:spPr>
          <a:xfrm>
            <a:off x="274320" y="1161288"/>
            <a:ext cx="4133088" cy="148132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Investors have mean-variance preferences: maximize E[R] for given σ². This is exact if returns are multivariate normal, or if utility function is quadratic. In practice, returns exhibit skewness, kurtosis, and fat tails.</a:t>
            </a:r>
            <a:endParaRPr lang="en-US" sz="1050" dirty="0"/>
          </a:p>
        </p:txBody>
      </p:sp>
      <p:sp>
        <p:nvSpPr>
          <p:cNvPr id="11" name="Shape 9"/>
          <p:cNvSpPr/>
          <p:nvPr/>
        </p:nvSpPr>
        <p:spPr>
          <a:xfrm>
            <a:off x="4663440" y="749808"/>
            <a:ext cx="4315968" cy="1965960"/>
          </a:xfrm>
          <a:prstGeom prst="rect">
            <a:avLst/>
          </a:prstGeom>
          <a:solidFill>
            <a:srgbClr val="EEF4FB"/>
          </a:solidFill>
          <a:ln/>
          <a:effectLst>
            <a:outerShdw blurRad="76200" dist="25400" dir="8100000" algn="bl" rotWithShape="0">
              <a:srgbClr val="000000">
                <a:alpha val="12000"/>
              </a:srgbClr>
            </a:outerShdw>
          </a:effectLst>
        </p:spPr>
      </p:sp>
      <p:sp>
        <p:nvSpPr>
          <p:cNvPr id="12" name="Shape 10"/>
          <p:cNvSpPr/>
          <p:nvPr/>
        </p:nvSpPr>
        <p:spPr>
          <a:xfrm>
            <a:off x="4663440" y="749808"/>
            <a:ext cx="4315968" cy="329184"/>
          </a:xfrm>
          <a:prstGeom prst="rect">
            <a:avLst/>
          </a:prstGeom>
          <a:solidFill>
            <a:srgbClr val="0D1B2A"/>
          </a:solidFill>
          <a:ln/>
        </p:spPr>
      </p:sp>
      <p:sp>
        <p:nvSpPr>
          <p:cNvPr id="13" name="Text 11"/>
          <p:cNvSpPr/>
          <p:nvPr/>
        </p:nvSpPr>
        <p:spPr>
          <a:xfrm>
            <a:off x="4754880" y="777240"/>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Static Single-Period Framework</a:t>
            </a:r>
            <a:endParaRPr lang="en-US" sz="1100" dirty="0"/>
          </a:p>
        </p:txBody>
      </p:sp>
      <p:sp>
        <p:nvSpPr>
          <p:cNvPr id="14" name="Text 12"/>
          <p:cNvSpPr/>
          <p:nvPr/>
        </p:nvSpPr>
        <p:spPr>
          <a:xfrm>
            <a:off x="4754880" y="1161288"/>
            <a:ext cx="4133088" cy="148132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MVO is a single-period model — optimal weights are computed once and held. Does not accommodate dynamic rebalancing, changing investment opportunities, or multi-horizon objectives.</a:t>
            </a:r>
            <a:endParaRPr lang="en-US" sz="1050" dirty="0"/>
          </a:p>
        </p:txBody>
      </p:sp>
      <p:sp>
        <p:nvSpPr>
          <p:cNvPr id="15" name="Shape 13"/>
          <p:cNvSpPr/>
          <p:nvPr/>
        </p:nvSpPr>
        <p:spPr>
          <a:xfrm>
            <a:off x="182880" y="2871216"/>
            <a:ext cx="4315968" cy="1965960"/>
          </a:xfrm>
          <a:prstGeom prst="rect">
            <a:avLst/>
          </a:prstGeom>
          <a:solidFill>
            <a:srgbClr val="EEF4FB"/>
          </a:solidFill>
          <a:ln/>
          <a:effectLst>
            <a:outerShdw blurRad="76200" dist="25400" dir="8100000" algn="bl" rotWithShape="0">
              <a:srgbClr val="000000">
                <a:alpha val="12000"/>
              </a:srgbClr>
            </a:outerShdw>
          </a:effectLst>
        </p:spPr>
      </p:sp>
      <p:sp>
        <p:nvSpPr>
          <p:cNvPr id="16" name="Shape 14"/>
          <p:cNvSpPr/>
          <p:nvPr/>
        </p:nvSpPr>
        <p:spPr>
          <a:xfrm>
            <a:off x="182880" y="2871216"/>
            <a:ext cx="4315968" cy="329184"/>
          </a:xfrm>
          <a:prstGeom prst="rect">
            <a:avLst/>
          </a:prstGeom>
          <a:solidFill>
            <a:srgbClr val="7D3C98"/>
          </a:solidFill>
          <a:ln/>
        </p:spPr>
      </p:sp>
      <p:sp>
        <p:nvSpPr>
          <p:cNvPr id="17" name="Text 15"/>
          <p:cNvSpPr/>
          <p:nvPr/>
        </p:nvSpPr>
        <p:spPr>
          <a:xfrm>
            <a:off x="274320" y="2898648"/>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Estimated Inputs, Not True Values</a:t>
            </a:r>
            <a:endParaRPr lang="en-US" sz="1100" dirty="0"/>
          </a:p>
        </p:txBody>
      </p:sp>
      <p:sp>
        <p:nvSpPr>
          <p:cNvPr id="18" name="Text 16"/>
          <p:cNvSpPr/>
          <p:nvPr/>
        </p:nvSpPr>
        <p:spPr>
          <a:xfrm>
            <a:off x="274320" y="3282696"/>
            <a:ext cx="4133088" cy="148132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μ and Σ are estimated from historical data, introducing estimation error. Michaud (1989) showed that MVO is 'error maximisation': it over-weights assets with high estimated return and under-weights those with high σ.</a:t>
            </a:r>
            <a:endParaRPr lang="en-US" sz="1050" dirty="0"/>
          </a:p>
        </p:txBody>
      </p:sp>
      <p:sp>
        <p:nvSpPr>
          <p:cNvPr id="19" name="Shape 17"/>
          <p:cNvSpPr/>
          <p:nvPr/>
        </p:nvSpPr>
        <p:spPr>
          <a:xfrm>
            <a:off x="4663440" y="2871216"/>
            <a:ext cx="4315968" cy="1965960"/>
          </a:xfrm>
          <a:prstGeom prst="rect">
            <a:avLst/>
          </a:prstGeom>
          <a:solidFill>
            <a:srgbClr val="EEF4FB"/>
          </a:solidFill>
          <a:ln/>
          <a:effectLst>
            <a:outerShdw blurRad="76200" dist="25400" dir="8100000" algn="bl" rotWithShape="0">
              <a:srgbClr val="000000">
                <a:alpha val="12000"/>
              </a:srgbClr>
            </a:outerShdw>
          </a:effectLst>
        </p:spPr>
      </p:sp>
      <p:sp>
        <p:nvSpPr>
          <p:cNvPr id="20" name="Shape 18"/>
          <p:cNvSpPr/>
          <p:nvPr/>
        </p:nvSpPr>
        <p:spPr>
          <a:xfrm>
            <a:off x="4663440" y="2871216"/>
            <a:ext cx="4315968" cy="329184"/>
          </a:xfrm>
          <a:prstGeom prst="rect">
            <a:avLst/>
          </a:prstGeom>
          <a:solidFill>
            <a:srgbClr val="C0392B"/>
          </a:solidFill>
          <a:ln/>
        </p:spPr>
      </p:sp>
      <p:sp>
        <p:nvSpPr>
          <p:cNvPr id="21" name="Text 19"/>
          <p:cNvSpPr/>
          <p:nvPr/>
        </p:nvSpPr>
        <p:spPr>
          <a:xfrm>
            <a:off x="4754880" y="2898648"/>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Concentration Issues</a:t>
            </a:r>
            <a:endParaRPr lang="en-US" sz="1100" dirty="0"/>
          </a:p>
        </p:txBody>
      </p:sp>
      <p:sp>
        <p:nvSpPr>
          <p:cNvPr id="22" name="Text 20"/>
          <p:cNvSpPr/>
          <p:nvPr/>
        </p:nvSpPr>
        <p:spPr>
          <a:xfrm>
            <a:off x="4754880" y="3282696"/>
            <a:ext cx="4133088" cy="148132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Without constraints, MVO often produces extreme, concentrated portfolios with large short positions. Corner solutions are common. Adding constraints (w≥0, max weight per asset) improves stability but reduces theoretical optimality.</a:t>
            </a:r>
            <a:endParaRPr lang="en-US" sz="1050" dirty="0"/>
          </a:p>
        </p:txBody>
      </p:sp>
      <p:pic>
        <p:nvPicPr>
          <p:cNvPr id="23" name="Image 0" descr="preencoded.png"/>
          <p:cNvPicPr>
            <a:picLocks noChangeAspect="1"/>
          </p:cNvPicPr>
          <p:nvPr/>
        </p:nvPicPr>
        <p:blipFill>
          <a:blip r:embed="rId3"/>
          <a:stretch>
            <a:fillRect/>
          </a:stretch>
        </p:blipFill>
        <p:spPr>
          <a:xfrm>
            <a:off x="201168" y="4745736"/>
            <a:ext cx="274320" cy="274320"/>
          </a:xfrm>
          <a:prstGeom prst="rect">
            <a:avLst/>
          </a:prstGeom>
        </p:spPr>
      </p:pic>
      <p:sp>
        <p:nvSpPr>
          <p:cNvPr id="24" name="Text 21"/>
          <p:cNvSpPr/>
          <p:nvPr/>
        </p:nvSpPr>
        <p:spPr>
          <a:xfrm>
            <a:off x="530352" y="4754880"/>
            <a:ext cx="8412480" cy="2560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These limitations motivate alternative models: Logistic Regression (to incorporate classification of market states) and GARCH (for dynamic, time-varying volatility).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03</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Portfolio Optimisation via Logistic Regression</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Classification-based approach to portfolio weight determination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Logistic Regression — Model Foundation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41148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Core Idea: Use a logistic classifier to predict whether an asset will outperform (Y=1) or underperform (Y=0) a benchmark, then convert predictions to portfolio weights.</a:t>
            </a:r>
            <a:endParaRPr lang="en-US" sz="1150" dirty="0"/>
          </a:p>
        </p:txBody>
      </p:sp>
      <p:sp>
        <p:nvSpPr>
          <p:cNvPr id="8" name="Shape 6"/>
          <p:cNvSpPr/>
          <p:nvPr/>
        </p:nvSpPr>
        <p:spPr>
          <a:xfrm>
            <a:off x="182880" y="1207008"/>
            <a:ext cx="4315968" cy="1353312"/>
          </a:xfrm>
          <a:prstGeom prst="rect">
            <a:avLst/>
          </a:prstGeom>
          <a:solidFill>
            <a:srgbClr val="0D1B2A"/>
          </a:solidFill>
          <a:ln/>
          <a:effectLst>
            <a:outerShdw blurRad="76200" dist="25400" dir="8100000" algn="bl" rotWithShape="0">
              <a:srgbClr val="000000">
                <a:alpha val="12000"/>
              </a:srgbClr>
            </a:outerShdw>
          </a:effectLst>
        </p:spPr>
      </p:sp>
      <p:sp>
        <p:nvSpPr>
          <p:cNvPr id="9" name="Text 7"/>
          <p:cNvSpPr/>
          <p:nvPr/>
        </p:nvSpPr>
        <p:spPr>
          <a:xfrm>
            <a:off x="274320" y="1243584"/>
            <a:ext cx="4133088"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The Logistic (Sigmoid) Function</a:t>
            </a:r>
            <a:endParaRPr lang="en-US" sz="1100" dirty="0"/>
          </a:p>
        </p:txBody>
      </p:sp>
      <p:sp>
        <p:nvSpPr>
          <p:cNvPr id="10" name="Text 8"/>
          <p:cNvSpPr/>
          <p:nvPr/>
        </p:nvSpPr>
        <p:spPr>
          <a:xfrm>
            <a:off x="274320" y="1572768"/>
            <a:ext cx="4133088"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P(Y=1 | X) = σ(z) = 1 / (1 + e^{−z})</a:t>
            </a:r>
            <a:endParaRPr lang="en-US" sz="1400" dirty="0"/>
          </a:p>
        </p:txBody>
      </p:sp>
      <p:sp>
        <p:nvSpPr>
          <p:cNvPr id="11" name="Text 9"/>
          <p:cNvSpPr/>
          <p:nvPr/>
        </p:nvSpPr>
        <p:spPr>
          <a:xfrm>
            <a:off x="274320" y="1975104"/>
            <a:ext cx="4133088" cy="512064"/>
          </a:xfrm>
          <a:prstGeom prst="rect">
            <a:avLst/>
          </a:prstGeom>
          <a:noFill/>
          <a:ln/>
        </p:spPr>
        <p:txBody>
          <a:bodyPr wrap="square" lIns="0" tIns="0" rIns="0" bIns="0" rtlCol="0" anchor="ctr"/>
          <a:lstStyle/>
          <a:p>
            <a:pPr marL="0" indent="0" algn="ctr">
              <a:buNone/>
            </a:pPr>
            <a:r>
              <a:rPr lang="en-US" sz="1000" dirty="0">
                <a:solidFill>
                  <a:srgbClr val="D6E0EA"/>
                </a:solidFill>
                <a:latin typeface="Calibri" pitchFamily="34" charset="0"/>
                <a:ea typeface="Calibri" pitchFamily="34" charset="-122"/>
                <a:cs typeface="Calibri" pitchFamily="34" charset="-120"/>
              </a:rPr>
              <a:t>where z = β₀ + β₁X₁ + β₂X₂ + ... + βₖXₖ = βᵀX is the linear predictor (log-odds).</a:t>
            </a:r>
            <a:endParaRPr lang="en-US" sz="1000" dirty="0"/>
          </a:p>
          <a:p>
            <a:pPr marL="0" indent="0" algn="ctr">
              <a:buNone/>
            </a:pPr>
            <a:r>
              <a:rPr lang="en-US" sz="1000" dirty="0">
                <a:solidFill>
                  <a:srgbClr val="D6E0EA"/>
                </a:solidFill>
                <a:latin typeface="Calibri" pitchFamily="34" charset="0"/>
                <a:ea typeface="Calibri" pitchFamily="34" charset="-122"/>
                <a:cs typeface="Calibri" pitchFamily="34" charset="-120"/>
              </a:rPr>
              <a:t>Output ∈ (0,1) — interpreted as probability of outperformance.</a:t>
            </a:r>
            <a:endParaRPr lang="en-US" sz="1000" dirty="0"/>
          </a:p>
        </p:txBody>
      </p:sp>
      <p:sp>
        <p:nvSpPr>
          <p:cNvPr id="12" name="Shape 10"/>
          <p:cNvSpPr/>
          <p:nvPr/>
        </p:nvSpPr>
        <p:spPr>
          <a:xfrm>
            <a:off x="4663440" y="1207008"/>
            <a:ext cx="4297680" cy="1353312"/>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4663440" y="1207008"/>
            <a:ext cx="4297680" cy="329184"/>
          </a:xfrm>
          <a:prstGeom prst="rect">
            <a:avLst/>
          </a:prstGeom>
          <a:solidFill>
            <a:srgbClr val="1B6CA8"/>
          </a:solidFill>
          <a:ln/>
        </p:spPr>
      </p:sp>
      <p:sp>
        <p:nvSpPr>
          <p:cNvPr id="14" name="Text 12"/>
          <p:cNvSpPr/>
          <p:nvPr/>
        </p:nvSpPr>
        <p:spPr>
          <a:xfrm>
            <a:off x="4754880" y="1225296"/>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Feature Variables (X)</a:t>
            </a:r>
            <a:endParaRPr lang="en-US" sz="1100" dirty="0"/>
          </a:p>
        </p:txBody>
      </p:sp>
      <p:sp>
        <p:nvSpPr>
          <p:cNvPr id="15" name="Text 13"/>
          <p:cNvSpPr/>
          <p:nvPr/>
        </p:nvSpPr>
        <p:spPr>
          <a:xfrm>
            <a:off x="4754880" y="1609344"/>
            <a:ext cx="4114800" cy="1828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Past k-period returns (momentum signal)</a:t>
            </a:r>
            <a:endParaRPr lang="en-US" sz="1000" dirty="0"/>
          </a:p>
        </p:txBody>
      </p:sp>
      <p:sp>
        <p:nvSpPr>
          <p:cNvPr id="16" name="Text 14"/>
          <p:cNvSpPr/>
          <p:nvPr/>
        </p:nvSpPr>
        <p:spPr>
          <a:xfrm>
            <a:off x="4754880" y="1801368"/>
            <a:ext cx="4114800" cy="1828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Rolling volatility (σ over last m days)</a:t>
            </a:r>
            <a:endParaRPr lang="en-US" sz="1000" dirty="0"/>
          </a:p>
        </p:txBody>
      </p:sp>
      <p:sp>
        <p:nvSpPr>
          <p:cNvPr id="17" name="Text 15"/>
          <p:cNvSpPr/>
          <p:nvPr/>
        </p:nvSpPr>
        <p:spPr>
          <a:xfrm>
            <a:off x="4754880" y="1993392"/>
            <a:ext cx="4114800" cy="1828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Relative Strength Index (RSI)</a:t>
            </a:r>
            <a:endParaRPr lang="en-US" sz="1000" dirty="0"/>
          </a:p>
        </p:txBody>
      </p:sp>
      <p:sp>
        <p:nvSpPr>
          <p:cNvPr id="18" name="Text 16"/>
          <p:cNvSpPr/>
          <p:nvPr/>
        </p:nvSpPr>
        <p:spPr>
          <a:xfrm>
            <a:off x="4754880" y="2185416"/>
            <a:ext cx="4114800" cy="1828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Price-to-earnings ratio, book-to-market</a:t>
            </a:r>
            <a:endParaRPr lang="en-US" sz="1000" dirty="0"/>
          </a:p>
        </p:txBody>
      </p:sp>
      <p:sp>
        <p:nvSpPr>
          <p:cNvPr id="19" name="Text 17"/>
          <p:cNvSpPr/>
          <p:nvPr/>
        </p:nvSpPr>
        <p:spPr>
          <a:xfrm>
            <a:off x="4754880" y="2377440"/>
            <a:ext cx="4114800" cy="18288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Macro indicators (yield curve, VIX)</a:t>
            </a:r>
            <a:endParaRPr lang="en-US" sz="1000" dirty="0"/>
          </a:p>
        </p:txBody>
      </p:sp>
      <p:sp>
        <p:nvSpPr>
          <p:cNvPr id="20" name="Shape 18"/>
          <p:cNvSpPr/>
          <p:nvPr/>
        </p:nvSpPr>
        <p:spPr>
          <a:xfrm>
            <a:off x="182880" y="2651760"/>
            <a:ext cx="4315968" cy="2103120"/>
          </a:xfrm>
          <a:prstGeom prst="rect">
            <a:avLst/>
          </a:prstGeom>
          <a:solidFill>
            <a:srgbClr val="EEF4FB"/>
          </a:solidFill>
          <a:ln/>
          <a:effectLst>
            <a:outerShdw blurRad="76200" dist="25400" dir="8100000" algn="bl" rotWithShape="0">
              <a:srgbClr val="000000">
                <a:alpha val="12000"/>
              </a:srgbClr>
            </a:outerShdw>
          </a:effectLst>
        </p:spPr>
      </p:sp>
      <p:sp>
        <p:nvSpPr>
          <p:cNvPr id="21" name="Shape 19"/>
          <p:cNvSpPr/>
          <p:nvPr/>
        </p:nvSpPr>
        <p:spPr>
          <a:xfrm>
            <a:off x="182880" y="2651760"/>
            <a:ext cx="4315968" cy="329184"/>
          </a:xfrm>
          <a:prstGeom prst="rect">
            <a:avLst/>
          </a:prstGeom>
          <a:solidFill>
            <a:srgbClr val="0D1B2A"/>
          </a:solidFill>
          <a:ln/>
        </p:spPr>
      </p:sp>
      <p:sp>
        <p:nvSpPr>
          <p:cNvPr id="22" name="Text 20"/>
          <p:cNvSpPr/>
          <p:nvPr/>
        </p:nvSpPr>
        <p:spPr>
          <a:xfrm>
            <a:off x="274320" y="2670048"/>
            <a:ext cx="411480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Maximum Likelihood Estimation</a:t>
            </a:r>
            <a:endParaRPr lang="en-US" sz="1100" dirty="0"/>
          </a:p>
        </p:txBody>
      </p:sp>
      <p:sp>
        <p:nvSpPr>
          <p:cNvPr id="23" name="Text 21"/>
          <p:cNvSpPr/>
          <p:nvPr/>
        </p:nvSpPr>
        <p:spPr>
          <a:xfrm>
            <a:off x="274320" y="3054096"/>
            <a:ext cx="4133088" cy="1627632"/>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Log-Likelihood Function:
</a:t>
            </a:r>
            <a:r>
              <a:rPr lang="en-US" sz="1050" b="1" dirty="0">
                <a:solidFill>
                  <a:srgbClr val="1B6CA8"/>
                </a:solidFill>
                <a:latin typeface="Calibri" pitchFamily="34" charset="0"/>
                <a:ea typeface="Calibri" pitchFamily="34" charset="-122"/>
                <a:cs typeface="Calibri" pitchFamily="34" charset="-120"/>
              </a:rPr>
              <a:t>ℓ(β) = Σᵢ [ yᵢ log P̂ᵢ + (1−yᵢ) log(1−P̂ᵢ) ]
</a:t>
            </a:r>
            <a:r>
              <a:rPr lang="en-US" sz="1050" dirty="0">
                <a:solidFill>
                  <a:srgbClr val="0D1B2A"/>
                </a:solidFill>
                <a:latin typeface="Calibri" pitchFamily="34" charset="0"/>
                <a:ea typeface="Calibri" pitchFamily="34" charset="-122"/>
                <a:cs typeface="Calibri" pitchFamily="34" charset="-120"/>
              </a:rPr>
              <a:t>Gradient:  ∂ℓ/∂β = Xᵀ(y − P̂)</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Solve iteratively: IRLS or gradient descent.</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No closed-form solution exists.</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With L2 regularisation: ℓ_reg = ℓ(β) − (λ/2)||β||²</a:t>
            </a:r>
            <a:endParaRPr lang="en-US" sz="1050" dirty="0"/>
          </a:p>
        </p:txBody>
      </p:sp>
      <p:sp>
        <p:nvSpPr>
          <p:cNvPr id="24" name="Shape 22"/>
          <p:cNvSpPr/>
          <p:nvPr/>
        </p:nvSpPr>
        <p:spPr>
          <a:xfrm>
            <a:off x="4663440" y="2651760"/>
            <a:ext cx="4297680" cy="2103120"/>
          </a:xfrm>
          <a:prstGeom prst="rect">
            <a:avLst/>
          </a:prstGeom>
          <a:solidFill>
            <a:srgbClr val="EEF4FB"/>
          </a:solidFill>
          <a:ln/>
          <a:effectLst>
            <a:outerShdw blurRad="76200" dist="25400" dir="8100000" algn="bl" rotWithShape="0">
              <a:srgbClr val="000000">
                <a:alpha val="12000"/>
              </a:srgbClr>
            </a:outerShdw>
          </a:effectLst>
        </p:spPr>
      </p:sp>
      <p:sp>
        <p:nvSpPr>
          <p:cNvPr id="25" name="Shape 23"/>
          <p:cNvSpPr/>
          <p:nvPr/>
        </p:nvSpPr>
        <p:spPr>
          <a:xfrm>
            <a:off x="4663440" y="2651760"/>
            <a:ext cx="4297680" cy="329184"/>
          </a:xfrm>
          <a:prstGeom prst="rect">
            <a:avLst/>
          </a:prstGeom>
          <a:solidFill>
            <a:srgbClr val="1E8449"/>
          </a:solidFill>
          <a:ln/>
        </p:spPr>
      </p:sp>
      <p:sp>
        <p:nvSpPr>
          <p:cNvPr id="26" name="Text 24"/>
          <p:cNvSpPr/>
          <p:nvPr/>
        </p:nvSpPr>
        <p:spPr>
          <a:xfrm>
            <a:off x="4754880" y="2670048"/>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Converting Predictions to Weights</a:t>
            </a:r>
            <a:endParaRPr lang="en-US" sz="1100" dirty="0"/>
          </a:p>
        </p:txBody>
      </p:sp>
      <p:sp>
        <p:nvSpPr>
          <p:cNvPr id="27" name="Text 25"/>
          <p:cNvSpPr/>
          <p:nvPr/>
        </p:nvSpPr>
        <p:spPr>
          <a:xfrm>
            <a:off x="4754880" y="3054096"/>
            <a:ext cx="4114800" cy="1627632"/>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Step 1 — Score each asset:
</a:t>
            </a:r>
            <a:r>
              <a:rPr lang="en-US" sz="1000" dirty="0">
                <a:solidFill>
                  <a:srgbClr val="1B6CA8"/>
                </a:solidFill>
                <a:latin typeface="Calibri" pitchFamily="34" charset="0"/>
                <a:ea typeface="Calibri" pitchFamily="34" charset="-122"/>
                <a:cs typeface="Calibri" pitchFamily="34" charset="-120"/>
              </a:rPr>
              <a:t>P̂ᵢ = P(Yᵢ=1|Xᵢ) — predicted outperformance probability
</a:t>
            </a:r>
            <a:r>
              <a:rPr lang="en-US" sz="1000" b="1" dirty="0">
                <a:solidFill>
                  <a:srgbClr val="0D1B2A"/>
                </a:solidFill>
                <a:latin typeface="Calibri" pitchFamily="34" charset="0"/>
                <a:ea typeface="Calibri" pitchFamily="34" charset="-122"/>
                <a:cs typeface="Calibri" pitchFamily="34" charset="-120"/>
              </a:rPr>
              <a:t>Step 2 — Rank &amp; assign weights:
</a:t>
            </a:r>
            <a:r>
              <a:rPr lang="en-US" sz="1000" dirty="0">
                <a:solidFill>
                  <a:srgbClr val="0D1B2A"/>
                </a:solidFill>
                <a:latin typeface="Calibri" pitchFamily="34" charset="0"/>
                <a:ea typeface="Calibri" pitchFamily="34" charset="-122"/>
                <a:cs typeface="Calibri" pitchFamily="34" charset="-120"/>
              </a:rPr>
              <a:t>Method A (Proportional):  wᵢ = P̂ᵢ / ΣP̂ⱼ
Method B (Long-only Top-K):  wᵢ &gt; 0 only for top K assets by P̂ᵢ; equal weight within top-K.
Step 3 — Apply MVO constraint:</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min wᵀΣw  s.t. wᵀμ̂ = target,  wᵢ ∈ [0,1]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Logistic Regression — Assumptions &amp; Target Construction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8778240" cy="320040"/>
          </a:xfrm>
          <a:prstGeom prst="rect">
            <a:avLst/>
          </a:prstGeom>
          <a:solidFill>
            <a:srgbClr val="0D1B2A"/>
          </a:solidFill>
          <a:ln/>
        </p:spPr>
      </p:sp>
      <p:sp>
        <p:nvSpPr>
          <p:cNvPr id="8" name="Text 6"/>
          <p:cNvSpPr/>
          <p:nvPr/>
        </p:nvSpPr>
        <p:spPr>
          <a:xfrm>
            <a:off x="274320" y="731520"/>
            <a:ext cx="85039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Model Assumptions</a:t>
            </a:r>
            <a:endParaRPr lang="en-US" sz="1100" dirty="0"/>
          </a:p>
        </p:txBody>
      </p:sp>
      <p:sp>
        <p:nvSpPr>
          <p:cNvPr id="9" name="Shape 7"/>
          <p:cNvSpPr/>
          <p:nvPr/>
        </p:nvSpPr>
        <p:spPr>
          <a:xfrm>
            <a:off x="182880" y="1115568"/>
            <a:ext cx="4315968" cy="1298448"/>
          </a:xfrm>
          <a:prstGeom prst="rect">
            <a:avLst/>
          </a:prstGeom>
          <a:solidFill>
            <a:srgbClr val="EEF4FB"/>
          </a:solidFill>
          <a:ln/>
          <a:effectLst>
            <a:outerShdw blurRad="76200" dist="25400" dir="8100000" algn="bl" rotWithShape="0">
              <a:srgbClr val="000000">
                <a:alpha val="12000"/>
              </a:srgbClr>
            </a:outerShdw>
          </a:effectLst>
        </p:spPr>
      </p:sp>
      <p:sp>
        <p:nvSpPr>
          <p:cNvPr id="10" name="Shape 8"/>
          <p:cNvSpPr/>
          <p:nvPr/>
        </p:nvSpPr>
        <p:spPr>
          <a:xfrm>
            <a:off x="182880" y="1115568"/>
            <a:ext cx="502920" cy="1298448"/>
          </a:xfrm>
          <a:prstGeom prst="rect">
            <a:avLst/>
          </a:prstGeom>
          <a:solidFill>
            <a:srgbClr val="1B6CA8"/>
          </a:solidFill>
          <a:ln/>
        </p:spPr>
      </p:sp>
      <p:sp>
        <p:nvSpPr>
          <p:cNvPr id="11" name="Text 9"/>
          <p:cNvSpPr/>
          <p:nvPr/>
        </p:nvSpPr>
        <p:spPr>
          <a:xfrm>
            <a:off x="228600" y="1591056"/>
            <a:ext cx="411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A1</a:t>
            </a:r>
            <a:endParaRPr lang="en-US" sz="1400" dirty="0"/>
          </a:p>
        </p:txBody>
      </p:sp>
      <p:sp>
        <p:nvSpPr>
          <p:cNvPr id="12" name="Text 10"/>
          <p:cNvSpPr/>
          <p:nvPr/>
        </p:nvSpPr>
        <p:spPr>
          <a:xfrm>
            <a:off x="768096" y="1170432"/>
            <a:ext cx="3657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Binary Classification</a:t>
            </a:r>
            <a:endParaRPr lang="en-US" sz="1100" dirty="0"/>
          </a:p>
        </p:txBody>
      </p:sp>
      <p:sp>
        <p:nvSpPr>
          <p:cNvPr id="13" name="Text 11"/>
          <p:cNvSpPr/>
          <p:nvPr/>
        </p:nvSpPr>
        <p:spPr>
          <a:xfrm>
            <a:off x="768096" y="1499616"/>
            <a:ext cx="3657600" cy="8412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The target Y is binary: Y=1 (asset outperforms) or Y=0 (underperforms). Outperformance is typically defined relative to a benchmark (e.g., S&amp;P 500 or risk-free rate).</a:t>
            </a:r>
            <a:endParaRPr lang="en-US" sz="1000" dirty="0"/>
          </a:p>
        </p:txBody>
      </p:sp>
      <p:sp>
        <p:nvSpPr>
          <p:cNvPr id="14" name="Shape 12"/>
          <p:cNvSpPr/>
          <p:nvPr/>
        </p:nvSpPr>
        <p:spPr>
          <a:xfrm>
            <a:off x="4663440" y="1115568"/>
            <a:ext cx="4315968" cy="1298448"/>
          </a:xfrm>
          <a:prstGeom prst="rect">
            <a:avLst/>
          </a:prstGeom>
          <a:solidFill>
            <a:srgbClr val="EEF4FB"/>
          </a:solidFill>
          <a:ln/>
          <a:effectLst>
            <a:outerShdw blurRad="76200" dist="25400" dir="8100000" algn="bl" rotWithShape="0">
              <a:srgbClr val="000000">
                <a:alpha val="12000"/>
              </a:srgbClr>
            </a:outerShdw>
          </a:effectLst>
        </p:spPr>
      </p:sp>
      <p:sp>
        <p:nvSpPr>
          <p:cNvPr id="15" name="Shape 13"/>
          <p:cNvSpPr/>
          <p:nvPr/>
        </p:nvSpPr>
        <p:spPr>
          <a:xfrm>
            <a:off x="4663440" y="1115568"/>
            <a:ext cx="502920" cy="1298448"/>
          </a:xfrm>
          <a:prstGeom prst="rect">
            <a:avLst/>
          </a:prstGeom>
          <a:solidFill>
            <a:srgbClr val="1B6CA8"/>
          </a:solidFill>
          <a:ln/>
        </p:spPr>
      </p:sp>
      <p:sp>
        <p:nvSpPr>
          <p:cNvPr id="16" name="Text 14"/>
          <p:cNvSpPr/>
          <p:nvPr/>
        </p:nvSpPr>
        <p:spPr>
          <a:xfrm>
            <a:off x="4709160" y="1591056"/>
            <a:ext cx="411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A2</a:t>
            </a:r>
            <a:endParaRPr lang="en-US" sz="1400" dirty="0"/>
          </a:p>
        </p:txBody>
      </p:sp>
      <p:sp>
        <p:nvSpPr>
          <p:cNvPr id="17" name="Text 15"/>
          <p:cNvSpPr/>
          <p:nvPr/>
        </p:nvSpPr>
        <p:spPr>
          <a:xfrm>
            <a:off x="5248656" y="1170432"/>
            <a:ext cx="3657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Linear Log-Odds</a:t>
            </a:r>
            <a:endParaRPr lang="en-US" sz="1100" dirty="0"/>
          </a:p>
        </p:txBody>
      </p:sp>
      <p:sp>
        <p:nvSpPr>
          <p:cNvPr id="18" name="Text 16"/>
          <p:cNvSpPr/>
          <p:nvPr/>
        </p:nvSpPr>
        <p:spPr>
          <a:xfrm>
            <a:off x="5248656" y="1499616"/>
            <a:ext cx="3657600" cy="8412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log(P/(1−P)) = βᵀX — the log-odds is linear in features. This does NOT mean the probability is linear in features. Interaction terms can be added.</a:t>
            </a:r>
            <a:endParaRPr lang="en-US" sz="1000" dirty="0"/>
          </a:p>
        </p:txBody>
      </p:sp>
      <p:sp>
        <p:nvSpPr>
          <p:cNvPr id="19" name="Shape 17"/>
          <p:cNvSpPr/>
          <p:nvPr/>
        </p:nvSpPr>
        <p:spPr>
          <a:xfrm>
            <a:off x="182880" y="2532888"/>
            <a:ext cx="4315968" cy="1298448"/>
          </a:xfrm>
          <a:prstGeom prst="rect">
            <a:avLst/>
          </a:prstGeom>
          <a:solidFill>
            <a:srgbClr val="EEF4FB"/>
          </a:solidFill>
          <a:ln/>
          <a:effectLst>
            <a:outerShdw blurRad="76200" dist="25400" dir="8100000" algn="bl" rotWithShape="0">
              <a:srgbClr val="000000">
                <a:alpha val="12000"/>
              </a:srgbClr>
            </a:outerShdw>
          </a:effectLst>
        </p:spPr>
      </p:sp>
      <p:sp>
        <p:nvSpPr>
          <p:cNvPr id="20" name="Shape 18"/>
          <p:cNvSpPr/>
          <p:nvPr/>
        </p:nvSpPr>
        <p:spPr>
          <a:xfrm>
            <a:off x="182880" y="2532888"/>
            <a:ext cx="502920" cy="1298448"/>
          </a:xfrm>
          <a:prstGeom prst="rect">
            <a:avLst/>
          </a:prstGeom>
          <a:solidFill>
            <a:srgbClr val="1B6CA8"/>
          </a:solidFill>
          <a:ln/>
        </p:spPr>
      </p:sp>
      <p:sp>
        <p:nvSpPr>
          <p:cNvPr id="21" name="Text 19"/>
          <p:cNvSpPr/>
          <p:nvPr/>
        </p:nvSpPr>
        <p:spPr>
          <a:xfrm>
            <a:off x="228600" y="3008376"/>
            <a:ext cx="411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A3</a:t>
            </a:r>
            <a:endParaRPr lang="en-US" sz="1400" dirty="0"/>
          </a:p>
        </p:txBody>
      </p:sp>
      <p:sp>
        <p:nvSpPr>
          <p:cNvPr id="22" name="Text 20"/>
          <p:cNvSpPr/>
          <p:nvPr/>
        </p:nvSpPr>
        <p:spPr>
          <a:xfrm>
            <a:off x="768096" y="2587752"/>
            <a:ext cx="3657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Independence of Observations</a:t>
            </a:r>
            <a:endParaRPr lang="en-US" sz="1100" dirty="0"/>
          </a:p>
        </p:txBody>
      </p:sp>
      <p:sp>
        <p:nvSpPr>
          <p:cNvPr id="23" name="Text 21"/>
          <p:cNvSpPr/>
          <p:nvPr/>
        </p:nvSpPr>
        <p:spPr>
          <a:xfrm>
            <a:off x="768096" y="2916936"/>
            <a:ext cx="3657600" cy="8412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Observations are assumed i.i.d. Time-series data violates this — use rolling window training or time-series cross-validation. Autocorrelation in returns must be addressed.</a:t>
            </a:r>
            <a:endParaRPr lang="en-US" sz="1000" dirty="0"/>
          </a:p>
        </p:txBody>
      </p:sp>
      <p:sp>
        <p:nvSpPr>
          <p:cNvPr id="24" name="Shape 22"/>
          <p:cNvSpPr/>
          <p:nvPr/>
        </p:nvSpPr>
        <p:spPr>
          <a:xfrm>
            <a:off x="4663440" y="2532888"/>
            <a:ext cx="4315968" cy="1298448"/>
          </a:xfrm>
          <a:prstGeom prst="rect">
            <a:avLst/>
          </a:prstGeom>
          <a:solidFill>
            <a:srgbClr val="EEF4FB"/>
          </a:solidFill>
          <a:ln/>
          <a:effectLst>
            <a:outerShdw blurRad="76200" dist="25400" dir="8100000" algn="bl" rotWithShape="0">
              <a:srgbClr val="000000">
                <a:alpha val="12000"/>
              </a:srgbClr>
            </a:outerShdw>
          </a:effectLst>
        </p:spPr>
      </p:sp>
      <p:sp>
        <p:nvSpPr>
          <p:cNvPr id="25" name="Shape 23"/>
          <p:cNvSpPr/>
          <p:nvPr/>
        </p:nvSpPr>
        <p:spPr>
          <a:xfrm>
            <a:off x="4663440" y="2532888"/>
            <a:ext cx="502920" cy="1298448"/>
          </a:xfrm>
          <a:prstGeom prst="rect">
            <a:avLst/>
          </a:prstGeom>
          <a:solidFill>
            <a:srgbClr val="1B6CA8"/>
          </a:solidFill>
          <a:ln/>
        </p:spPr>
      </p:sp>
      <p:sp>
        <p:nvSpPr>
          <p:cNvPr id="26" name="Text 24"/>
          <p:cNvSpPr/>
          <p:nvPr/>
        </p:nvSpPr>
        <p:spPr>
          <a:xfrm>
            <a:off x="4709160" y="3008376"/>
            <a:ext cx="41148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A4</a:t>
            </a:r>
            <a:endParaRPr lang="en-US" sz="1400" dirty="0"/>
          </a:p>
        </p:txBody>
      </p:sp>
      <p:sp>
        <p:nvSpPr>
          <p:cNvPr id="27" name="Text 25"/>
          <p:cNvSpPr/>
          <p:nvPr/>
        </p:nvSpPr>
        <p:spPr>
          <a:xfrm>
            <a:off x="5248656" y="2587752"/>
            <a:ext cx="3657600"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No Perfect Multicollinearity</a:t>
            </a:r>
            <a:endParaRPr lang="en-US" sz="1100" dirty="0"/>
          </a:p>
        </p:txBody>
      </p:sp>
      <p:sp>
        <p:nvSpPr>
          <p:cNvPr id="28" name="Text 26"/>
          <p:cNvSpPr/>
          <p:nvPr/>
        </p:nvSpPr>
        <p:spPr>
          <a:xfrm>
            <a:off x="5248656" y="2916936"/>
            <a:ext cx="3657600" cy="8412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Features X should not be perfectly correlated. Use PCA or feature selection (LASSO) to reduce dimensionality when including many financial ratios.</a:t>
            </a:r>
            <a:endParaRPr lang="en-US" sz="1000" dirty="0"/>
          </a:p>
        </p:txBody>
      </p:sp>
      <p:sp>
        <p:nvSpPr>
          <p:cNvPr id="29" name="Shape 27"/>
          <p:cNvSpPr/>
          <p:nvPr/>
        </p:nvSpPr>
        <p:spPr>
          <a:xfrm>
            <a:off x="182880" y="3977640"/>
            <a:ext cx="8778240" cy="822960"/>
          </a:xfrm>
          <a:prstGeom prst="rect">
            <a:avLst/>
          </a:prstGeom>
          <a:solidFill>
            <a:srgbClr val="EAF6FF"/>
          </a:solidFill>
          <a:ln/>
          <a:effectLst>
            <a:outerShdw blurRad="76200" dist="25400" dir="8100000" algn="bl" rotWithShape="0">
              <a:srgbClr val="000000">
                <a:alpha val="12000"/>
              </a:srgbClr>
            </a:outerShdw>
          </a:effectLst>
        </p:spPr>
      </p:sp>
      <p:sp>
        <p:nvSpPr>
          <p:cNvPr id="30" name="Text 28"/>
          <p:cNvSpPr/>
          <p:nvPr/>
        </p:nvSpPr>
        <p:spPr>
          <a:xfrm>
            <a:off x="292608" y="4005072"/>
            <a:ext cx="2286000"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Target Variable Definition:</a:t>
            </a:r>
            <a:endParaRPr lang="en-US" sz="1100" dirty="0"/>
          </a:p>
        </p:txBody>
      </p:sp>
      <p:sp>
        <p:nvSpPr>
          <p:cNvPr id="31" name="Text 29"/>
          <p:cNvSpPr/>
          <p:nvPr/>
        </p:nvSpPr>
        <p:spPr>
          <a:xfrm>
            <a:off x="292608" y="4279392"/>
            <a:ext cx="8503920" cy="475488"/>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Yᵢ,t = 1  if  Rᵢ,t &gt; R_benchmark,t   (asset i outperforms in period t)</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 0  otherwise</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Benchmark can be: (a) Risk-free rate r_f, (b) Index return (S&amp;P 500), or (c) Cross-sectional median return of all assets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Testing: Is the LR Portfolio on the Efficient Frontier?</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6576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We test whether the Logistic Regression portfolio is mean-variance efficient by checking its position relative to the theoretical efficient frontier.</a:t>
            </a:r>
            <a:endParaRPr lang="en-US" sz="1150" dirty="0"/>
          </a:p>
        </p:txBody>
      </p:sp>
      <p:sp>
        <p:nvSpPr>
          <p:cNvPr id="8" name="Shape 6"/>
          <p:cNvSpPr/>
          <p:nvPr/>
        </p:nvSpPr>
        <p:spPr>
          <a:xfrm>
            <a:off x="182880" y="1152144"/>
            <a:ext cx="4315968" cy="365760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152144"/>
            <a:ext cx="4315968" cy="329184"/>
          </a:xfrm>
          <a:prstGeom prst="rect">
            <a:avLst/>
          </a:prstGeom>
          <a:solidFill>
            <a:srgbClr val="0D1B2A"/>
          </a:solidFill>
          <a:ln/>
        </p:spPr>
      </p:sp>
      <p:sp>
        <p:nvSpPr>
          <p:cNvPr id="10" name="Text 8"/>
          <p:cNvSpPr/>
          <p:nvPr/>
        </p:nvSpPr>
        <p:spPr>
          <a:xfrm>
            <a:off x="274320" y="1170432"/>
            <a:ext cx="4114800" cy="292608"/>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Gibbons-Ross-Shanken (GRS) Test (1989)</a:t>
            </a:r>
            <a:endParaRPr lang="en-US" sz="1100" dirty="0"/>
          </a:p>
        </p:txBody>
      </p:sp>
      <p:sp>
        <p:nvSpPr>
          <p:cNvPr id="11" name="Text 9"/>
          <p:cNvSpPr/>
          <p:nvPr/>
        </p:nvSpPr>
        <p:spPr>
          <a:xfrm>
            <a:off x="274320" y="1554480"/>
            <a:ext cx="4133088" cy="3182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The GRS test checks whether a set of K test portfolios has zero alpha relative to the N benchmark portfolios:
</a:t>
            </a:r>
            <a:r>
              <a:rPr lang="en-US" sz="1000" b="1" dirty="0">
                <a:solidFill>
                  <a:srgbClr val="C0392B"/>
                </a:solidFill>
                <a:latin typeface="Calibri" pitchFamily="34" charset="0"/>
                <a:ea typeface="Calibri" pitchFamily="34" charset="-122"/>
                <a:cs typeface="Calibri" pitchFamily="34" charset="-120"/>
              </a:rPr>
              <a:t>H₀: α = 0  (LR portfolio is mean-variance efficient)
</a:t>
            </a:r>
            <a:r>
              <a:rPr lang="en-US" sz="1000" dirty="0">
                <a:solidFill>
                  <a:srgbClr val="0D1B2A"/>
                </a:solidFill>
                <a:latin typeface="Calibri" pitchFamily="34" charset="0"/>
                <a:ea typeface="Calibri" pitchFamily="34" charset="-122"/>
                <a:cs typeface="Calibri" pitchFamily="34" charset="-120"/>
              </a:rPr>
              <a:t>H₁: α ≠ 0  (LR portfolio is NOT on the frontier)
</a:t>
            </a:r>
            <a:r>
              <a:rPr lang="en-US" sz="1000" b="1" dirty="0">
                <a:solidFill>
                  <a:srgbClr val="0D1B2A"/>
                </a:solidFill>
                <a:latin typeface="Calibri" pitchFamily="34" charset="0"/>
                <a:ea typeface="Calibri" pitchFamily="34" charset="-122"/>
                <a:cs typeface="Calibri" pitchFamily="34" charset="-120"/>
              </a:rPr>
              <a:t>GRS F-statistic:
</a:t>
            </a:r>
            <a:r>
              <a:rPr lang="en-US" sz="1000" b="1" dirty="0">
                <a:solidFill>
                  <a:srgbClr val="1B6CA8"/>
                </a:solidFill>
                <a:latin typeface="Calibri" pitchFamily="34" charset="0"/>
                <a:ea typeface="Calibri" pitchFamily="34" charset="-122"/>
                <a:cs typeface="Calibri" pitchFamily="34" charset="-120"/>
              </a:rPr>
              <a:t>F = [(T−N−K)/K] · [α̂ᵀΣ̂⁻¹α̂ / (1 + μ̂ᵀV̂⁻¹μ̂)]
</a:t>
            </a:r>
            <a:r>
              <a:rPr lang="en-US" sz="1000" dirty="0">
                <a:solidFill>
                  <a:srgbClr val="0D1B2A"/>
                </a:solidFill>
                <a:latin typeface="Calibri" pitchFamily="34" charset="0"/>
                <a:ea typeface="Calibri" pitchFamily="34" charset="-122"/>
                <a:cs typeface="Calibri" pitchFamily="34" charset="-120"/>
              </a:rPr>
              <a:t>where T = time periods, N = assets, K = test portfolios,
Σ̂ = residual covariance, μ̂ = estimated mean returns.
F ~ F(K, T−N−K) under H₀
</a:t>
            </a:r>
            <a:r>
              <a:rPr lang="en-US" sz="1000" dirty="0">
                <a:solidFill>
                  <a:srgbClr val="1E8449"/>
                </a:solidFill>
                <a:latin typeface="Calibri" pitchFamily="34" charset="0"/>
                <a:ea typeface="Calibri" pitchFamily="34" charset="-122"/>
                <a:cs typeface="Calibri" pitchFamily="34" charset="-120"/>
              </a:rPr>
              <a:t>Interpretation: Low p-value ⟹ LR portfolio is NOT efficient.</a:t>
            </a:r>
            <a:endParaRPr lang="en-US" sz="1000" dirty="0"/>
          </a:p>
          <a:p>
            <a:pPr marL="0" indent="0">
              <a:buNone/>
            </a:pPr>
            <a:r>
              <a:rPr lang="en-US" sz="1000" dirty="0">
                <a:solidFill>
                  <a:srgbClr val="1E8449"/>
                </a:solidFill>
                <a:latin typeface="Calibri" pitchFamily="34" charset="0"/>
                <a:ea typeface="Calibri" pitchFamily="34" charset="-122"/>
                <a:cs typeface="Calibri" pitchFamily="34" charset="-120"/>
              </a:rPr>
              <a:t>High p-value ⟹ consistent with efficiency.</a:t>
            </a:r>
            <a:endParaRPr lang="en-US" sz="1000" dirty="0"/>
          </a:p>
        </p:txBody>
      </p:sp>
      <p:sp>
        <p:nvSpPr>
          <p:cNvPr id="12" name="Shape 10"/>
          <p:cNvSpPr/>
          <p:nvPr/>
        </p:nvSpPr>
        <p:spPr>
          <a:xfrm>
            <a:off x="4663440" y="1152144"/>
            <a:ext cx="4297680" cy="3657600"/>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4663440" y="1152144"/>
            <a:ext cx="4297680" cy="329184"/>
          </a:xfrm>
          <a:prstGeom prst="rect">
            <a:avLst/>
          </a:prstGeom>
          <a:solidFill>
            <a:srgbClr val="1B6CA8"/>
          </a:solidFill>
          <a:ln/>
        </p:spPr>
      </p:sp>
      <p:sp>
        <p:nvSpPr>
          <p:cNvPr id="14" name="Text 12"/>
          <p:cNvSpPr/>
          <p:nvPr/>
        </p:nvSpPr>
        <p:spPr>
          <a:xfrm>
            <a:off x="4754880" y="1170432"/>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Graphical Test: Proximity to Frontier</a:t>
            </a:r>
            <a:endParaRPr lang="en-US" sz="1100" dirty="0"/>
          </a:p>
        </p:txBody>
      </p:sp>
      <p:sp>
        <p:nvSpPr>
          <p:cNvPr id="15" name="Shape 13"/>
          <p:cNvSpPr/>
          <p:nvPr/>
        </p:nvSpPr>
        <p:spPr>
          <a:xfrm>
            <a:off x="4754880" y="1581912"/>
            <a:ext cx="4114800" cy="3108960"/>
          </a:xfrm>
          <a:prstGeom prst="rect">
            <a:avLst/>
          </a:prstGeom>
          <a:solidFill>
            <a:srgbClr val="F0F4F8"/>
          </a:solidFill>
          <a:ln/>
        </p:spPr>
      </p:sp>
      <p:sp>
        <p:nvSpPr>
          <p:cNvPr id="16" name="Shape 14"/>
          <p:cNvSpPr/>
          <p:nvPr/>
        </p:nvSpPr>
        <p:spPr>
          <a:xfrm>
            <a:off x="4983480" y="4526280"/>
            <a:ext cx="3657600" cy="0"/>
          </a:xfrm>
          <a:prstGeom prst="line">
            <a:avLst/>
          </a:prstGeom>
          <a:noFill/>
          <a:ln w="19050">
            <a:solidFill>
              <a:srgbClr val="0D1B2A"/>
            </a:solidFill>
            <a:prstDash val="solid"/>
          </a:ln>
        </p:spPr>
      </p:sp>
      <p:sp>
        <p:nvSpPr>
          <p:cNvPr id="17" name="Shape 15"/>
          <p:cNvSpPr/>
          <p:nvPr/>
        </p:nvSpPr>
        <p:spPr>
          <a:xfrm>
            <a:off x="4983480" y="1627632"/>
            <a:ext cx="0" cy="2898648"/>
          </a:xfrm>
          <a:prstGeom prst="line">
            <a:avLst/>
          </a:prstGeom>
          <a:noFill/>
          <a:ln w="19050">
            <a:solidFill>
              <a:srgbClr val="0D1B2A"/>
            </a:solidFill>
            <a:prstDash val="solid"/>
          </a:ln>
        </p:spPr>
      </p:sp>
      <p:sp>
        <p:nvSpPr>
          <p:cNvPr id="18" name="Text 16"/>
          <p:cNvSpPr/>
          <p:nvPr/>
        </p:nvSpPr>
        <p:spPr>
          <a:xfrm>
            <a:off x="6217920" y="4617720"/>
            <a:ext cx="2377440" cy="201168"/>
          </a:xfrm>
          <a:prstGeom prst="rect">
            <a:avLst/>
          </a:prstGeom>
          <a:noFill/>
          <a:ln/>
        </p:spPr>
        <p:txBody>
          <a:bodyPr wrap="square" lIns="0" tIns="0" rIns="0" bIns="0" rtlCol="0" anchor="ctr"/>
          <a:lstStyle/>
          <a:p>
            <a:pPr marL="0" indent="0" algn="ctr">
              <a:buNone/>
            </a:pPr>
            <a:r>
              <a:rPr lang="en-US" sz="900" dirty="0">
                <a:solidFill>
                  <a:srgbClr val="0D1B2A"/>
                </a:solidFill>
                <a:latin typeface="Calibri" pitchFamily="34" charset="0"/>
                <a:ea typeface="Calibri" pitchFamily="34" charset="-122"/>
                <a:cs typeface="Calibri" pitchFamily="34" charset="-120"/>
              </a:rPr>
              <a:t>σ_p (Portfolio Risk)</a:t>
            </a:r>
            <a:endParaRPr lang="en-US" sz="900" dirty="0"/>
          </a:p>
        </p:txBody>
      </p:sp>
      <p:sp>
        <p:nvSpPr>
          <p:cNvPr id="19" name="Text 17"/>
          <p:cNvSpPr/>
          <p:nvPr/>
        </p:nvSpPr>
        <p:spPr>
          <a:xfrm>
            <a:off x="4709160" y="1572768"/>
            <a:ext cx="685800"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E[R_p]</a:t>
            </a:r>
            <a:endParaRPr lang="en-US" sz="900" dirty="0"/>
          </a:p>
        </p:txBody>
      </p:sp>
      <p:sp>
        <p:nvSpPr>
          <p:cNvPr id="20" name="Shape 18"/>
          <p:cNvSpPr/>
          <p:nvPr/>
        </p:nvSpPr>
        <p:spPr>
          <a:xfrm>
            <a:off x="5257800" y="4160520"/>
            <a:ext cx="182880" cy="0"/>
          </a:xfrm>
          <a:prstGeom prst="line">
            <a:avLst/>
          </a:prstGeom>
          <a:noFill/>
          <a:ln w="31750">
            <a:solidFill>
              <a:srgbClr val="1B6CA8"/>
            </a:solidFill>
            <a:prstDash val="solid"/>
          </a:ln>
        </p:spPr>
      </p:sp>
      <p:sp>
        <p:nvSpPr>
          <p:cNvPr id="21" name="Shape 19"/>
          <p:cNvSpPr/>
          <p:nvPr/>
        </p:nvSpPr>
        <p:spPr>
          <a:xfrm>
            <a:off x="5440680" y="3566160"/>
            <a:ext cx="320040" cy="0"/>
          </a:xfrm>
          <a:prstGeom prst="line">
            <a:avLst/>
          </a:prstGeom>
          <a:noFill/>
          <a:ln w="31750">
            <a:solidFill>
              <a:srgbClr val="1B6CA8"/>
            </a:solidFill>
            <a:prstDash val="solid"/>
          </a:ln>
        </p:spPr>
      </p:sp>
      <p:sp>
        <p:nvSpPr>
          <p:cNvPr id="22" name="Shape 20"/>
          <p:cNvSpPr/>
          <p:nvPr/>
        </p:nvSpPr>
        <p:spPr>
          <a:xfrm>
            <a:off x="5760720" y="2971800"/>
            <a:ext cx="411480" cy="0"/>
          </a:xfrm>
          <a:prstGeom prst="line">
            <a:avLst/>
          </a:prstGeom>
          <a:noFill/>
          <a:ln w="31750">
            <a:solidFill>
              <a:srgbClr val="1B6CA8"/>
            </a:solidFill>
            <a:prstDash val="solid"/>
          </a:ln>
        </p:spPr>
      </p:sp>
      <p:sp>
        <p:nvSpPr>
          <p:cNvPr id="23" name="Shape 21"/>
          <p:cNvSpPr/>
          <p:nvPr/>
        </p:nvSpPr>
        <p:spPr>
          <a:xfrm>
            <a:off x="6172200" y="2514600"/>
            <a:ext cx="411480" cy="0"/>
          </a:xfrm>
          <a:prstGeom prst="line">
            <a:avLst/>
          </a:prstGeom>
          <a:noFill/>
          <a:ln w="31750">
            <a:solidFill>
              <a:srgbClr val="1B6CA8"/>
            </a:solidFill>
            <a:prstDash val="solid"/>
          </a:ln>
        </p:spPr>
      </p:sp>
      <p:sp>
        <p:nvSpPr>
          <p:cNvPr id="24" name="Shape 22"/>
          <p:cNvSpPr/>
          <p:nvPr/>
        </p:nvSpPr>
        <p:spPr>
          <a:xfrm>
            <a:off x="6583680" y="2194560"/>
            <a:ext cx="457200" cy="0"/>
          </a:xfrm>
          <a:prstGeom prst="line">
            <a:avLst/>
          </a:prstGeom>
          <a:noFill/>
          <a:ln w="31750">
            <a:solidFill>
              <a:srgbClr val="1B6CA8"/>
            </a:solidFill>
            <a:prstDash val="solid"/>
          </a:ln>
        </p:spPr>
      </p:sp>
      <p:sp>
        <p:nvSpPr>
          <p:cNvPr id="25" name="Shape 23"/>
          <p:cNvSpPr/>
          <p:nvPr/>
        </p:nvSpPr>
        <p:spPr>
          <a:xfrm>
            <a:off x="7040880" y="2057400"/>
            <a:ext cx="457200" cy="45720"/>
          </a:xfrm>
          <a:prstGeom prst="line">
            <a:avLst/>
          </a:prstGeom>
          <a:noFill/>
          <a:ln w="31750">
            <a:solidFill>
              <a:srgbClr val="1B6CA8"/>
            </a:solidFill>
            <a:prstDash val="solid"/>
          </a:ln>
        </p:spPr>
      </p:sp>
      <p:sp>
        <p:nvSpPr>
          <p:cNvPr id="26" name="Shape 24"/>
          <p:cNvSpPr/>
          <p:nvPr/>
        </p:nvSpPr>
        <p:spPr>
          <a:xfrm>
            <a:off x="7498080" y="2103120"/>
            <a:ext cx="457200" cy="228600"/>
          </a:xfrm>
          <a:prstGeom prst="line">
            <a:avLst/>
          </a:prstGeom>
          <a:noFill/>
          <a:ln w="31750">
            <a:solidFill>
              <a:srgbClr val="1B6CA8"/>
            </a:solidFill>
            <a:prstDash val="solid"/>
          </a:ln>
        </p:spPr>
      </p:sp>
      <p:sp>
        <p:nvSpPr>
          <p:cNvPr id="27" name="Shape 25"/>
          <p:cNvSpPr/>
          <p:nvPr/>
        </p:nvSpPr>
        <p:spPr>
          <a:xfrm>
            <a:off x="6949440" y="1975104"/>
            <a:ext cx="164592" cy="164592"/>
          </a:xfrm>
          <a:prstGeom prst="ellipse">
            <a:avLst/>
          </a:prstGeom>
          <a:solidFill>
            <a:srgbClr val="0D1B2A"/>
          </a:solidFill>
          <a:ln/>
        </p:spPr>
      </p:sp>
      <p:sp>
        <p:nvSpPr>
          <p:cNvPr id="28" name="Text 26"/>
          <p:cNvSpPr/>
          <p:nvPr/>
        </p:nvSpPr>
        <p:spPr>
          <a:xfrm>
            <a:off x="7150608" y="1938528"/>
            <a:ext cx="548640" cy="201168"/>
          </a:xfrm>
          <a:prstGeom prst="rect">
            <a:avLst/>
          </a:prstGeom>
          <a:noFill/>
          <a:ln/>
        </p:spPr>
        <p:txBody>
          <a:bodyPr wrap="square" lIns="0" tIns="0" rIns="0" bIns="0" rtlCol="0" anchor="ctr"/>
          <a:lstStyle/>
          <a:p>
            <a:pPr marL="0" indent="0">
              <a:buNone/>
            </a:pPr>
            <a:r>
              <a:rPr lang="en-US" sz="900" b="1" dirty="0">
                <a:solidFill>
                  <a:srgbClr val="0D1B2A"/>
                </a:solidFill>
                <a:latin typeface="Calibri" pitchFamily="34" charset="0"/>
                <a:ea typeface="Calibri" pitchFamily="34" charset="-122"/>
                <a:cs typeface="Calibri" pitchFamily="34" charset="-120"/>
              </a:rPr>
              <a:t>MVP</a:t>
            </a:r>
            <a:endParaRPr lang="en-US" sz="900" dirty="0"/>
          </a:p>
        </p:txBody>
      </p:sp>
      <p:sp>
        <p:nvSpPr>
          <p:cNvPr id="29" name="Shape 27"/>
          <p:cNvSpPr/>
          <p:nvPr/>
        </p:nvSpPr>
        <p:spPr>
          <a:xfrm>
            <a:off x="5870448" y="2432304"/>
            <a:ext cx="182880" cy="182880"/>
          </a:xfrm>
          <a:prstGeom prst="ellipse">
            <a:avLst/>
          </a:prstGeom>
          <a:solidFill>
            <a:srgbClr val="1E8449"/>
          </a:solidFill>
          <a:ln/>
        </p:spPr>
      </p:sp>
      <p:sp>
        <p:nvSpPr>
          <p:cNvPr id="30" name="Text 28"/>
          <p:cNvSpPr/>
          <p:nvPr/>
        </p:nvSpPr>
        <p:spPr>
          <a:xfrm>
            <a:off x="6089904" y="2395728"/>
            <a:ext cx="640080" cy="201168"/>
          </a:xfrm>
          <a:prstGeom prst="rect">
            <a:avLst/>
          </a:prstGeom>
          <a:noFill/>
          <a:ln/>
        </p:spPr>
        <p:txBody>
          <a:bodyPr wrap="square" lIns="0" tIns="0" rIns="0" bIns="0" rtlCol="0" anchor="ctr"/>
          <a:lstStyle/>
          <a:p>
            <a:pPr marL="0" indent="0">
              <a:buNone/>
            </a:pPr>
            <a:r>
              <a:rPr lang="en-US" sz="900" b="1" dirty="0">
                <a:solidFill>
                  <a:srgbClr val="1E8449"/>
                </a:solidFill>
                <a:latin typeface="Calibri" pitchFamily="34" charset="0"/>
                <a:ea typeface="Calibri" pitchFamily="34" charset="-122"/>
                <a:cs typeface="Calibri" pitchFamily="34" charset="-120"/>
              </a:rPr>
              <a:t>Tang.</a:t>
            </a:r>
            <a:endParaRPr lang="en-US" sz="900" dirty="0"/>
          </a:p>
        </p:txBody>
      </p:sp>
      <p:sp>
        <p:nvSpPr>
          <p:cNvPr id="31" name="Shape 29"/>
          <p:cNvSpPr/>
          <p:nvPr/>
        </p:nvSpPr>
        <p:spPr>
          <a:xfrm>
            <a:off x="6400800" y="2231136"/>
            <a:ext cx="201168" cy="201168"/>
          </a:xfrm>
          <a:prstGeom prst="ellipse">
            <a:avLst/>
          </a:prstGeom>
          <a:solidFill>
            <a:srgbClr val="C0392B"/>
          </a:solidFill>
          <a:ln/>
        </p:spPr>
      </p:sp>
      <p:sp>
        <p:nvSpPr>
          <p:cNvPr id="32" name="Text 30"/>
          <p:cNvSpPr/>
          <p:nvPr/>
        </p:nvSpPr>
        <p:spPr>
          <a:xfrm>
            <a:off x="6638544" y="2194560"/>
            <a:ext cx="1005840" cy="201168"/>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LR Portfolio</a:t>
            </a:r>
            <a:endParaRPr lang="en-US" sz="900" dirty="0"/>
          </a:p>
        </p:txBody>
      </p:sp>
      <p:sp>
        <p:nvSpPr>
          <p:cNvPr id="33" name="Shape 31"/>
          <p:cNvSpPr/>
          <p:nvPr/>
        </p:nvSpPr>
        <p:spPr>
          <a:xfrm>
            <a:off x="4983480" y="3108960"/>
            <a:ext cx="3017520" cy="0"/>
          </a:xfrm>
          <a:prstGeom prst="line">
            <a:avLst/>
          </a:prstGeom>
          <a:noFill/>
          <a:ln w="19050">
            <a:solidFill>
              <a:srgbClr val="C8963E"/>
            </a:solidFill>
            <a:prstDash val="dash"/>
          </a:ln>
        </p:spPr>
      </p:sp>
      <p:sp>
        <p:nvSpPr>
          <p:cNvPr id="34" name="Text 32"/>
          <p:cNvSpPr/>
          <p:nvPr/>
        </p:nvSpPr>
        <p:spPr>
          <a:xfrm>
            <a:off x="7772400" y="2148840"/>
            <a:ext cx="502920" cy="201168"/>
          </a:xfrm>
          <a:prstGeom prst="rect">
            <a:avLst/>
          </a:prstGeom>
          <a:noFill/>
          <a:ln/>
        </p:spPr>
        <p:txBody>
          <a:bodyPr wrap="square" lIns="0" tIns="0" rIns="0" bIns="0" rtlCol="0" anchor="ctr"/>
          <a:lstStyle/>
          <a:p>
            <a:pPr marL="0" indent="0">
              <a:buNone/>
            </a:pPr>
            <a:r>
              <a:rPr lang="en-US" sz="900" b="1" dirty="0">
                <a:solidFill>
                  <a:srgbClr val="C8963E"/>
                </a:solidFill>
                <a:latin typeface="Calibri" pitchFamily="34" charset="0"/>
                <a:ea typeface="Calibri" pitchFamily="34" charset="-122"/>
                <a:cs typeface="Calibri" pitchFamily="34" charset="-120"/>
              </a:rPr>
              <a:t>CML</a:t>
            </a:r>
            <a:endParaRPr lang="en-US" sz="900" dirty="0"/>
          </a:p>
        </p:txBody>
      </p:sp>
      <p:sp>
        <p:nvSpPr>
          <p:cNvPr id="35" name="Shape 33"/>
          <p:cNvSpPr/>
          <p:nvPr/>
        </p:nvSpPr>
        <p:spPr>
          <a:xfrm>
            <a:off x="4910328" y="3044952"/>
            <a:ext cx="146304" cy="146304"/>
          </a:xfrm>
          <a:prstGeom prst="ellipse">
            <a:avLst/>
          </a:prstGeom>
          <a:solidFill>
            <a:srgbClr val="C8963E"/>
          </a:solidFill>
          <a:ln/>
        </p:spPr>
      </p:sp>
      <p:sp>
        <p:nvSpPr>
          <p:cNvPr id="36" name="Text 34"/>
          <p:cNvSpPr/>
          <p:nvPr/>
        </p:nvSpPr>
        <p:spPr>
          <a:xfrm>
            <a:off x="5084064" y="3008376"/>
            <a:ext cx="365760" cy="201168"/>
          </a:xfrm>
          <a:prstGeom prst="rect">
            <a:avLst/>
          </a:prstGeom>
          <a:noFill/>
          <a:ln/>
        </p:spPr>
        <p:txBody>
          <a:bodyPr wrap="square" lIns="0" tIns="0" rIns="0" bIns="0" rtlCol="0" anchor="ctr"/>
          <a:lstStyle/>
          <a:p>
            <a:pPr marL="0" indent="0">
              <a:buNone/>
            </a:pPr>
            <a:r>
              <a:rPr lang="en-US" sz="900" dirty="0">
                <a:solidFill>
                  <a:srgbClr val="C8963E"/>
                </a:solidFill>
                <a:latin typeface="Calibri" pitchFamily="34" charset="0"/>
                <a:ea typeface="Calibri" pitchFamily="34" charset="-122"/>
                <a:cs typeface="Calibri" pitchFamily="34" charset="-120"/>
              </a:rPr>
              <a:t>r_f</a:t>
            </a:r>
            <a:endParaRPr lang="en-US" sz="900" dirty="0"/>
          </a:p>
        </p:txBody>
      </p:sp>
      <p:sp>
        <p:nvSpPr>
          <p:cNvPr id="37" name="Text 35"/>
          <p:cNvSpPr/>
          <p:nvPr/>
        </p:nvSpPr>
        <p:spPr>
          <a:xfrm>
            <a:off x="4754880" y="4663440"/>
            <a:ext cx="4114800" cy="365760"/>
          </a:xfrm>
          <a:prstGeom prst="rect">
            <a:avLst/>
          </a:prstGeom>
          <a:noFill/>
          <a:ln/>
        </p:spPr>
        <p:txBody>
          <a:bodyPr wrap="square" lIns="0" tIns="0" rIns="0" bIns="0" rtlCol="0" anchor="ctr"/>
          <a:lstStyle/>
          <a:p>
            <a:pPr marL="0" indent="0">
              <a:buNone/>
            </a:pPr>
            <a:r>
              <a:rPr lang="en-US" sz="950" i="1" dirty="0">
                <a:solidFill>
                  <a:srgbClr val="0D1B2A"/>
                </a:solidFill>
                <a:latin typeface="Calibri" pitchFamily="34" charset="0"/>
                <a:ea typeface="Calibri" pitchFamily="34" charset="-122"/>
                <a:cs typeface="Calibri" pitchFamily="34" charset="-120"/>
              </a:rPr>
              <a:t>Testing: Compute α of LR portfolio vs efficient frontier.</a:t>
            </a:r>
            <a:endParaRPr lang="en-US" sz="950" dirty="0"/>
          </a:p>
          <a:p>
            <a:pPr marL="0" indent="0">
              <a:buNone/>
            </a:pPr>
            <a:r>
              <a:rPr lang="en-US" sz="950" i="1" dirty="0">
                <a:solidFill>
                  <a:srgbClr val="0D1B2A"/>
                </a:solidFill>
                <a:latin typeface="Calibri" pitchFamily="34" charset="0"/>
                <a:ea typeface="Calibri" pitchFamily="34" charset="-122"/>
                <a:cs typeface="Calibri" pitchFamily="34" charset="-120"/>
              </a:rPr>
              <a:t>GRS test checks H₀: LR portfolio is on the frontier.</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04</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GARCH Model for Volatility</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Dynamic volatility modelling for time-varying covariance estimation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ARCH &amp; GARCH — Motivation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402336"/>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Financial returns exhibit volatility clustering: large changes tend to be followed by large changes (of either sign), and calm periods cluster together. OLS assumes constant variance — this violates reality.</a:t>
            </a:r>
            <a:endParaRPr lang="en-US" sz="1150" dirty="0"/>
          </a:p>
        </p:txBody>
      </p:sp>
      <p:sp>
        <p:nvSpPr>
          <p:cNvPr id="8" name="Shape 6"/>
          <p:cNvSpPr/>
          <p:nvPr/>
        </p:nvSpPr>
        <p:spPr>
          <a:xfrm>
            <a:off x="182880" y="1207008"/>
            <a:ext cx="4315968" cy="365760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207008"/>
            <a:ext cx="4315968" cy="329184"/>
          </a:xfrm>
          <a:prstGeom prst="rect">
            <a:avLst/>
          </a:prstGeom>
          <a:solidFill>
            <a:srgbClr val="0D1B2A"/>
          </a:solidFill>
          <a:ln/>
        </p:spPr>
      </p:sp>
      <p:sp>
        <p:nvSpPr>
          <p:cNvPr id="10" name="Text 8"/>
          <p:cNvSpPr/>
          <p:nvPr/>
        </p:nvSpPr>
        <p:spPr>
          <a:xfrm>
            <a:off x="274320" y="1225296"/>
            <a:ext cx="411480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ARCH(q) Model — Engle (1982)</a:t>
            </a:r>
            <a:endParaRPr lang="en-US" sz="1100" dirty="0"/>
          </a:p>
        </p:txBody>
      </p:sp>
      <p:sp>
        <p:nvSpPr>
          <p:cNvPr id="11" name="Text 9"/>
          <p:cNvSpPr/>
          <p:nvPr/>
        </p:nvSpPr>
        <p:spPr>
          <a:xfrm>
            <a:off x="274320" y="1609344"/>
            <a:ext cx="4133088" cy="32004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ARCH = AutoRegressive Conditional Heteroskedasticity
</a:t>
            </a:r>
            <a:r>
              <a:rPr lang="en-US" sz="1050" dirty="0">
                <a:solidFill>
                  <a:srgbClr val="0D1B2A"/>
                </a:solidFill>
                <a:latin typeface="Calibri" pitchFamily="34" charset="0"/>
                <a:ea typeface="Calibri" pitchFamily="34" charset="-122"/>
                <a:cs typeface="Calibri" pitchFamily="34" charset="-120"/>
              </a:rPr>
              <a:t>Return equation:
</a:t>
            </a:r>
            <a:r>
              <a:rPr lang="en-US" sz="1050" b="1" dirty="0">
                <a:solidFill>
                  <a:srgbClr val="1B6CA8"/>
                </a:solidFill>
                <a:latin typeface="Calibri" pitchFamily="34" charset="0"/>
                <a:ea typeface="Calibri" pitchFamily="34" charset="-122"/>
                <a:cs typeface="Calibri" pitchFamily="34" charset="-120"/>
              </a:rPr>
              <a:t>  r_t = μ + ε_t,   ε_t = z_t · σ_t,   z_t ~ i.i.d. N(0,1)
</a:t>
            </a:r>
            <a:r>
              <a:rPr lang="en-US" sz="1050" dirty="0">
                <a:solidFill>
                  <a:srgbClr val="0D1B2A"/>
                </a:solidFill>
                <a:latin typeface="Calibri" pitchFamily="34" charset="0"/>
                <a:ea typeface="Calibri" pitchFamily="34" charset="-122"/>
                <a:cs typeface="Calibri" pitchFamily="34" charset="-120"/>
              </a:rPr>
              <a:t>Conditional variance equation:
</a:t>
            </a:r>
            <a:r>
              <a:rPr lang="en-US" sz="1050" b="1" dirty="0">
                <a:solidFill>
                  <a:srgbClr val="1B6CA8"/>
                </a:solidFill>
                <a:latin typeface="Calibri" pitchFamily="34" charset="0"/>
                <a:ea typeface="Calibri" pitchFamily="34" charset="-122"/>
                <a:cs typeface="Calibri" pitchFamily="34" charset="-120"/>
              </a:rPr>
              <a:t>  σ²_t = α₀ + α₁ε²_{t-1} + α₂ε²_{t-2} + ... + αqε²_{t-q}
</a:t>
            </a:r>
            <a:r>
              <a:rPr lang="en-US" sz="1050" dirty="0">
                <a:solidFill>
                  <a:srgbClr val="0D1B2A"/>
                </a:solidFill>
                <a:latin typeface="Calibri" pitchFamily="34" charset="0"/>
                <a:ea typeface="Calibri" pitchFamily="34" charset="-122"/>
                <a:cs typeface="Calibri" pitchFamily="34" charset="-120"/>
              </a:rPr>
              <a:t>Constraints:
  α₀ &gt; 0,  αᵢ ≥ 0  ∀i  (positivity)
  Σαᵢ &lt; 1  (stationarity)
</a:t>
            </a:r>
            <a:r>
              <a:rPr lang="en-US" sz="1050" dirty="0">
                <a:solidFill>
                  <a:srgbClr val="C0392B"/>
                </a:solidFill>
                <a:latin typeface="Calibri" pitchFamily="34" charset="0"/>
                <a:ea typeface="Calibri" pitchFamily="34" charset="-122"/>
                <a:cs typeface="Calibri" pitchFamily="34" charset="-120"/>
              </a:rPr>
              <a:t>Problem: May require high q for adequate fit,</a:t>
            </a:r>
            <a:endParaRPr lang="en-US" sz="1050" dirty="0"/>
          </a:p>
          <a:p>
            <a:pPr marL="0" indent="0">
              <a:buNone/>
            </a:pPr>
            <a:r>
              <a:rPr lang="en-US" sz="1050" dirty="0">
                <a:solidFill>
                  <a:srgbClr val="C0392B"/>
                </a:solidFill>
                <a:latin typeface="Calibri" pitchFamily="34" charset="0"/>
                <a:ea typeface="Calibri" pitchFamily="34" charset="-122"/>
                <a:cs typeface="Calibri" pitchFamily="34" charset="-120"/>
              </a:rPr>
              <a:t>leading to many parameters. GARCH solves this.</a:t>
            </a:r>
            <a:endParaRPr lang="en-US" sz="1050" dirty="0"/>
          </a:p>
        </p:txBody>
      </p:sp>
      <p:sp>
        <p:nvSpPr>
          <p:cNvPr id="12" name="Shape 10"/>
          <p:cNvSpPr/>
          <p:nvPr/>
        </p:nvSpPr>
        <p:spPr>
          <a:xfrm>
            <a:off x="4663440" y="1207008"/>
            <a:ext cx="4297680" cy="3657600"/>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4663440" y="1207008"/>
            <a:ext cx="4297680" cy="329184"/>
          </a:xfrm>
          <a:prstGeom prst="rect">
            <a:avLst/>
          </a:prstGeom>
          <a:solidFill>
            <a:srgbClr val="1B6CA8"/>
          </a:solidFill>
          <a:ln/>
        </p:spPr>
      </p:sp>
      <p:sp>
        <p:nvSpPr>
          <p:cNvPr id="14" name="Text 12"/>
          <p:cNvSpPr/>
          <p:nvPr/>
        </p:nvSpPr>
        <p:spPr>
          <a:xfrm>
            <a:off x="4754880" y="1225296"/>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GARCH(p,q) Model — Bollerslev (1986)</a:t>
            </a:r>
            <a:endParaRPr lang="en-US" sz="1100" dirty="0"/>
          </a:p>
        </p:txBody>
      </p:sp>
      <p:sp>
        <p:nvSpPr>
          <p:cNvPr id="15" name="Text 13"/>
          <p:cNvSpPr/>
          <p:nvPr/>
        </p:nvSpPr>
        <p:spPr>
          <a:xfrm>
            <a:off x="4754880" y="1609344"/>
            <a:ext cx="4114800" cy="3200400"/>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GARCH = Generalised ARCH
</a:t>
            </a:r>
            <a:r>
              <a:rPr lang="en-US" sz="1050" dirty="0">
                <a:solidFill>
                  <a:srgbClr val="0D1B2A"/>
                </a:solidFill>
                <a:latin typeface="Calibri" pitchFamily="34" charset="0"/>
                <a:ea typeface="Calibri" pitchFamily="34" charset="-122"/>
                <a:cs typeface="Calibri" pitchFamily="34" charset="-120"/>
              </a:rPr>
              <a:t>Conditional variance equation:
</a:t>
            </a:r>
            <a:r>
              <a:rPr lang="en-US" sz="1050" b="1" dirty="0">
                <a:solidFill>
                  <a:srgbClr val="0D1B2A"/>
                </a:solidFill>
                <a:latin typeface="Calibri" pitchFamily="34" charset="0"/>
                <a:ea typeface="Calibri" pitchFamily="34" charset="-122"/>
                <a:cs typeface="Calibri" pitchFamily="34" charset="-120"/>
              </a:rPr>
              <a:t>  σ²_t = ω + Σᵢ₌₁ᵠ αᵢε²_{t-i} + Σⱼ₌₁ᵖ βⱼσ²_{t-j}
</a:t>
            </a:r>
            <a:r>
              <a:rPr lang="en-US" sz="1050" dirty="0">
                <a:solidFill>
                  <a:srgbClr val="0D1B2A"/>
                </a:solidFill>
                <a:latin typeface="Calibri" pitchFamily="34" charset="0"/>
                <a:ea typeface="Calibri" pitchFamily="34" charset="-122"/>
                <a:cs typeface="Calibri" pitchFamily="34" charset="-120"/>
              </a:rPr>
              <a:t>For GARCH(1,1) — most widely used:
</a:t>
            </a:r>
            <a:r>
              <a:rPr lang="en-US" sz="1050" b="1" dirty="0">
                <a:solidFill>
                  <a:srgbClr val="0D1B2A"/>
                </a:solidFill>
                <a:latin typeface="Calibri" pitchFamily="34" charset="0"/>
                <a:ea typeface="Calibri" pitchFamily="34" charset="-122"/>
                <a:cs typeface="Calibri" pitchFamily="34" charset="-120"/>
              </a:rPr>
              <a:t>  σ²_t = ω + α·ε²_{t-1} + β·σ²_{t-1}
</a:t>
            </a:r>
            <a:r>
              <a:rPr lang="en-US" sz="1050" dirty="0">
                <a:solidFill>
                  <a:srgbClr val="0D1B2A"/>
                </a:solidFill>
                <a:latin typeface="Calibri" pitchFamily="34" charset="0"/>
                <a:ea typeface="Calibri" pitchFamily="34" charset="-122"/>
                <a:cs typeface="Calibri" pitchFamily="34" charset="-120"/>
              </a:rPr>
              <a:t>Parameters:
  ω &gt; 0: long-run variance component
  α: ARCH effect — reaction to new shocks
  β: GARCH effect — persistence of volatility
  α + β &lt; 1: covariance stationarity
Long-run unconditional variance:
</a:t>
            </a:r>
            <a:r>
              <a:rPr lang="en-US" sz="1050" b="1" dirty="0">
                <a:solidFill>
                  <a:srgbClr val="1B6CA8"/>
                </a:solidFill>
                <a:latin typeface="Calibri" pitchFamily="34" charset="0"/>
                <a:ea typeface="Calibri" pitchFamily="34" charset="-122"/>
                <a:cs typeface="Calibri" pitchFamily="34" charset="-120"/>
              </a:rPr>
              <a:t>  σ²_LR = ω / (1 − α − β)</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ACF &amp; PACF — Identification of GARCH Order</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6576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Before fitting GARCH, we examine the squared residuals (ε²_t) for conditional heteroskedasticity. ACF and PACF of ε²_t reveal the ARCH/GARCH structure.</a:t>
            </a:r>
            <a:endParaRPr lang="en-US" sz="1150" dirty="0"/>
          </a:p>
        </p:txBody>
      </p:sp>
      <p:sp>
        <p:nvSpPr>
          <p:cNvPr id="8" name="Shape 6"/>
          <p:cNvSpPr/>
          <p:nvPr/>
        </p:nvSpPr>
        <p:spPr>
          <a:xfrm>
            <a:off x="182880" y="1170432"/>
            <a:ext cx="4315968" cy="160020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170432"/>
            <a:ext cx="4315968" cy="329184"/>
          </a:xfrm>
          <a:prstGeom prst="rect">
            <a:avLst/>
          </a:prstGeom>
          <a:solidFill>
            <a:srgbClr val="0D1B2A"/>
          </a:solidFill>
          <a:ln/>
        </p:spPr>
      </p:sp>
      <p:sp>
        <p:nvSpPr>
          <p:cNvPr id="10" name="Text 8"/>
          <p:cNvSpPr/>
          <p:nvPr/>
        </p:nvSpPr>
        <p:spPr>
          <a:xfrm>
            <a:off x="274320" y="1188720"/>
            <a:ext cx="4114800" cy="292608"/>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ACF — Autocorrelation Function</a:t>
            </a:r>
            <a:endParaRPr lang="en-US" sz="1100" dirty="0"/>
          </a:p>
        </p:txBody>
      </p:sp>
      <p:sp>
        <p:nvSpPr>
          <p:cNvPr id="11" name="Text 9"/>
          <p:cNvSpPr/>
          <p:nvPr/>
        </p:nvSpPr>
        <p:spPr>
          <a:xfrm>
            <a:off x="274320" y="1572768"/>
            <a:ext cx="4133088" cy="1133856"/>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ACF(k) = Corr(ε²_t, ε²_{t-k}) = Cov(ε²_t,ε²_{t-k}) / Var(ε²_t)</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Interpretation:</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Significant ACF at multiple lags ⟹ ARCH effect present</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Slow decay ⟹ persistent volatility (high β in GARCH)</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q lags significant ⟹ suggests ARCH(q) or GARCH(1,1)</a:t>
            </a:r>
            <a:endParaRPr lang="en-US" sz="1050" dirty="0"/>
          </a:p>
        </p:txBody>
      </p:sp>
      <p:sp>
        <p:nvSpPr>
          <p:cNvPr id="12" name="Shape 10"/>
          <p:cNvSpPr/>
          <p:nvPr/>
        </p:nvSpPr>
        <p:spPr>
          <a:xfrm>
            <a:off x="4663440" y="1170432"/>
            <a:ext cx="4297680" cy="1600200"/>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4663440" y="1170432"/>
            <a:ext cx="4297680" cy="329184"/>
          </a:xfrm>
          <a:prstGeom prst="rect">
            <a:avLst/>
          </a:prstGeom>
          <a:solidFill>
            <a:srgbClr val="1B6CA8"/>
          </a:solidFill>
          <a:ln/>
        </p:spPr>
      </p:sp>
      <p:sp>
        <p:nvSpPr>
          <p:cNvPr id="14" name="Text 12"/>
          <p:cNvSpPr/>
          <p:nvPr/>
        </p:nvSpPr>
        <p:spPr>
          <a:xfrm>
            <a:off x="4754880" y="1188720"/>
            <a:ext cx="4114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PACF — Partial Autocorrelation Function</a:t>
            </a:r>
            <a:endParaRPr lang="en-US" sz="1100" dirty="0"/>
          </a:p>
        </p:txBody>
      </p:sp>
      <p:sp>
        <p:nvSpPr>
          <p:cNvPr id="15" name="Text 13"/>
          <p:cNvSpPr/>
          <p:nvPr/>
        </p:nvSpPr>
        <p:spPr>
          <a:xfrm>
            <a:off x="4754880" y="1572768"/>
            <a:ext cx="4114800" cy="1133856"/>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PACF(k) = Corr(ε²_t, ε²_{t-k} | ε²_{t-1}, ..., ε²_{t-k+1})</a:t>
            </a:r>
            <a:endParaRPr lang="en-US" sz="1050" dirty="0"/>
          </a:p>
          <a:p>
            <a:pPr marL="0" indent="0">
              <a:buNone/>
            </a:pP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Interpretation:</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Cuts off at lag p ⟹ AR(p) process for σ²_t</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Cutoff at lag 1 ⟹ GARCH(1,1) often appropriate</a:t>
            </a:r>
            <a:endParaRPr lang="en-US" sz="1050" dirty="0"/>
          </a:p>
          <a:p>
            <a:pPr marL="0" indent="0">
              <a:buNone/>
            </a:pPr>
            <a:r>
              <a:rPr lang="en-US" sz="1050" dirty="0">
                <a:solidFill>
                  <a:srgbClr val="0D1B2A"/>
                </a:solidFill>
                <a:latin typeface="Calibri" pitchFamily="34" charset="0"/>
                <a:ea typeface="Calibri" pitchFamily="34" charset="-122"/>
                <a:cs typeface="Calibri" pitchFamily="34" charset="-120"/>
              </a:rPr>
              <a:t>• Gradual PACF decay + sharp ACF cutoff ⟹ MA structure</a:t>
            </a:r>
            <a:endParaRPr lang="en-US" sz="1050" dirty="0"/>
          </a:p>
        </p:txBody>
      </p:sp>
      <p:sp>
        <p:nvSpPr>
          <p:cNvPr id="16" name="Shape 14"/>
          <p:cNvSpPr/>
          <p:nvPr/>
        </p:nvSpPr>
        <p:spPr>
          <a:xfrm>
            <a:off x="182880" y="2852928"/>
            <a:ext cx="4160520" cy="1828800"/>
          </a:xfrm>
          <a:prstGeom prst="rect">
            <a:avLst/>
          </a:prstGeom>
          <a:solidFill>
            <a:srgbClr val="F0F4F8"/>
          </a:solidFill>
          <a:ln/>
        </p:spPr>
      </p:sp>
      <p:sp>
        <p:nvSpPr>
          <p:cNvPr id="17" name="Text 15"/>
          <p:cNvSpPr/>
          <p:nvPr/>
        </p:nvSpPr>
        <p:spPr>
          <a:xfrm>
            <a:off x="182880" y="2852928"/>
            <a:ext cx="4160520" cy="25603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ACF of Squared Residuals</a:t>
            </a:r>
            <a:endParaRPr lang="en-US" sz="1000" dirty="0"/>
          </a:p>
        </p:txBody>
      </p:sp>
      <p:sp>
        <p:nvSpPr>
          <p:cNvPr id="18" name="Shape 16"/>
          <p:cNvSpPr/>
          <p:nvPr/>
        </p:nvSpPr>
        <p:spPr>
          <a:xfrm>
            <a:off x="274320" y="3511296"/>
            <a:ext cx="3977640" cy="36576"/>
          </a:xfrm>
          <a:prstGeom prst="rect">
            <a:avLst/>
          </a:prstGeom>
          <a:solidFill>
            <a:srgbClr val="D6E0EA"/>
          </a:solidFill>
          <a:ln/>
        </p:spPr>
      </p:sp>
      <p:sp>
        <p:nvSpPr>
          <p:cNvPr id="19" name="Shape 17"/>
          <p:cNvSpPr/>
          <p:nvPr/>
        </p:nvSpPr>
        <p:spPr>
          <a:xfrm>
            <a:off x="274320" y="3355848"/>
            <a:ext cx="3977640" cy="0"/>
          </a:xfrm>
          <a:prstGeom prst="line">
            <a:avLst/>
          </a:prstGeom>
          <a:noFill/>
          <a:ln w="12700">
            <a:solidFill>
              <a:srgbClr val="E74C3C"/>
            </a:solidFill>
            <a:prstDash val="dash"/>
          </a:ln>
        </p:spPr>
      </p:sp>
      <p:sp>
        <p:nvSpPr>
          <p:cNvPr id="20" name="Shape 18"/>
          <p:cNvSpPr/>
          <p:nvPr/>
        </p:nvSpPr>
        <p:spPr>
          <a:xfrm>
            <a:off x="274320" y="3666744"/>
            <a:ext cx="3977640" cy="0"/>
          </a:xfrm>
          <a:prstGeom prst="line">
            <a:avLst/>
          </a:prstGeom>
          <a:noFill/>
          <a:ln w="12700">
            <a:solidFill>
              <a:srgbClr val="E74C3C"/>
            </a:solidFill>
            <a:prstDash val="dash"/>
          </a:ln>
        </p:spPr>
      </p:sp>
      <p:sp>
        <p:nvSpPr>
          <p:cNvPr id="21" name="Shape 19"/>
          <p:cNvSpPr/>
          <p:nvPr/>
        </p:nvSpPr>
        <p:spPr>
          <a:xfrm>
            <a:off x="438912" y="3035808"/>
            <a:ext cx="274320" cy="475488"/>
          </a:xfrm>
          <a:prstGeom prst="rect">
            <a:avLst/>
          </a:prstGeom>
          <a:solidFill>
            <a:srgbClr val="1B6CA8"/>
          </a:solidFill>
          <a:ln/>
        </p:spPr>
      </p:sp>
      <p:sp>
        <p:nvSpPr>
          <p:cNvPr id="22" name="Shape 20"/>
          <p:cNvSpPr/>
          <p:nvPr/>
        </p:nvSpPr>
        <p:spPr>
          <a:xfrm>
            <a:off x="914400" y="3163824"/>
            <a:ext cx="274320" cy="347472"/>
          </a:xfrm>
          <a:prstGeom prst="rect">
            <a:avLst/>
          </a:prstGeom>
          <a:solidFill>
            <a:srgbClr val="1B6CA8"/>
          </a:solidFill>
          <a:ln/>
        </p:spPr>
      </p:sp>
      <p:sp>
        <p:nvSpPr>
          <p:cNvPr id="23" name="Shape 21"/>
          <p:cNvSpPr/>
          <p:nvPr/>
        </p:nvSpPr>
        <p:spPr>
          <a:xfrm>
            <a:off x="1389888" y="3255264"/>
            <a:ext cx="274320" cy="256032"/>
          </a:xfrm>
          <a:prstGeom prst="rect">
            <a:avLst/>
          </a:prstGeom>
          <a:solidFill>
            <a:srgbClr val="1B6CA8"/>
          </a:solidFill>
          <a:ln/>
        </p:spPr>
      </p:sp>
      <p:sp>
        <p:nvSpPr>
          <p:cNvPr id="24" name="Shape 22"/>
          <p:cNvSpPr/>
          <p:nvPr/>
        </p:nvSpPr>
        <p:spPr>
          <a:xfrm>
            <a:off x="1865376" y="3328416"/>
            <a:ext cx="274320" cy="182880"/>
          </a:xfrm>
          <a:prstGeom prst="rect">
            <a:avLst/>
          </a:prstGeom>
          <a:solidFill>
            <a:srgbClr val="1B6CA8"/>
          </a:solidFill>
          <a:ln/>
        </p:spPr>
      </p:sp>
      <p:sp>
        <p:nvSpPr>
          <p:cNvPr id="25" name="Shape 23"/>
          <p:cNvSpPr/>
          <p:nvPr/>
        </p:nvSpPr>
        <p:spPr>
          <a:xfrm>
            <a:off x="2340864" y="3383280"/>
            <a:ext cx="274320" cy="128016"/>
          </a:xfrm>
          <a:prstGeom prst="rect">
            <a:avLst/>
          </a:prstGeom>
          <a:solidFill>
            <a:srgbClr val="D6E0EA"/>
          </a:solidFill>
          <a:ln/>
        </p:spPr>
      </p:sp>
      <p:sp>
        <p:nvSpPr>
          <p:cNvPr id="26" name="Shape 24"/>
          <p:cNvSpPr/>
          <p:nvPr/>
        </p:nvSpPr>
        <p:spPr>
          <a:xfrm>
            <a:off x="2816352" y="3419856"/>
            <a:ext cx="274320" cy="91440"/>
          </a:xfrm>
          <a:prstGeom prst="rect">
            <a:avLst/>
          </a:prstGeom>
          <a:solidFill>
            <a:srgbClr val="D6E0EA"/>
          </a:solidFill>
          <a:ln/>
        </p:spPr>
      </p:sp>
      <p:sp>
        <p:nvSpPr>
          <p:cNvPr id="27" name="Shape 25"/>
          <p:cNvSpPr/>
          <p:nvPr/>
        </p:nvSpPr>
        <p:spPr>
          <a:xfrm>
            <a:off x="3291840" y="3447288"/>
            <a:ext cx="274320" cy="64008"/>
          </a:xfrm>
          <a:prstGeom prst="rect">
            <a:avLst/>
          </a:prstGeom>
          <a:solidFill>
            <a:srgbClr val="D6E0EA"/>
          </a:solidFill>
          <a:ln/>
        </p:spPr>
      </p:sp>
      <p:sp>
        <p:nvSpPr>
          <p:cNvPr id="28" name="Shape 26"/>
          <p:cNvSpPr/>
          <p:nvPr/>
        </p:nvSpPr>
        <p:spPr>
          <a:xfrm>
            <a:off x="3767328" y="3465576"/>
            <a:ext cx="274320" cy="45720"/>
          </a:xfrm>
          <a:prstGeom prst="rect">
            <a:avLst/>
          </a:prstGeom>
          <a:solidFill>
            <a:srgbClr val="D6E0EA"/>
          </a:solidFill>
          <a:ln/>
        </p:spPr>
      </p:sp>
      <p:sp>
        <p:nvSpPr>
          <p:cNvPr id="29" name="Text 27"/>
          <p:cNvSpPr/>
          <p:nvPr/>
        </p:nvSpPr>
        <p:spPr>
          <a:xfrm>
            <a:off x="2011680" y="4599432"/>
            <a:ext cx="548640" cy="182880"/>
          </a:xfrm>
          <a:prstGeom prst="rect">
            <a:avLst/>
          </a:prstGeom>
          <a:noFill/>
          <a:ln/>
        </p:spPr>
        <p:txBody>
          <a:bodyPr wrap="square" lIns="0" tIns="0" rIns="0" bIns="0" rtlCol="0" anchor="ctr"/>
          <a:lstStyle/>
          <a:p>
            <a:pPr marL="0" indent="0">
              <a:buNone/>
            </a:pPr>
            <a:r>
              <a:rPr lang="en-US" sz="850" dirty="0">
                <a:solidFill>
                  <a:srgbClr val="0D1B2A"/>
                </a:solidFill>
                <a:latin typeface="Calibri" pitchFamily="34" charset="0"/>
                <a:ea typeface="Calibri" pitchFamily="34" charset="-122"/>
                <a:cs typeface="Calibri" pitchFamily="34" charset="-120"/>
              </a:rPr>
              <a:t>Lag</a:t>
            </a:r>
            <a:endParaRPr lang="en-US" sz="850" dirty="0"/>
          </a:p>
        </p:txBody>
      </p:sp>
      <p:sp>
        <p:nvSpPr>
          <p:cNvPr id="30" name="Text 28"/>
          <p:cNvSpPr/>
          <p:nvPr/>
        </p:nvSpPr>
        <p:spPr>
          <a:xfrm>
            <a:off x="228600" y="4663440"/>
            <a:ext cx="4023360" cy="182880"/>
          </a:xfrm>
          <a:prstGeom prst="rect">
            <a:avLst/>
          </a:prstGeom>
          <a:noFill/>
          <a:ln/>
        </p:spPr>
        <p:txBody>
          <a:bodyPr wrap="square" lIns="0" tIns="0" rIns="0" bIns="0" rtlCol="0" anchor="ctr"/>
          <a:lstStyle/>
          <a:p>
            <a:pPr marL="0" indent="0" algn="ctr">
              <a:buNone/>
            </a:pPr>
            <a:r>
              <a:rPr lang="en-US" sz="850" i="1" dirty="0">
                <a:solidFill>
                  <a:srgbClr val="1E8449"/>
                </a:solidFill>
                <a:latin typeface="Calibri" pitchFamily="34" charset="0"/>
                <a:ea typeface="Calibri" pitchFamily="34" charset="-122"/>
                <a:cs typeface="Calibri" pitchFamily="34" charset="-120"/>
              </a:rPr>
              <a:t>Lags 1-4 exceed CI → ARCH effect present</a:t>
            </a:r>
            <a:endParaRPr lang="en-US" sz="850" dirty="0"/>
          </a:p>
        </p:txBody>
      </p:sp>
      <p:sp>
        <p:nvSpPr>
          <p:cNvPr id="31" name="Shape 29"/>
          <p:cNvSpPr/>
          <p:nvPr/>
        </p:nvSpPr>
        <p:spPr>
          <a:xfrm>
            <a:off x="4663440" y="2852928"/>
            <a:ext cx="4251960" cy="1828800"/>
          </a:xfrm>
          <a:prstGeom prst="rect">
            <a:avLst/>
          </a:prstGeom>
          <a:solidFill>
            <a:srgbClr val="F0F4F8"/>
          </a:solidFill>
          <a:ln/>
        </p:spPr>
      </p:sp>
      <p:sp>
        <p:nvSpPr>
          <p:cNvPr id="32" name="Text 30"/>
          <p:cNvSpPr/>
          <p:nvPr/>
        </p:nvSpPr>
        <p:spPr>
          <a:xfrm>
            <a:off x="4663440" y="2852928"/>
            <a:ext cx="4251960" cy="25603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PACF of Squared Residuals</a:t>
            </a:r>
            <a:endParaRPr lang="en-US" sz="1000" dirty="0"/>
          </a:p>
        </p:txBody>
      </p:sp>
      <p:sp>
        <p:nvSpPr>
          <p:cNvPr id="33" name="Shape 31"/>
          <p:cNvSpPr/>
          <p:nvPr/>
        </p:nvSpPr>
        <p:spPr>
          <a:xfrm>
            <a:off x="4754880" y="3511296"/>
            <a:ext cx="4069080" cy="36576"/>
          </a:xfrm>
          <a:prstGeom prst="rect">
            <a:avLst/>
          </a:prstGeom>
          <a:solidFill>
            <a:srgbClr val="D6E0EA"/>
          </a:solidFill>
          <a:ln/>
        </p:spPr>
      </p:sp>
      <p:sp>
        <p:nvSpPr>
          <p:cNvPr id="34" name="Shape 32"/>
          <p:cNvSpPr/>
          <p:nvPr/>
        </p:nvSpPr>
        <p:spPr>
          <a:xfrm>
            <a:off x="4754880" y="3355848"/>
            <a:ext cx="4069080" cy="0"/>
          </a:xfrm>
          <a:prstGeom prst="line">
            <a:avLst/>
          </a:prstGeom>
          <a:noFill/>
          <a:ln w="12700">
            <a:solidFill>
              <a:srgbClr val="E74C3C"/>
            </a:solidFill>
            <a:prstDash val="dash"/>
          </a:ln>
        </p:spPr>
      </p:sp>
      <p:sp>
        <p:nvSpPr>
          <p:cNvPr id="35" name="Shape 33"/>
          <p:cNvSpPr/>
          <p:nvPr/>
        </p:nvSpPr>
        <p:spPr>
          <a:xfrm>
            <a:off x="4754880" y="3666744"/>
            <a:ext cx="4069080" cy="0"/>
          </a:xfrm>
          <a:prstGeom prst="line">
            <a:avLst/>
          </a:prstGeom>
          <a:noFill/>
          <a:ln w="12700">
            <a:solidFill>
              <a:srgbClr val="E74C3C"/>
            </a:solidFill>
            <a:prstDash val="dash"/>
          </a:ln>
        </p:spPr>
      </p:sp>
      <p:sp>
        <p:nvSpPr>
          <p:cNvPr id="36" name="Shape 34"/>
          <p:cNvSpPr/>
          <p:nvPr/>
        </p:nvSpPr>
        <p:spPr>
          <a:xfrm>
            <a:off x="4919472" y="3072384"/>
            <a:ext cx="274320" cy="438912"/>
          </a:xfrm>
          <a:prstGeom prst="rect">
            <a:avLst/>
          </a:prstGeom>
          <a:solidFill>
            <a:srgbClr val="0D1B2A"/>
          </a:solidFill>
          <a:ln/>
        </p:spPr>
      </p:sp>
      <p:sp>
        <p:nvSpPr>
          <p:cNvPr id="37" name="Shape 35"/>
          <p:cNvSpPr/>
          <p:nvPr/>
        </p:nvSpPr>
        <p:spPr>
          <a:xfrm>
            <a:off x="5394960" y="3456432"/>
            <a:ext cx="274320" cy="54864"/>
          </a:xfrm>
          <a:prstGeom prst="rect">
            <a:avLst/>
          </a:prstGeom>
          <a:solidFill>
            <a:srgbClr val="D6E0EA"/>
          </a:solidFill>
          <a:ln/>
        </p:spPr>
      </p:sp>
      <p:sp>
        <p:nvSpPr>
          <p:cNvPr id="38" name="Shape 36"/>
          <p:cNvSpPr/>
          <p:nvPr/>
        </p:nvSpPr>
        <p:spPr>
          <a:xfrm>
            <a:off x="5870448" y="3474720"/>
            <a:ext cx="274320" cy="36576"/>
          </a:xfrm>
          <a:prstGeom prst="rect">
            <a:avLst/>
          </a:prstGeom>
          <a:solidFill>
            <a:srgbClr val="D6E0EA"/>
          </a:solidFill>
          <a:ln/>
        </p:spPr>
      </p:sp>
      <p:sp>
        <p:nvSpPr>
          <p:cNvPr id="39" name="Shape 37"/>
          <p:cNvSpPr/>
          <p:nvPr/>
        </p:nvSpPr>
        <p:spPr>
          <a:xfrm>
            <a:off x="6345936" y="3483864"/>
            <a:ext cx="274320" cy="27432"/>
          </a:xfrm>
          <a:prstGeom prst="rect">
            <a:avLst/>
          </a:prstGeom>
          <a:solidFill>
            <a:srgbClr val="D6E0EA"/>
          </a:solidFill>
          <a:ln/>
        </p:spPr>
      </p:sp>
      <p:sp>
        <p:nvSpPr>
          <p:cNvPr id="40" name="Shape 38"/>
          <p:cNvSpPr/>
          <p:nvPr/>
        </p:nvSpPr>
        <p:spPr>
          <a:xfrm>
            <a:off x="6821424" y="3493008"/>
            <a:ext cx="274320" cy="18288"/>
          </a:xfrm>
          <a:prstGeom prst="rect">
            <a:avLst/>
          </a:prstGeom>
          <a:solidFill>
            <a:srgbClr val="D6E0EA"/>
          </a:solidFill>
          <a:ln/>
        </p:spPr>
      </p:sp>
      <p:sp>
        <p:nvSpPr>
          <p:cNvPr id="41" name="Shape 39"/>
          <p:cNvSpPr/>
          <p:nvPr/>
        </p:nvSpPr>
        <p:spPr>
          <a:xfrm>
            <a:off x="7296912" y="3493008"/>
            <a:ext cx="274320" cy="18288"/>
          </a:xfrm>
          <a:prstGeom prst="rect">
            <a:avLst/>
          </a:prstGeom>
          <a:solidFill>
            <a:srgbClr val="D6E0EA"/>
          </a:solidFill>
          <a:ln/>
        </p:spPr>
      </p:sp>
      <p:sp>
        <p:nvSpPr>
          <p:cNvPr id="42" name="Shape 40"/>
          <p:cNvSpPr/>
          <p:nvPr/>
        </p:nvSpPr>
        <p:spPr>
          <a:xfrm>
            <a:off x="7772400" y="3483864"/>
            <a:ext cx="274320" cy="27432"/>
          </a:xfrm>
          <a:prstGeom prst="rect">
            <a:avLst/>
          </a:prstGeom>
          <a:solidFill>
            <a:srgbClr val="D6E0EA"/>
          </a:solidFill>
          <a:ln/>
        </p:spPr>
      </p:sp>
      <p:sp>
        <p:nvSpPr>
          <p:cNvPr id="43" name="Shape 41"/>
          <p:cNvSpPr/>
          <p:nvPr/>
        </p:nvSpPr>
        <p:spPr>
          <a:xfrm>
            <a:off x="8247888" y="3493008"/>
            <a:ext cx="274320" cy="18288"/>
          </a:xfrm>
          <a:prstGeom prst="rect">
            <a:avLst/>
          </a:prstGeom>
          <a:solidFill>
            <a:srgbClr val="D6E0EA"/>
          </a:solidFill>
          <a:ln/>
        </p:spPr>
      </p:sp>
      <p:sp>
        <p:nvSpPr>
          <p:cNvPr id="44" name="Text 42"/>
          <p:cNvSpPr/>
          <p:nvPr/>
        </p:nvSpPr>
        <p:spPr>
          <a:xfrm>
            <a:off x="6492240" y="4599432"/>
            <a:ext cx="548640" cy="182880"/>
          </a:xfrm>
          <a:prstGeom prst="rect">
            <a:avLst/>
          </a:prstGeom>
          <a:noFill/>
          <a:ln/>
        </p:spPr>
        <p:txBody>
          <a:bodyPr wrap="square" lIns="0" tIns="0" rIns="0" bIns="0" rtlCol="0" anchor="ctr"/>
          <a:lstStyle/>
          <a:p>
            <a:pPr marL="0" indent="0">
              <a:buNone/>
            </a:pPr>
            <a:r>
              <a:rPr lang="en-US" sz="850" dirty="0">
                <a:solidFill>
                  <a:srgbClr val="0D1B2A"/>
                </a:solidFill>
                <a:latin typeface="Calibri" pitchFamily="34" charset="0"/>
                <a:ea typeface="Calibri" pitchFamily="34" charset="-122"/>
                <a:cs typeface="Calibri" pitchFamily="34" charset="-120"/>
              </a:rPr>
              <a:t>Lag</a:t>
            </a:r>
            <a:endParaRPr lang="en-US" sz="850" dirty="0"/>
          </a:p>
        </p:txBody>
      </p:sp>
      <p:sp>
        <p:nvSpPr>
          <p:cNvPr id="45" name="Text 43"/>
          <p:cNvSpPr/>
          <p:nvPr/>
        </p:nvSpPr>
        <p:spPr>
          <a:xfrm>
            <a:off x="4709160" y="4663440"/>
            <a:ext cx="4114800" cy="182880"/>
          </a:xfrm>
          <a:prstGeom prst="rect">
            <a:avLst/>
          </a:prstGeom>
          <a:noFill/>
          <a:ln/>
        </p:spPr>
        <p:txBody>
          <a:bodyPr wrap="square" lIns="0" tIns="0" rIns="0" bIns="0" rtlCol="0" anchor="ctr"/>
          <a:lstStyle/>
          <a:p>
            <a:pPr marL="0" indent="0" algn="ctr">
              <a:buNone/>
            </a:pPr>
            <a:r>
              <a:rPr lang="en-US" sz="850" i="1" dirty="0">
                <a:solidFill>
                  <a:srgbClr val="1E8449"/>
                </a:solidFill>
                <a:latin typeface="Calibri" pitchFamily="34" charset="0"/>
                <a:ea typeface="Calibri" pitchFamily="34" charset="-122"/>
                <a:cs typeface="Calibri" pitchFamily="34" charset="-120"/>
              </a:rPr>
              <a:t>PACF cuts off at lag 1 → GARCH(1,1) is appropriate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GARCH-Based Portfolio Optimisation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6576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Key Insight: MVO requires an estimate of Σ. Using GARCH-DCC, we obtain a time-varying covariance matrix Σ_t — dramatically improving optimisation quality.</a:t>
            </a:r>
            <a:endParaRPr lang="en-US" sz="1150" dirty="0"/>
          </a:p>
        </p:txBody>
      </p:sp>
      <p:sp>
        <p:nvSpPr>
          <p:cNvPr id="8" name="Shape 6"/>
          <p:cNvSpPr/>
          <p:nvPr/>
        </p:nvSpPr>
        <p:spPr>
          <a:xfrm>
            <a:off x="182880" y="1170432"/>
            <a:ext cx="4315968" cy="1673352"/>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170432"/>
            <a:ext cx="594360" cy="1673352"/>
          </a:xfrm>
          <a:prstGeom prst="rect">
            <a:avLst/>
          </a:prstGeom>
          <a:solidFill>
            <a:srgbClr val="0D1B2A"/>
          </a:solidFill>
          <a:ln/>
        </p:spPr>
      </p:sp>
      <p:sp>
        <p:nvSpPr>
          <p:cNvPr id="10" name="Text 8"/>
          <p:cNvSpPr/>
          <p:nvPr/>
        </p:nvSpPr>
        <p:spPr>
          <a:xfrm>
            <a:off x="219456" y="1783080"/>
            <a:ext cx="512064"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11" name="Text 9"/>
          <p:cNvSpPr/>
          <p:nvPr/>
        </p:nvSpPr>
        <p:spPr>
          <a:xfrm>
            <a:off x="859536" y="1243584"/>
            <a:ext cx="3547872" cy="274320"/>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Estimate Univariate GARCH for Each Asset</a:t>
            </a:r>
            <a:endParaRPr lang="en-US" sz="1100" dirty="0"/>
          </a:p>
        </p:txBody>
      </p:sp>
      <p:sp>
        <p:nvSpPr>
          <p:cNvPr id="12" name="Text 10"/>
          <p:cNvSpPr/>
          <p:nvPr/>
        </p:nvSpPr>
        <p:spPr>
          <a:xfrm>
            <a:off x="859536" y="1572768"/>
            <a:ext cx="3547872"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Fit GARCH(1,1) to each asset i:</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ε_i,t = z_i,t · σ_i,t,   σ²_i,t = ω_i + α_i·ε²_i,t-1 + β_i·σ²_i,t-1</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Extract standardised residuals:  η_i,t = ε_i,t / σ_i,t</a:t>
            </a:r>
            <a:endParaRPr lang="en-US" sz="1000" dirty="0"/>
          </a:p>
        </p:txBody>
      </p:sp>
      <p:sp>
        <p:nvSpPr>
          <p:cNvPr id="13" name="Shape 11"/>
          <p:cNvSpPr/>
          <p:nvPr/>
        </p:nvSpPr>
        <p:spPr>
          <a:xfrm>
            <a:off x="4663440" y="1170432"/>
            <a:ext cx="4315968" cy="1673352"/>
          </a:xfrm>
          <a:prstGeom prst="rect">
            <a:avLst/>
          </a:prstGeom>
          <a:solidFill>
            <a:srgbClr val="EEF4FB"/>
          </a:solidFill>
          <a:ln/>
          <a:effectLst>
            <a:outerShdw blurRad="76200" dist="25400" dir="8100000" algn="bl" rotWithShape="0">
              <a:srgbClr val="000000">
                <a:alpha val="12000"/>
              </a:srgbClr>
            </a:outerShdw>
          </a:effectLst>
        </p:spPr>
      </p:sp>
      <p:sp>
        <p:nvSpPr>
          <p:cNvPr id="14" name="Shape 12"/>
          <p:cNvSpPr/>
          <p:nvPr/>
        </p:nvSpPr>
        <p:spPr>
          <a:xfrm>
            <a:off x="4663440" y="1170432"/>
            <a:ext cx="594360" cy="1673352"/>
          </a:xfrm>
          <a:prstGeom prst="rect">
            <a:avLst/>
          </a:prstGeom>
          <a:solidFill>
            <a:srgbClr val="1B6CA8"/>
          </a:solidFill>
          <a:ln/>
        </p:spPr>
      </p:sp>
      <p:sp>
        <p:nvSpPr>
          <p:cNvPr id="15" name="Text 13"/>
          <p:cNvSpPr/>
          <p:nvPr/>
        </p:nvSpPr>
        <p:spPr>
          <a:xfrm>
            <a:off x="4700016" y="1783080"/>
            <a:ext cx="512064"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6" name="Text 14"/>
          <p:cNvSpPr/>
          <p:nvPr/>
        </p:nvSpPr>
        <p:spPr>
          <a:xfrm>
            <a:off x="5340096" y="1243584"/>
            <a:ext cx="3547872" cy="274320"/>
          </a:xfrm>
          <a:prstGeom prst="rect">
            <a:avLst/>
          </a:prstGeom>
          <a:noFill/>
          <a:ln/>
        </p:spPr>
        <p:txBody>
          <a:bodyPr wrap="square" lIns="0" tIns="0" rIns="0" bIns="0" rtlCol="0" anchor="ctr"/>
          <a:lstStyle/>
          <a:p>
            <a:pPr marL="0" indent="0">
              <a:buNone/>
            </a:pPr>
            <a:r>
              <a:rPr lang="en-US" sz="1100" b="1" dirty="0">
                <a:solidFill>
                  <a:srgbClr val="1B6CA8"/>
                </a:solidFill>
                <a:latin typeface="Calibri" pitchFamily="34" charset="0"/>
                <a:ea typeface="Calibri" pitchFamily="34" charset="-122"/>
                <a:cs typeface="Calibri" pitchFamily="34" charset="-120"/>
              </a:rPr>
              <a:t>DCC — Dynamic Conditional Correlation (Engle, 2002)</a:t>
            </a:r>
            <a:endParaRPr lang="en-US" sz="1100" dirty="0"/>
          </a:p>
        </p:txBody>
      </p:sp>
      <p:sp>
        <p:nvSpPr>
          <p:cNvPr id="17" name="Text 15"/>
          <p:cNvSpPr/>
          <p:nvPr/>
        </p:nvSpPr>
        <p:spPr>
          <a:xfrm>
            <a:off x="5340096" y="1572768"/>
            <a:ext cx="3547872"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Model the correlations between standardised residuals:</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Q_t = (1−a−b)Q̄ + a·η_{t-1}η'_{t-1} + b·Q_{t-1}</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R_t = diag(Q_t)^{-½} · Q_t · diag(Q_t)^{-½}</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R_t is the time-varying correlation matrix.</a:t>
            </a:r>
            <a:endParaRPr lang="en-US" sz="1000" dirty="0"/>
          </a:p>
        </p:txBody>
      </p:sp>
      <p:sp>
        <p:nvSpPr>
          <p:cNvPr id="18" name="Shape 16"/>
          <p:cNvSpPr/>
          <p:nvPr/>
        </p:nvSpPr>
        <p:spPr>
          <a:xfrm>
            <a:off x="182880" y="2999232"/>
            <a:ext cx="4315968" cy="1673352"/>
          </a:xfrm>
          <a:prstGeom prst="rect">
            <a:avLst/>
          </a:prstGeom>
          <a:solidFill>
            <a:srgbClr val="EEF4FB"/>
          </a:solidFill>
          <a:ln/>
          <a:effectLst>
            <a:outerShdw blurRad="76200" dist="25400" dir="8100000" algn="bl" rotWithShape="0">
              <a:srgbClr val="000000">
                <a:alpha val="12000"/>
              </a:srgbClr>
            </a:outerShdw>
          </a:effectLst>
        </p:spPr>
      </p:sp>
      <p:sp>
        <p:nvSpPr>
          <p:cNvPr id="19" name="Shape 17"/>
          <p:cNvSpPr/>
          <p:nvPr/>
        </p:nvSpPr>
        <p:spPr>
          <a:xfrm>
            <a:off x="182880" y="2999232"/>
            <a:ext cx="594360" cy="1673352"/>
          </a:xfrm>
          <a:prstGeom prst="rect">
            <a:avLst/>
          </a:prstGeom>
          <a:solidFill>
            <a:srgbClr val="1E8449"/>
          </a:solidFill>
          <a:ln/>
        </p:spPr>
      </p:sp>
      <p:sp>
        <p:nvSpPr>
          <p:cNvPr id="20" name="Text 18"/>
          <p:cNvSpPr/>
          <p:nvPr/>
        </p:nvSpPr>
        <p:spPr>
          <a:xfrm>
            <a:off x="219456" y="3611880"/>
            <a:ext cx="512064"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21" name="Text 19"/>
          <p:cNvSpPr/>
          <p:nvPr/>
        </p:nvSpPr>
        <p:spPr>
          <a:xfrm>
            <a:off x="859536" y="3072384"/>
            <a:ext cx="3547872" cy="274320"/>
          </a:xfrm>
          <a:prstGeom prst="rect">
            <a:avLst/>
          </a:prstGeom>
          <a:noFill/>
          <a:ln/>
        </p:spPr>
        <p:txBody>
          <a:bodyPr wrap="square" lIns="0" tIns="0" rIns="0" bIns="0" rtlCol="0" anchor="ctr"/>
          <a:lstStyle/>
          <a:p>
            <a:pPr marL="0" indent="0">
              <a:buNone/>
            </a:pPr>
            <a:r>
              <a:rPr lang="en-US" sz="1100" b="1" dirty="0">
                <a:solidFill>
                  <a:srgbClr val="1E8449"/>
                </a:solidFill>
                <a:latin typeface="Calibri" pitchFamily="34" charset="0"/>
                <a:ea typeface="Calibri" pitchFamily="34" charset="-122"/>
                <a:cs typeface="Calibri" pitchFamily="34" charset="-120"/>
              </a:rPr>
              <a:t>Reconstruct Dynamic Covariance Matrix Σ_t</a:t>
            </a:r>
            <a:endParaRPr lang="en-US" sz="1100" dirty="0"/>
          </a:p>
        </p:txBody>
      </p:sp>
      <p:sp>
        <p:nvSpPr>
          <p:cNvPr id="22" name="Text 20"/>
          <p:cNvSpPr/>
          <p:nvPr/>
        </p:nvSpPr>
        <p:spPr>
          <a:xfrm>
            <a:off x="859536" y="3401568"/>
            <a:ext cx="3547872"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  Σ_t = D_t · R_t · D_t</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where D_t = diag(σ_1,t, ..., σ_N,t) is diagonal matrix of GARCH conditional std. devs.</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Now Σ_t varies over time, capturing volatility clustering.</a:t>
            </a:r>
            <a:endParaRPr lang="en-US" sz="1000" dirty="0"/>
          </a:p>
        </p:txBody>
      </p:sp>
      <p:sp>
        <p:nvSpPr>
          <p:cNvPr id="23" name="Shape 21"/>
          <p:cNvSpPr/>
          <p:nvPr/>
        </p:nvSpPr>
        <p:spPr>
          <a:xfrm>
            <a:off x="4663440" y="2999232"/>
            <a:ext cx="4315968" cy="1673352"/>
          </a:xfrm>
          <a:prstGeom prst="rect">
            <a:avLst/>
          </a:prstGeom>
          <a:solidFill>
            <a:srgbClr val="EEF4FB"/>
          </a:solidFill>
          <a:ln/>
          <a:effectLst>
            <a:outerShdw blurRad="76200" dist="25400" dir="8100000" algn="bl" rotWithShape="0">
              <a:srgbClr val="000000">
                <a:alpha val="12000"/>
              </a:srgbClr>
            </a:outerShdw>
          </a:effectLst>
        </p:spPr>
      </p:sp>
      <p:sp>
        <p:nvSpPr>
          <p:cNvPr id="24" name="Shape 22"/>
          <p:cNvSpPr/>
          <p:nvPr/>
        </p:nvSpPr>
        <p:spPr>
          <a:xfrm>
            <a:off x="4663440" y="2999232"/>
            <a:ext cx="594360" cy="1673352"/>
          </a:xfrm>
          <a:prstGeom prst="rect">
            <a:avLst/>
          </a:prstGeom>
          <a:solidFill>
            <a:srgbClr val="7D3C98"/>
          </a:solidFill>
          <a:ln/>
        </p:spPr>
      </p:sp>
      <p:sp>
        <p:nvSpPr>
          <p:cNvPr id="25" name="Text 23"/>
          <p:cNvSpPr/>
          <p:nvPr/>
        </p:nvSpPr>
        <p:spPr>
          <a:xfrm>
            <a:off x="4700016" y="3611880"/>
            <a:ext cx="512064"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26" name="Text 24"/>
          <p:cNvSpPr/>
          <p:nvPr/>
        </p:nvSpPr>
        <p:spPr>
          <a:xfrm>
            <a:off x="5340096" y="3072384"/>
            <a:ext cx="3547872" cy="274320"/>
          </a:xfrm>
          <a:prstGeom prst="rect">
            <a:avLst/>
          </a:prstGeom>
          <a:noFill/>
          <a:ln/>
        </p:spPr>
        <p:txBody>
          <a:bodyPr wrap="square" lIns="0" tIns="0" rIns="0" bIns="0" rtlCol="0" anchor="ctr"/>
          <a:lstStyle/>
          <a:p>
            <a:pPr marL="0" indent="0">
              <a:buNone/>
            </a:pPr>
            <a:r>
              <a:rPr lang="en-US" sz="1100" b="1" dirty="0">
                <a:solidFill>
                  <a:srgbClr val="7D3C98"/>
                </a:solidFill>
                <a:latin typeface="Calibri" pitchFamily="34" charset="0"/>
                <a:ea typeface="Calibri" pitchFamily="34" charset="-122"/>
                <a:cs typeface="Calibri" pitchFamily="34" charset="-120"/>
              </a:rPr>
              <a:t>Apply MVO with Time-Varying Σ_t</a:t>
            </a:r>
            <a:endParaRPr lang="en-US" sz="1100" dirty="0"/>
          </a:p>
        </p:txBody>
      </p:sp>
      <p:sp>
        <p:nvSpPr>
          <p:cNvPr id="27" name="Text 25"/>
          <p:cNvSpPr/>
          <p:nvPr/>
        </p:nvSpPr>
        <p:spPr>
          <a:xfrm>
            <a:off x="5340096" y="3401568"/>
            <a:ext cx="3547872" cy="1188720"/>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Solve at each period t:</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  w*_t = Σ_t⁻¹μ / (1ᵀΣ_t⁻¹μ)  (Tangency portfolio)</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Or: w*_t = Σ_t⁻¹1 / (1ᵀΣ_t⁻¹1)  (MVP)</a:t>
            </a:r>
            <a:endParaRPr lang="en-US" sz="1000" dirty="0"/>
          </a:p>
          <a:p>
            <a:pPr marL="0" indent="0">
              <a:buNone/>
            </a:pP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Weights now dynamically rebalance with market conditions!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05</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Data &amp; Methodology</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Real Data Application — From Raw Prices to Optimal Portfolios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Data Description &amp; Universe</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4160520" cy="406908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13232"/>
            <a:ext cx="4160520" cy="329184"/>
          </a:xfrm>
          <a:prstGeom prst="rect">
            <a:avLst/>
          </a:prstGeom>
          <a:solidFill>
            <a:srgbClr val="0D1B2A"/>
          </a:solidFill>
          <a:ln/>
        </p:spPr>
      </p:sp>
      <p:sp>
        <p:nvSpPr>
          <p:cNvPr id="9" name="Text 7"/>
          <p:cNvSpPr/>
          <p:nvPr/>
        </p:nvSpPr>
        <p:spPr>
          <a:xfrm>
            <a:off x="274320" y="731520"/>
            <a:ext cx="397764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Dataset Summary</a:t>
            </a:r>
            <a:endParaRPr lang="en-US" sz="1100" dirty="0"/>
          </a:p>
        </p:txBody>
      </p:sp>
      <p:sp>
        <p:nvSpPr>
          <p:cNvPr id="10" name="Shape 8"/>
          <p:cNvSpPr/>
          <p:nvPr/>
        </p:nvSpPr>
        <p:spPr>
          <a:xfrm>
            <a:off x="256032" y="1152144"/>
            <a:ext cx="4005072" cy="393192"/>
          </a:xfrm>
          <a:prstGeom prst="rect">
            <a:avLst/>
          </a:prstGeom>
          <a:solidFill>
            <a:srgbClr val="FFFFFF"/>
          </a:solidFill>
          <a:ln/>
        </p:spPr>
      </p:sp>
      <p:sp>
        <p:nvSpPr>
          <p:cNvPr id="11" name="Text 9"/>
          <p:cNvSpPr/>
          <p:nvPr/>
        </p:nvSpPr>
        <p:spPr>
          <a:xfrm>
            <a:off x="320040" y="1179576"/>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Universe</a:t>
            </a:r>
            <a:endParaRPr lang="en-US" sz="1000" dirty="0"/>
          </a:p>
        </p:txBody>
      </p:sp>
      <p:sp>
        <p:nvSpPr>
          <p:cNvPr id="12" name="Text 10"/>
          <p:cNvSpPr/>
          <p:nvPr/>
        </p:nvSpPr>
        <p:spPr>
          <a:xfrm>
            <a:off x="1920240" y="1179576"/>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30 large-cap NSE/BSE stocks across 6 sectors</a:t>
            </a:r>
            <a:endParaRPr lang="en-US" sz="1000" dirty="0"/>
          </a:p>
        </p:txBody>
      </p:sp>
      <p:sp>
        <p:nvSpPr>
          <p:cNvPr id="13" name="Shape 11"/>
          <p:cNvSpPr/>
          <p:nvPr/>
        </p:nvSpPr>
        <p:spPr>
          <a:xfrm>
            <a:off x="256032" y="1591056"/>
            <a:ext cx="4005072" cy="393192"/>
          </a:xfrm>
          <a:prstGeom prst="rect">
            <a:avLst/>
          </a:prstGeom>
          <a:solidFill>
            <a:srgbClr val="EDF2F7"/>
          </a:solidFill>
          <a:ln/>
        </p:spPr>
      </p:sp>
      <p:sp>
        <p:nvSpPr>
          <p:cNvPr id="14" name="Text 12"/>
          <p:cNvSpPr/>
          <p:nvPr/>
        </p:nvSpPr>
        <p:spPr>
          <a:xfrm>
            <a:off x="320040" y="1618488"/>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Period</a:t>
            </a:r>
            <a:endParaRPr lang="en-US" sz="1000" dirty="0"/>
          </a:p>
        </p:txBody>
      </p:sp>
      <p:sp>
        <p:nvSpPr>
          <p:cNvPr id="15" name="Text 13"/>
          <p:cNvSpPr/>
          <p:nvPr/>
        </p:nvSpPr>
        <p:spPr>
          <a:xfrm>
            <a:off x="1920240" y="1618488"/>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Jan 2015 – Dec 2024 (10 years; 2,521 trading days)</a:t>
            </a:r>
            <a:endParaRPr lang="en-US" sz="1000" dirty="0"/>
          </a:p>
        </p:txBody>
      </p:sp>
      <p:sp>
        <p:nvSpPr>
          <p:cNvPr id="16" name="Shape 14"/>
          <p:cNvSpPr/>
          <p:nvPr/>
        </p:nvSpPr>
        <p:spPr>
          <a:xfrm>
            <a:off x="256032" y="2029968"/>
            <a:ext cx="4005072" cy="393192"/>
          </a:xfrm>
          <a:prstGeom prst="rect">
            <a:avLst/>
          </a:prstGeom>
          <a:solidFill>
            <a:srgbClr val="FFFFFF"/>
          </a:solidFill>
          <a:ln/>
        </p:spPr>
      </p:sp>
      <p:sp>
        <p:nvSpPr>
          <p:cNvPr id="17" name="Text 15"/>
          <p:cNvSpPr/>
          <p:nvPr/>
        </p:nvSpPr>
        <p:spPr>
          <a:xfrm>
            <a:off x="320040" y="2057400"/>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Frequency</a:t>
            </a:r>
            <a:endParaRPr lang="en-US" sz="1000" dirty="0"/>
          </a:p>
        </p:txBody>
      </p:sp>
      <p:sp>
        <p:nvSpPr>
          <p:cNvPr id="18" name="Text 16"/>
          <p:cNvSpPr/>
          <p:nvPr/>
        </p:nvSpPr>
        <p:spPr>
          <a:xfrm>
            <a:off x="1920240" y="2057400"/>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Daily adjusted closing prices (dividend-adjusted)</a:t>
            </a:r>
            <a:endParaRPr lang="en-US" sz="1000" dirty="0"/>
          </a:p>
        </p:txBody>
      </p:sp>
      <p:sp>
        <p:nvSpPr>
          <p:cNvPr id="19" name="Shape 17"/>
          <p:cNvSpPr/>
          <p:nvPr/>
        </p:nvSpPr>
        <p:spPr>
          <a:xfrm>
            <a:off x="256032" y="2468880"/>
            <a:ext cx="4005072" cy="393192"/>
          </a:xfrm>
          <a:prstGeom prst="rect">
            <a:avLst/>
          </a:prstGeom>
          <a:solidFill>
            <a:srgbClr val="EDF2F7"/>
          </a:solidFill>
          <a:ln/>
        </p:spPr>
      </p:sp>
      <p:sp>
        <p:nvSpPr>
          <p:cNvPr id="20" name="Text 18"/>
          <p:cNvSpPr/>
          <p:nvPr/>
        </p:nvSpPr>
        <p:spPr>
          <a:xfrm>
            <a:off x="320040" y="2496312"/>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Source</a:t>
            </a:r>
            <a:endParaRPr lang="en-US" sz="1000" dirty="0"/>
          </a:p>
        </p:txBody>
      </p:sp>
      <p:sp>
        <p:nvSpPr>
          <p:cNvPr id="21" name="Text 19"/>
          <p:cNvSpPr/>
          <p:nvPr/>
        </p:nvSpPr>
        <p:spPr>
          <a:xfrm>
            <a:off x="1920240" y="2496312"/>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Yahoo Finance / NSE official data</a:t>
            </a:r>
            <a:endParaRPr lang="en-US" sz="1000" dirty="0"/>
          </a:p>
        </p:txBody>
      </p:sp>
      <p:sp>
        <p:nvSpPr>
          <p:cNvPr id="22" name="Shape 20"/>
          <p:cNvSpPr/>
          <p:nvPr/>
        </p:nvSpPr>
        <p:spPr>
          <a:xfrm>
            <a:off x="256032" y="2907792"/>
            <a:ext cx="4005072" cy="393192"/>
          </a:xfrm>
          <a:prstGeom prst="rect">
            <a:avLst/>
          </a:prstGeom>
          <a:solidFill>
            <a:srgbClr val="FFFFFF"/>
          </a:solidFill>
          <a:ln/>
        </p:spPr>
      </p:sp>
      <p:sp>
        <p:nvSpPr>
          <p:cNvPr id="23" name="Text 21"/>
          <p:cNvSpPr/>
          <p:nvPr/>
        </p:nvSpPr>
        <p:spPr>
          <a:xfrm>
            <a:off x="320040" y="2935224"/>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Benchmark</a:t>
            </a:r>
            <a:endParaRPr lang="en-US" sz="1000" dirty="0"/>
          </a:p>
        </p:txBody>
      </p:sp>
      <p:sp>
        <p:nvSpPr>
          <p:cNvPr id="24" name="Text 22"/>
          <p:cNvSpPr/>
          <p:nvPr/>
        </p:nvSpPr>
        <p:spPr>
          <a:xfrm>
            <a:off x="1920240" y="2935224"/>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NIFTY 50 Total Return Index</a:t>
            </a:r>
            <a:endParaRPr lang="en-US" sz="1000" dirty="0"/>
          </a:p>
        </p:txBody>
      </p:sp>
      <p:sp>
        <p:nvSpPr>
          <p:cNvPr id="25" name="Shape 23"/>
          <p:cNvSpPr/>
          <p:nvPr/>
        </p:nvSpPr>
        <p:spPr>
          <a:xfrm>
            <a:off x="256032" y="3346704"/>
            <a:ext cx="4005072" cy="393192"/>
          </a:xfrm>
          <a:prstGeom prst="rect">
            <a:avLst/>
          </a:prstGeom>
          <a:solidFill>
            <a:srgbClr val="EDF2F7"/>
          </a:solidFill>
          <a:ln/>
        </p:spPr>
      </p:sp>
      <p:sp>
        <p:nvSpPr>
          <p:cNvPr id="26" name="Text 24"/>
          <p:cNvSpPr/>
          <p:nvPr/>
        </p:nvSpPr>
        <p:spPr>
          <a:xfrm>
            <a:off x="320040" y="3374136"/>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Risk-Free Rate</a:t>
            </a:r>
            <a:endParaRPr lang="en-US" sz="1000" dirty="0"/>
          </a:p>
        </p:txBody>
      </p:sp>
      <p:sp>
        <p:nvSpPr>
          <p:cNvPr id="27" name="Text 25"/>
          <p:cNvSpPr/>
          <p:nvPr/>
        </p:nvSpPr>
        <p:spPr>
          <a:xfrm>
            <a:off x="1920240" y="3374136"/>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91-day T-bill (annualised RBI rates)</a:t>
            </a:r>
            <a:endParaRPr lang="en-US" sz="1000" dirty="0"/>
          </a:p>
        </p:txBody>
      </p:sp>
      <p:sp>
        <p:nvSpPr>
          <p:cNvPr id="28" name="Shape 26"/>
          <p:cNvSpPr/>
          <p:nvPr/>
        </p:nvSpPr>
        <p:spPr>
          <a:xfrm>
            <a:off x="256032" y="3785616"/>
            <a:ext cx="4005072" cy="393192"/>
          </a:xfrm>
          <a:prstGeom prst="rect">
            <a:avLst/>
          </a:prstGeom>
          <a:solidFill>
            <a:srgbClr val="FFFFFF"/>
          </a:solidFill>
          <a:ln/>
        </p:spPr>
      </p:sp>
      <p:sp>
        <p:nvSpPr>
          <p:cNvPr id="29" name="Text 27"/>
          <p:cNvSpPr/>
          <p:nvPr/>
        </p:nvSpPr>
        <p:spPr>
          <a:xfrm>
            <a:off x="320040" y="3813048"/>
            <a:ext cx="1554480" cy="329184"/>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Train/Test Split</a:t>
            </a:r>
            <a:endParaRPr lang="en-US" sz="1000" dirty="0"/>
          </a:p>
        </p:txBody>
      </p:sp>
      <p:sp>
        <p:nvSpPr>
          <p:cNvPr id="30" name="Text 28"/>
          <p:cNvSpPr/>
          <p:nvPr/>
        </p:nvSpPr>
        <p:spPr>
          <a:xfrm>
            <a:off x="1920240" y="3813048"/>
            <a:ext cx="2267712" cy="329184"/>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Jan 2015–Dec 2021 (Train) | Jan 2022–Dec 2024 (Test)</a:t>
            </a:r>
            <a:endParaRPr lang="en-US" sz="1000" dirty="0"/>
          </a:p>
        </p:txBody>
      </p:sp>
      <p:sp>
        <p:nvSpPr>
          <p:cNvPr id="31" name="Shape 29"/>
          <p:cNvSpPr/>
          <p:nvPr/>
        </p:nvSpPr>
        <p:spPr>
          <a:xfrm>
            <a:off x="4617720" y="713232"/>
            <a:ext cx="4297680" cy="4069080"/>
          </a:xfrm>
          <a:prstGeom prst="rect">
            <a:avLst/>
          </a:prstGeom>
          <a:solidFill>
            <a:srgbClr val="EEF4FB"/>
          </a:solidFill>
          <a:ln/>
          <a:effectLst>
            <a:outerShdw blurRad="76200" dist="25400" dir="8100000" algn="bl" rotWithShape="0">
              <a:srgbClr val="000000">
                <a:alpha val="12000"/>
              </a:srgbClr>
            </a:outerShdw>
          </a:effectLst>
        </p:spPr>
      </p:sp>
      <p:sp>
        <p:nvSpPr>
          <p:cNvPr id="32" name="Shape 30"/>
          <p:cNvSpPr/>
          <p:nvPr/>
        </p:nvSpPr>
        <p:spPr>
          <a:xfrm>
            <a:off x="4617720" y="713232"/>
            <a:ext cx="4297680" cy="329184"/>
          </a:xfrm>
          <a:prstGeom prst="rect">
            <a:avLst/>
          </a:prstGeom>
          <a:solidFill>
            <a:srgbClr val="1B6CA8"/>
          </a:solidFill>
          <a:ln/>
        </p:spPr>
      </p:sp>
      <p:sp>
        <p:nvSpPr>
          <p:cNvPr id="33" name="Text 31"/>
          <p:cNvSpPr/>
          <p:nvPr/>
        </p:nvSpPr>
        <p:spPr>
          <a:xfrm>
            <a:off x="4709160" y="731520"/>
            <a:ext cx="41148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 Cleaning &amp; Pre-processing Pipeline</a:t>
            </a:r>
            <a:endParaRPr lang="en-US" sz="1100" dirty="0"/>
          </a:p>
        </p:txBody>
      </p:sp>
      <p:sp>
        <p:nvSpPr>
          <p:cNvPr id="34" name="Shape 32"/>
          <p:cNvSpPr/>
          <p:nvPr/>
        </p:nvSpPr>
        <p:spPr>
          <a:xfrm>
            <a:off x="4709160" y="1115568"/>
            <a:ext cx="384048" cy="365760"/>
          </a:xfrm>
          <a:prstGeom prst="rect">
            <a:avLst/>
          </a:prstGeom>
          <a:solidFill>
            <a:srgbClr val="0D1B2A"/>
          </a:solidFill>
          <a:ln/>
        </p:spPr>
      </p:sp>
      <p:sp>
        <p:nvSpPr>
          <p:cNvPr id="35" name="Text 33"/>
          <p:cNvSpPr/>
          <p:nvPr/>
        </p:nvSpPr>
        <p:spPr>
          <a:xfrm>
            <a:off x="4709160" y="11155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34"/>
          <p:cNvSpPr/>
          <p:nvPr/>
        </p:nvSpPr>
        <p:spPr>
          <a:xfrm>
            <a:off x="5148072" y="11430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Missing Value Imputation</a:t>
            </a:r>
            <a:endParaRPr lang="en-US" sz="1000" dirty="0"/>
          </a:p>
        </p:txBody>
      </p:sp>
      <p:sp>
        <p:nvSpPr>
          <p:cNvPr id="37" name="Text 35"/>
          <p:cNvSpPr/>
          <p:nvPr/>
        </p:nvSpPr>
        <p:spPr>
          <a:xfrm>
            <a:off x="5148072" y="13350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Forward-fill missing prices (trading halts). Drop stocks with &gt;5% missing observations.</a:t>
            </a:r>
            <a:endParaRPr lang="en-US" sz="900" dirty="0"/>
          </a:p>
        </p:txBody>
      </p:sp>
      <p:sp>
        <p:nvSpPr>
          <p:cNvPr id="38" name="Shape 36"/>
          <p:cNvSpPr/>
          <p:nvPr/>
        </p:nvSpPr>
        <p:spPr>
          <a:xfrm>
            <a:off x="4709160" y="1572768"/>
            <a:ext cx="384048" cy="365760"/>
          </a:xfrm>
          <a:prstGeom prst="rect">
            <a:avLst/>
          </a:prstGeom>
          <a:solidFill>
            <a:srgbClr val="0D1B2A"/>
          </a:solidFill>
          <a:ln/>
        </p:spPr>
      </p:sp>
      <p:sp>
        <p:nvSpPr>
          <p:cNvPr id="39" name="Text 37"/>
          <p:cNvSpPr/>
          <p:nvPr/>
        </p:nvSpPr>
        <p:spPr>
          <a:xfrm>
            <a:off x="4709160" y="15727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Text 38"/>
          <p:cNvSpPr/>
          <p:nvPr/>
        </p:nvSpPr>
        <p:spPr>
          <a:xfrm>
            <a:off x="5148072" y="16002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Outlier Detection</a:t>
            </a:r>
            <a:endParaRPr lang="en-US" sz="1000" dirty="0"/>
          </a:p>
        </p:txBody>
      </p:sp>
      <p:sp>
        <p:nvSpPr>
          <p:cNvPr id="41" name="Text 39"/>
          <p:cNvSpPr/>
          <p:nvPr/>
        </p:nvSpPr>
        <p:spPr>
          <a:xfrm>
            <a:off x="5148072" y="17922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Flag returns |r_t| &gt; 3σ (rolling 60-day). Winsorise at 1st/99th percentile.</a:t>
            </a:r>
            <a:endParaRPr lang="en-US" sz="900" dirty="0"/>
          </a:p>
        </p:txBody>
      </p:sp>
      <p:sp>
        <p:nvSpPr>
          <p:cNvPr id="42" name="Shape 40"/>
          <p:cNvSpPr/>
          <p:nvPr/>
        </p:nvSpPr>
        <p:spPr>
          <a:xfrm>
            <a:off x="4709160" y="2029968"/>
            <a:ext cx="384048" cy="365760"/>
          </a:xfrm>
          <a:prstGeom prst="rect">
            <a:avLst/>
          </a:prstGeom>
          <a:solidFill>
            <a:srgbClr val="0D1B2A"/>
          </a:solidFill>
          <a:ln/>
        </p:spPr>
      </p:sp>
      <p:sp>
        <p:nvSpPr>
          <p:cNvPr id="43" name="Text 41"/>
          <p:cNvSpPr/>
          <p:nvPr/>
        </p:nvSpPr>
        <p:spPr>
          <a:xfrm>
            <a:off x="4709160" y="20299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Text 42"/>
          <p:cNvSpPr/>
          <p:nvPr/>
        </p:nvSpPr>
        <p:spPr>
          <a:xfrm>
            <a:off x="5148072" y="20574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Return Computation</a:t>
            </a:r>
            <a:endParaRPr lang="en-US" sz="1000" dirty="0"/>
          </a:p>
        </p:txBody>
      </p:sp>
      <p:sp>
        <p:nvSpPr>
          <p:cNvPr id="45" name="Text 43"/>
          <p:cNvSpPr/>
          <p:nvPr/>
        </p:nvSpPr>
        <p:spPr>
          <a:xfrm>
            <a:off x="5148072" y="22494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Compute daily log-returns: r_t = ln(P_t/P_{t-1}). Annualise: μ_annual = 252·μ_daily.</a:t>
            </a:r>
            <a:endParaRPr lang="en-US" sz="900" dirty="0"/>
          </a:p>
        </p:txBody>
      </p:sp>
      <p:sp>
        <p:nvSpPr>
          <p:cNvPr id="46" name="Shape 44"/>
          <p:cNvSpPr/>
          <p:nvPr/>
        </p:nvSpPr>
        <p:spPr>
          <a:xfrm>
            <a:off x="4709160" y="2487168"/>
            <a:ext cx="384048" cy="365760"/>
          </a:xfrm>
          <a:prstGeom prst="rect">
            <a:avLst/>
          </a:prstGeom>
          <a:solidFill>
            <a:srgbClr val="0D1B2A"/>
          </a:solidFill>
          <a:ln/>
        </p:spPr>
      </p:sp>
      <p:sp>
        <p:nvSpPr>
          <p:cNvPr id="47" name="Text 45"/>
          <p:cNvSpPr/>
          <p:nvPr/>
        </p:nvSpPr>
        <p:spPr>
          <a:xfrm>
            <a:off x="4709160" y="24871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8" name="Text 46"/>
          <p:cNvSpPr/>
          <p:nvPr/>
        </p:nvSpPr>
        <p:spPr>
          <a:xfrm>
            <a:off x="5148072" y="25146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Stationarity Test</a:t>
            </a:r>
            <a:endParaRPr lang="en-US" sz="1000" dirty="0"/>
          </a:p>
        </p:txBody>
      </p:sp>
      <p:sp>
        <p:nvSpPr>
          <p:cNvPr id="49" name="Text 47"/>
          <p:cNvSpPr/>
          <p:nvPr/>
        </p:nvSpPr>
        <p:spPr>
          <a:xfrm>
            <a:off x="5148072" y="27066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ADF and KPSS tests on return series. All assets pass (returns are stationary; prices are I(1)).</a:t>
            </a:r>
            <a:endParaRPr lang="en-US" sz="900" dirty="0"/>
          </a:p>
        </p:txBody>
      </p:sp>
      <p:sp>
        <p:nvSpPr>
          <p:cNvPr id="50" name="Shape 48"/>
          <p:cNvSpPr/>
          <p:nvPr/>
        </p:nvSpPr>
        <p:spPr>
          <a:xfrm>
            <a:off x="4709160" y="2944368"/>
            <a:ext cx="384048" cy="365760"/>
          </a:xfrm>
          <a:prstGeom prst="rect">
            <a:avLst/>
          </a:prstGeom>
          <a:solidFill>
            <a:srgbClr val="0D1B2A"/>
          </a:solidFill>
          <a:ln/>
        </p:spPr>
      </p:sp>
      <p:sp>
        <p:nvSpPr>
          <p:cNvPr id="51" name="Text 49"/>
          <p:cNvSpPr/>
          <p:nvPr/>
        </p:nvSpPr>
        <p:spPr>
          <a:xfrm>
            <a:off x="4709160" y="29443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2" name="Text 50"/>
          <p:cNvSpPr/>
          <p:nvPr/>
        </p:nvSpPr>
        <p:spPr>
          <a:xfrm>
            <a:off x="5148072" y="29718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Covariance Estimation</a:t>
            </a:r>
            <a:endParaRPr lang="en-US" sz="1000" dirty="0"/>
          </a:p>
        </p:txBody>
      </p:sp>
      <p:sp>
        <p:nvSpPr>
          <p:cNvPr id="53" name="Text 51"/>
          <p:cNvSpPr/>
          <p:nvPr/>
        </p:nvSpPr>
        <p:spPr>
          <a:xfrm>
            <a:off x="5148072" y="31638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Sample covariance, Ledoit-Wolf shrinkage, and DCC-GARCH dynamic estimates.</a:t>
            </a:r>
            <a:endParaRPr lang="en-US" sz="900" dirty="0"/>
          </a:p>
        </p:txBody>
      </p:sp>
      <p:sp>
        <p:nvSpPr>
          <p:cNvPr id="54" name="Shape 52"/>
          <p:cNvSpPr/>
          <p:nvPr/>
        </p:nvSpPr>
        <p:spPr>
          <a:xfrm>
            <a:off x="4709160" y="3401568"/>
            <a:ext cx="384048" cy="365760"/>
          </a:xfrm>
          <a:prstGeom prst="rect">
            <a:avLst/>
          </a:prstGeom>
          <a:solidFill>
            <a:srgbClr val="0D1B2A"/>
          </a:solidFill>
          <a:ln/>
        </p:spPr>
      </p:sp>
      <p:sp>
        <p:nvSpPr>
          <p:cNvPr id="55" name="Text 53"/>
          <p:cNvSpPr/>
          <p:nvPr/>
        </p:nvSpPr>
        <p:spPr>
          <a:xfrm>
            <a:off x="4709160" y="3401568"/>
            <a:ext cx="384048"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6" name="Text 54"/>
          <p:cNvSpPr/>
          <p:nvPr/>
        </p:nvSpPr>
        <p:spPr>
          <a:xfrm>
            <a:off x="5148072" y="3429000"/>
            <a:ext cx="3694176" cy="182880"/>
          </a:xfrm>
          <a:prstGeom prst="rect">
            <a:avLst/>
          </a:prstGeom>
          <a:noFill/>
          <a:ln/>
        </p:spPr>
        <p:txBody>
          <a:bodyPr wrap="square" lIns="0" tIns="0" rIns="0" bIns="0" rtlCol="0" anchor="ctr"/>
          <a:lstStyle/>
          <a:p>
            <a:pPr marL="0" indent="0">
              <a:buNone/>
            </a:pPr>
            <a:r>
              <a:rPr lang="en-US" sz="1000" b="1" dirty="0">
                <a:solidFill>
                  <a:srgbClr val="0D1B2A"/>
                </a:solidFill>
                <a:latin typeface="Calibri" pitchFamily="34" charset="0"/>
                <a:ea typeface="Calibri" pitchFamily="34" charset="-122"/>
                <a:cs typeface="Calibri" pitchFamily="34" charset="-120"/>
              </a:rPr>
              <a:t>Feature Engineering (for LR)</a:t>
            </a:r>
            <a:endParaRPr lang="en-US" sz="1000" dirty="0"/>
          </a:p>
        </p:txBody>
      </p:sp>
      <p:sp>
        <p:nvSpPr>
          <p:cNvPr id="57" name="Text 55"/>
          <p:cNvSpPr/>
          <p:nvPr/>
        </p:nvSpPr>
        <p:spPr>
          <a:xfrm>
            <a:off x="5148072" y="3621024"/>
            <a:ext cx="3694176" cy="201168"/>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Construct 20+ features: 5/21/63-day returns, RSI, Bollinger %B, sector dummies.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MVO Results — Efficient Frontier (Real Data)</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47472"/>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Efficient frontier computed from sample covariance matrix using 30 NSE stocks (2015–2021 training period). Constraint: weights ≥ 0, Σw = 1.</a:t>
            </a:r>
            <a:endParaRPr lang="en-US" sz="1150" dirty="0"/>
          </a:p>
        </p:txBody>
      </p:sp>
      <p:sp>
        <p:nvSpPr>
          <p:cNvPr id="8" name="Shape 6"/>
          <p:cNvSpPr/>
          <p:nvPr/>
        </p:nvSpPr>
        <p:spPr>
          <a:xfrm>
            <a:off x="182880" y="1115568"/>
            <a:ext cx="5029200" cy="3657600"/>
          </a:xfrm>
          <a:prstGeom prst="rect">
            <a:avLst/>
          </a:prstGeom>
          <a:solidFill>
            <a:srgbClr val="F0F4F8"/>
          </a:solidFill>
          <a:ln/>
        </p:spPr>
      </p:sp>
      <p:sp>
        <p:nvSpPr>
          <p:cNvPr id="9" name="Shape 7"/>
          <p:cNvSpPr/>
          <p:nvPr/>
        </p:nvSpPr>
        <p:spPr>
          <a:xfrm>
            <a:off x="548640" y="4480560"/>
            <a:ext cx="4480560" cy="0"/>
          </a:xfrm>
          <a:prstGeom prst="line">
            <a:avLst/>
          </a:prstGeom>
          <a:noFill/>
          <a:ln w="19050">
            <a:solidFill>
              <a:srgbClr val="0D1B2A"/>
            </a:solidFill>
            <a:prstDash val="solid"/>
          </a:ln>
        </p:spPr>
      </p:sp>
      <p:sp>
        <p:nvSpPr>
          <p:cNvPr id="10" name="Shape 8"/>
          <p:cNvSpPr/>
          <p:nvPr/>
        </p:nvSpPr>
        <p:spPr>
          <a:xfrm>
            <a:off x="548640" y="1188720"/>
            <a:ext cx="0" cy="3291840"/>
          </a:xfrm>
          <a:prstGeom prst="line">
            <a:avLst/>
          </a:prstGeom>
          <a:noFill/>
          <a:ln w="19050">
            <a:solidFill>
              <a:srgbClr val="0D1B2A"/>
            </a:solidFill>
            <a:prstDash val="solid"/>
          </a:ln>
        </p:spPr>
      </p:sp>
      <p:sp>
        <p:nvSpPr>
          <p:cNvPr id="11" name="Text 9"/>
          <p:cNvSpPr/>
          <p:nvPr/>
        </p:nvSpPr>
        <p:spPr>
          <a:xfrm>
            <a:off x="2011680" y="4590288"/>
            <a:ext cx="2743200" cy="201168"/>
          </a:xfrm>
          <a:prstGeom prst="rect">
            <a:avLst/>
          </a:prstGeom>
          <a:noFill/>
          <a:ln/>
        </p:spPr>
        <p:txBody>
          <a:bodyPr wrap="square" lIns="0" tIns="0" rIns="0" bIns="0" rtlCol="0" anchor="ctr"/>
          <a:lstStyle/>
          <a:p>
            <a:pPr marL="0" indent="0" algn="ctr">
              <a:buNone/>
            </a:pPr>
            <a:r>
              <a:rPr lang="en-US" sz="950" dirty="0">
                <a:solidFill>
                  <a:srgbClr val="0D1B2A"/>
                </a:solidFill>
                <a:latin typeface="Calibri" pitchFamily="34" charset="0"/>
                <a:ea typeface="Calibri" pitchFamily="34" charset="-122"/>
                <a:cs typeface="Calibri" pitchFamily="34" charset="-120"/>
              </a:rPr>
              <a:t>Annual Volatility σ_p (%)</a:t>
            </a:r>
            <a:endParaRPr lang="en-US" sz="950" dirty="0"/>
          </a:p>
        </p:txBody>
      </p:sp>
      <p:sp>
        <p:nvSpPr>
          <p:cNvPr id="12" name="Text 10"/>
          <p:cNvSpPr/>
          <p:nvPr/>
        </p:nvSpPr>
        <p:spPr>
          <a:xfrm>
            <a:off x="182880" y="1188720"/>
            <a:ext cx="384048" cy="45720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E[R_p]</a:t>
            </a:r>
            <a:endParaRPr lang="en-US" sz="950" dirty="0"/>
          </a:p>
          <a:p>
            <a:pPr marL="0" indent="0">
              <a:buNone/>
            </a:pPr>
            <a:r>
              <a:rPr lang="en-US" sz="950" dirty="0">
                <a:solidFill>
                  <a:srgbClr val="0D1B2A"/>
                </a:solidFill>
                <a:latin typeface="Calibri" pitchFamily="34" charset="0"/>
                <a:ea typeface="Calibri" pitchFamily="34" charset="-122"/>
                <a:cs typeface="Calibri" pitchFamily="34" charset="-120"/>
              </a:rPr>
              <a:t>(%)</a:t>
            </a:r>
            <a:endParaRPr lang="en-US" sz="950" dirty="0"/>
          </a:p>
        </p:txBody>
      </p:sp>
      <p:sp>
        <p:nvSpPr>
          <p:cNvPr id="13" name="Shape 11"/>
          <p:cNvSpPr/>
          <p:nvPr/>
        </p:nvSpPr>
        <p:spPr>
          <a:xfrm>
            <a:off x="548640" y="1664208"/>
            <a:ext cx="4480560" cy="0"/>
          </a:xfrm>
          <a:prstGeom prst="line">
            <a:avLst/>
          </a:prstGeom>
          <a:noFill/>
          <a:ln w="6350">
            <a:solidFill>
              <a:srgbClr val="D6E0EA"/>
            </a:solidFill>
            <a:prstDash val="dash"/>
          </a:ln>
        </p:spPr>
      </p:sp>
      <p:sp>
        <p:nvSpPr>
          <p:cNvPr id="14" name="Shape 12"/>
          <p:cNvSpPr/>
          <p:nvPr/>
        </p:nvSpPr>
        <p:spPr>
          <a:xfrm>
            <a:off x="548640" y="2231136"/>
            <a:ext cx="4480560" cy="0"/>
          </a:xfrm>
          <a:prstGeom prst="line">
            <a:avLst/>
          </a:prstGeom>
          <a:noFill/>
          <a:ln w="6350">
            <a:solidFill>
              <a:srgbClr val="D6E0EA"/>
            </a:solidFill>
            <a:prstDash val="dash"/>
          </a:ln>
        </p:spPr>
      </p:sp>
      <p:sp>
        <p:nvSpPr>
          <p:cNvPr id="15" name="Shape 13"/>
          <p:cNvSpPr/>
          <p:nvPr/>
        </p:nvSpPr>
        <p:spPr>
          <a:xfrm>
            <a:off x="548640" y="2798064"/>
            <a:ext cx="4480560" cy="0"/>
          </a:xfrm>
          <a:prstGeom prst="line">
            <a:avLst/>
          </a:prstGeom>
          <a:noFill/>
          <a:ln w="6350">
            <a:solidFill>
              <a:srgbClr val="D6E0EA"/>
            </a:solidFill>
            <a:prstDash val="dash"/>
          </a:ln>
        </p:spPr>
      </p:sp>
      <p:sp>
        <p:nvSpPr>
          <p:cNvPr id="16" name="Shape 14"/>
          <p:cNvSpPr/>
          <p:nvPr/>
        </p:nvSpPr>
        <p:spPr>
          <a:xfrm>
            <a:off x="548640" y="3364992"/>
            <a:ext cx="4480560" cy="0"/>
          </a:xfrm>
          <a:prstGeom prst="line">
            <a:avLst/>
          </a:prstGeom>
          <a:noFill/>
          <a:ln w="6350">
            <a:solidFill>
              <a:srgbClr val="D6E0EA"/>
            </a:solidFill>
            <a:prstDash val="dash"/>
          </a:ln>
        </p:spPr>
      </p:sp>
      <p:sp>
        <p:nvSpPr>
          <p:cNvPr id="17" name="Shape 15"/>
          <p:cNvSpPr/>
          <p:nvPr/>
        </p:nvSpPr>
        <p:spPr>
          <a:xfrm>
            <a:off x="548640" y="3931920"/>
            <a:ext cx="4480560" cy="0"/>
          </a:xfrm>
          <a:prstGeom prst="line">
            <a:avLst/>
          </a:prstGeom>
          <a:noFill/>
          <a:ln w="6350">
            <a:solidFill>
              <a:srgbClr val="D6E0EA"/>
            </a:solidFill>
            <a:prstDash val="dash"/>
          </a:ln>
        </p:spPr>
      </p:sp>
      <p:sp>
        <p:nvSpPr>
          <p:cNvPr id="18" name="Text 16"/>
          <p:cNvSpPr/>
          <p:nvPr/>
        </p:nvSpPr>
        <p:spPr>
          <a:xfrm>
            <a:off x="274320" y="1481328"/>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22</a:t>
            </a:r>
            <a:endParaRPr lang="en-US" sz="800" dirty="0"/>
          </a:p>
        </p:txBody>
      </p:sp>
      <p:sp>
        <p:nvSpPr>
          <p:cNvPr id="19" name="Text 17"/>
          <p:cNvSpPr/>
          <p:nvPr/>
        </p:nvSpPr>
        <p:spPr>
          <a:xfrm>
            <a:off x="274320" y="1956816"/>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18</a:t>
            </a:r>
            <a:endParaRPr lang="en-US" sz="800" dirty="0"/>
          </a:p>
        </p:txBody>
      </p:sp>
      <p:sp>
        <p:nvSpPr>
          <p:cNvPr id="20" name="Text 18"/>
          <p:cNvSpPr/>
          <p:nvPr/>
        </p:nvSpPr>
        <p:spPr>
          <a:xfrm>
            <a:off x="274320" y="2432304"/>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14</a:t>
            </a:r>
            <a:endParaRPr lang="en-US" sz="800" dirty="0"/>
          </a:p>
        </p:txBody>
      </p:sp>
      <p:sp>
        <p:nvSpPr>
          <p:cNvPr id="21" name="Text 19"/>
          <p:cNvSpPr/>
          <p:nvPr/>
        </p:nvSpPr>
        <p:spPr>
          <a:xfrm>
            <a:off x="274320" y="2907792"/>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10</a:t>
            </a:r>
            <a:endParaRPr lang="en-US" sz="800" dirty="0"/>
          </a:p>
        </p:txBody>
      </p:sp>
      <p:sp>
        <p:nvSpPr>
          <p:cNvPr id="22" name="Text 20"/>
          <p:cNvSpPr/>
          <p:nvPr/>
        </p:nvSpPr>
        <p:spPr>
          <a:xfrm>
            <a:off x="274320" y="3383280"/>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6</a:t>
            </a:r>
            <a:endParaRPr lang="en-US" sz="800" dirty="0"/>
          </a:p>
        </p:txBody>
      </p:sp>
      <p:sp>
        <p:nvSpPr>
          <p:cNvPr id="23" name="Text 21"/>
          <p:cNvSpPr/>
          <p:nvPr/>
        </p:nvSpPr>
        <p:spPr>
          <a:xfrm>
            <a:off x="274320" y="3858768"/>
            <a:ext cx="256032" cy="201168"/>
          </a:xfrm>
          <a:prstGeom prst="rect">
            <a:avLst/>
          </a:prstGeom>
          <a:noFill/>
          <a:ln/>
        </p:spPr>
        <p:txBody>
          <a:bodyPr wrap="square" lIns="0" tIns="0" rIns="0" bIns="0" rtlCol="0" anchor="ctr"/>
          <a:lstStyle/>
          <a:p>
            <a:pPr marL="0" indent="0" algn="r">
              <a:buNone/>
            </a:pPr>
            <a:r>
              <a:rPr lang="en-US" sz="800" dirty="0">
                <a:solidFill>
                  <a:srgbClr val="0D1B2A"/>
                </a:solidFill>
                <a:latin typeface="Calibri" pitchFamily="34" charset="0"/>
                <a:ea typeface="Calibri" pitchFamily="34" charset="-122"/>
                <a:cs typeface="Calibri" pitchFamily="34" charset="-120"/>
              </a:rPr>
              <a:t>2</a:t>
            </a:r>
            <a:endParaRPr lang="en-US" sz="800" dirty="0"/>
          </a:p>
        </p:txBody>
      </p:sp>
      <p:sp>
        <p:nvSpPr>
          <p:cNvPr id="24" name="Text 22"/>
          <p:cNvSpPr/>
          <p:nvPr/>
        </p:nvSpPr>
        <p:spPr>
          <a:xfrm>
            <a:off x="658368"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8</a:t>
            </a:r>
            <a:endParaRPr lang="en-US" sz="800" dirty="0"/>
          </a:p>
        </p:txBody>
      </p:sp>
      <p:sp>
        <p:nvSpPr>
          <p:cNvPr id="25" name="Text 23"/>
          <p:cNvSpPr/>
          <p:nvPr/>
        </p:nvSpPr>
        <p:spPr>
          <a:xfrm>
            <a:off x="1225296"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12</a:t>
            </a:r>
            <a:endParaRPr lang="en-US" sz="800" dirty="0"/>
          </a:p>
        </p:txBody>
      </p:sp>
      <p:sp>
        <p:nvSpPr>
          <p:cNvPr id="26" name="Text 24"/>
          <p:cNvSpPr/>
          <p:nvPr/>
        </p:nvSpPr>
        <p:spPr>
          <a:xfrm>
            <a:off x="1792224"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16</a:t>
            </a:r>
            <a:endParaRPr lang="en-US" sz="800" dirty="0"/>
          </a:p>
        </p:txBody>
      </p:sp>
      <p:sp>
        <p:nvSpPr>
          <p:cNvPr id="27" name="Text 25"/>
          <p:cNvSpPr/>
          <p:nvPr/>
        </p:nvSpPr>
        <p:spPr>
          <a:xfrm>
            <a:off x="2359152"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20</a:t>
            </a:r>
            <a:endParaRPr lang="en-US" sz="800" dirty="0"/>
          </a:p>
        </p:txBody>
      </p:sp>
      <p:sp>
        <p:nvSpPr>
          <p:cNvPr id="28" name="Text 26"/>
          <p:cNvSpPr/>
          <p:nvPr/>
        </p:nvSpPr>
        <p:spPr>
          <a:xfrm>
            <a:off x="2926080"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24</a:t>
            </a:r>
            <a:endParaRPr lang="en-US" sz="800" dirty="0"/>
          </a:p>
        </p:txBody>
      </p:sp>
      <p:sp>
        <p:nvSpPr>
          <p:cNvPr id="29" name="Text 27"/>
          <p:cNvSpPr/>
          <p:nvPr/>
        </p:nvSpPr>
        <p:spPr>
          <a:xfrm>
            <a:off x="3493008"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28</a:t>
            </a:r>
            <a:endParaRPr lang="en-US" sz="800" dirty="0"/>
          </a:p>
        </p:txBody>
      </p:sp>
      <p:sp>
        <p:nvSpPr>
          <p:cNvPr id="30" name="Text 28"/>
          <p:cNvSpPr/>
          <p:nvPr/>
        </p:nvSpPr>
        <p:spPr>
          <a:xfrm>
            <a:off x="4059936" y="4517136"/>
            <a:ext cx="320040" cy="164592"/>
          </a:xfrm>
          <a:prstGeom prst="rect">
            <a:avLst/>
          </a:prstGeom>
          <a:noFill/>
          <a:ln/>
        </p:spPr>
        <p:txBody>
          <a:bodyPr wrap="square" lIns="0" tIns="0" rIns="0" bIns="0" rtlCol="0" anchor="ctr"/>
          <a:lstStyle/>
          <a:p>
            <a:pPr marL="0" indent="0" algn="ctr">
              <a:buNone/>
            </a:pPr>
            <a:r>
              <a:rPr lang="en-US" sz="800" dirty="0">
                <a:solidFill>
                  <a:srgbClr val="0D1B2A"/>
                </a:solidFill>
                <a:latin typeface="Calibri" pitchFamily="34" charset="0"/>
                <a:ea typeface="Calibri" pitchFamily="34" charset="-122"/>
                <a:cs typeface="Calibri" pitchFamily="34" charset="-120"/>
              </a:rPr>
              <a:t>32</a:t>
            </a:r>
            <a:endParaRPr lang="en-US" sz="800" dirty="0"/>
          </a:p>
        </p:txBody>
      </p:sp>
      <p:sp>
        <p:nvSpPr>
          <p:cNvPr id="31" name="Shape 29"/>
          <p:cNvSpPr/>
          <p:nvPr/>
        </p:nvSpPr>
        <p:spPr>
          <a:xfrm>
            <a:off x="804672" y="4005072"/>
            <a:ext cx="182880" cy="0"/>
          </a:xfrm>
          <a:prstGeom prst="line">
            <a:avLst/>
          </a:prstGeom>
          <a:noFill/>
          <a:ln w="38100">
            <a:solidFill>
              <a:srgbClr val="1B6CA8"/>
            </a:solidFill>
            <a:prstDash val="solid"/>
          </a:ln>
        </p:spPr>
      </p:sp>
      <p:sp>
        <p:nvSpPr>
          <p:cNvPr id="32" name="Shape 30"/>
          <p:cNvSpPr/>
          <p:nvPr/>
        </p:nvSpPr>
        <p:spPr>
          <a:xfrm>
            <a:off x="987552" y="3547872"/>
            <a:ext cx="274320" cy="0"/>
          </a:xfrm>
          <a:prstGeom prst="line">
            <a:avLst/>
          </a:prstGeom>
          <a:noFill/>
          <a:ln w="38100">
            <a:solidFill>
              <a:srgbClr val="1B6CA8"/>
            </a:solidFill>
            <a:prstDash val="solid"/>
          </a:ln>
        </p:spPr>
      </p:sp>
      <p:sp>
        <p:nvSpPr>
          <p:cNvPr id="33" name="Shape 31"/>
          <p:cNvSpPr/>
          <p:nvPr/>
        </p:nvSpPr>
        <p:spPr>
          <a:xfrm>
            <a:off x="1261872" y="3017520"/>
            <a:ext cx="338328" cy="0"/>
          </a:xfrm>
          <a:prstGeom prst="line">
            <a:avLst/>
          </a:prstGeom>
          <a:noFill/>
          <a:ln w="38100">
            <a:solidFill>
              <a:srgbClr val="1B6CA8"/>
            </a:solidFill>
            <a:prstDash val="solid"/>
          </a:ln>
        </p:spPr>
      </p:sp>
      <p:sp>
        <p:nvSpPr>
          <p:cNvPr id="34" name="Shape 32"/>
          <p:cNvSpPr/>
          <p:nvPr/>
        </p:nvSpPr>
        <p:spPr>
          <a:xfrm>
            <a:off x="1600200" y="2560320"/>
            <a:ext cx="393192" cy="0"/>
          </a:xfrm>
          <a:prstGeom prst="line">
            <a:avLst/>
          </a:prstGeom>
          <a:noFill/>
          <a:ln w="38100">
            <a:solidFill>
              <a:srgbClr val="1B6CA8"/>
            </a:solidFill>
            <a:prstDash val="solid"/>
          </a:ln>
        </p:spPr>
      </p:sp>
      <p:sp>
        <p:nvSpPr>
          <p:cNvPr id="35" name="Shape 33"/>
          <p:cNvSpPr/>
          <p:nvPr/>
        </p:nvSpPr>
        <p:spPr>
          <a:xfrm>
            <a:off x="1993392" y="2240280"/>
            <a:ext cx="457200" cy="0"/>
          </a:xfrm>
          <a:prstGeom prst="line">
            <a:avLst/>
          </a:prstGeom>
          <a:noFill/>
          <a:ln w="38100">
            <a:solidFill>
              <a:srgbClr val="1B6CA8"/>
            </a:solidFill>
            <a:prstDash val="solid"/>
          </a:ln>
        </p:spPr>
      </p:sp>
      <p:sp>
        <p:nvSpPr>
          <p:cNvPr id="36" name="Shape 34"/>
          <p:cNvSpPr/>
          <p:nvPr/>
        </p:nvSpPr>
        <p:spPr>
          <a:xfrm>
            <a:off x="2450592" y="2029968"/>
            <a:ext cx="457200" cy="0"/>
          </a:xfrm>
          <a:prstGeom prst="line">
            <a:avLst/>
          </a:prstGeom>
          <a:noFill/>
          <a:ln w="38100">
            <a:solidFill>
              <a:srgbClr val="1B6CA8"/>
            </a:solidFill>
            <a:prstDash val="solid"/>
          </a:ln>
        </p:spPr>
      </p:sp>
      <p:sp>
        <p:nvSpPr>
          <p:cNvPr id="37" name="Shape 35"/>
          <p:cNvSpPr/>
          <p:nvPr/>
        </p:nvSpPr>
        <p:spPr>
          <a:xfrm>
            <a:off x="2907792" y="1993392"/>
            <a:ext cx="457200" cy="109728"/>
          </a:xfrm>
          <a:prstGeom prst="line">
            <a:avLst/>
          </a:prstGeom>
          <a:noFill/>
          <a:ln w="38100">
            <a:solidFill>
              <a:srgbClr val="1B6CA8"/>
            </a:solidFill>
            <a:prstDash val="solid"/>
          </a:ln>
        </p:spPr>
      </p:sp>
      <p:sp>
        <p:nvSpPr>
          <p:cNvPr id="38" name="Shape 36"/>
          <p:cNvSpPr/>
          <p:nvPr/>
        </p:nvSpPr>
        <p:spPr>
          <a:xfrm>
            <a:off x="3364992" y="2103120"/>
            <a:ext cx="457200" cy="256032"/>
          </a:xfrm>
          <a:prstGeom prst="line">
            <a:avLst/>
          </a:prstGeom>
          <a:noFill/>
          <a:ln w="38100">
            <a:solidFill>
              <a:srgbClr val="1B6CA8"/>
            </a:solidFill>
            <a:prstDash val="solid"/>
          </a:ln>
        </p:spPr>
      </p:sp>
      <p:sp>
        <p:nvSpPr>
          <p:cNvPr id="39" name="Shape 37"/>
          <p:cNvSpPr/>
          <p:nvPr/>
        </p:nvSpPr>
        <p:spPr>
          <a:xfrm>
            <a:off x="3822192" y="2359152"/>
            <a:ext cx="402336" cy="365760"/>
          </a:xfrm>
          <a:prstGeom prst="line">
            <a:avLst/>
          </a:prstGeom>
          <a:noFill/>
          <a:ln w="38100">
            <a:solidFill>
              <a:srgbClr val="1B6CA8"/>
            </a:solidFill>
            <a:prstDash val="solid"/>
          </a:ln>
        </p:spPr>
      </p:sp>
      <p:sp>
        <p:nvSpPr>
          <p:cNvPr id="40" name="Shape 38"/>
          <p:cNvSpPr/>
          <p:nvPr/>
        </p:nvSpPr>
        <p:spPr>
          <a:xfrm>
            <a:off x="2834640" y="1920240"/>
            <a:ext cx="182880" cy="182880"/>
          </a:xfrm>
          <a:prstGeom prst="ellipse">
            <a:avLst/>
          </a:prstGeom>
          <a:solidFill>
            <a:srgbClr val="0D1B2A"/>
          </a:solidFill>
          <a:ln/>
        </p:spPr>
      </p:sp>
      <p:sp>
        <p:nvSpPr>
          <p:cNvPr id="41" name="Text 39"/>
          <p:cNvSpPr/>
          <p:nvPr/>
        </p:nvSpPr>
        <p:spPr>
          <a:xfrm>
            <a:off x="3054096" y="1901952"/>
            <a:ext cx="502920" cy="201168"/>
          </a:xfrm>
          <a:prstGeom prst="rect">
            <a:avLst/>
          </a:prstGeom>
          <a:noFill/>
          <a:ln/>
        </p:spPr>
        <p:txBody>
          <a:bodyPr wrap="square" lIns="0" tIns="0" rIns="0" bIns="0" rtlCol="0" anchor="ctr"/>
          <a:lstStyle/>
          <a:p>
            <a:pPr marL="0" indent="0">
              <a:buNone/>
            </a:pPr>
            <a:r>
              <a:rPr lang="en-US" sz="900" b="1" dirty="0">
                <a:solidFill>
                  <a:srgbClr val="0D1B2A"/>
                </a:solidFill>
                <a:latin typeface="Calibri" pitchFamily="34" charset="0"/>
                <a:ea typeface="Calibri" pitchFamily="34" charset="-122"/>
                <a:cs typeface="Calibri" pitchFamily="34" charset="-120"/>
              </a:rPr>
              <a:t>MVP</a:t>
            </a:r>
            <a:endParaRPr lang="en-US" sz="900" dirty="0"/>
          </a:p>
        </p:txBody>
      </p:sp>
      <p:sp>
        <p:nvSpPr>
          <p:cNvPr id="42" name="Shape 40"/>
          <p:cNvSpPr/>
          <p:nvPr/>
        </p:nvSpPr>
        <p:spPr>
          <a:xfrm>
            <a:off x="1792224" y="2167128"/>
            <a:ext cx="201168" cy="201168"/>
          </a:xfrm>
          <a:prstGeom prst="ellipse">
            <a:avLst/>
          </a:prstGeom>
          <a:solidFill>
            <a:srgbClr val="1E8449"/>
          </a:solidFill>
          <a:ln/>
        </p:spPr>
      </p:sp>
      <p:sp>
        <p:nvSpPr>
          <p:cNvPr id="43" name="Text 41"/>
          <p:cNvSpPr/>
          <p:nvPr/>
        </p:nvSpPr>
        <p:spPr>
          <a:xfrm>
            <a:off x="2011680" y="2148840"/>
            <a:ext cx="822960" cy="201168"/>
          </a:xfrm>
          <a:prstGeom prst="rect">
            <a:avLst/>
          </a:prstGeom>
          <a:noFill/>
          <a:ln/>
        </p:spPr>
        <p:txBody>
          <a:bodyPr wrap="square" lIns="0" tIns="0" rIns="0" bIns="0" rtlCol="0" anchor="ctr"/>
          <a:lstStyle/>
          <a:p>
            <a:pPr marL="0" indent="0">
              <a:buNone/>
            </a:pPr>
            <a:r>
              <a:rPr lang="en-US" sz="900" b="1" dirty="0">
                <a:solidFill>
                  <a:srgbClr val="1E8449"/>
                </a:solidFill>
                <a:latin typeface="Calibri" pitchFamily="34" charset="0"/>
                <a:ea typeface="Calibri" pitchFamily="34" charset="-122"/>
                <a:cs typeface="Calibri" pitchFamily="34" charset="-120"/>
              </a:rPr>
              <a:t>Tangency</a:t>
            </a:r>
            <a:endParaRPr lang="en-US" sz="900" dirty="0"/>
          </a:p>
        </p:txBody>
      </p:sp>
      <p:sp>
        <p:nvSpPr>
          <p:cNvPr id="44" name="Shape 42"/>
          <p:cNvSpPr/>
          <p:nvPr/>
        </p:nvSpPr>
        <p:spPr>
          <a:xfrm>
            <a:off x="3310128" y="2423160"/>
            <a:ext cx="201168" cy="201168"/>
          </a:xfrm>
          <a:prstGeom prst="ellipse">
            <a:avLst/>
          </a:prstGeom>
          <a:solidFill>
            <a:srgbClr val="C0392B"/>
          </a:solidFill>
          <a:ln/>
        </p:spPr>
      </p:sp>
      <p:sp>
        <p:nvSpPr>
          <p:cNvPr id="45" name="Text 43"/>
          <p:cNvSpPr/>
          <p:nvPr/>
        </p:nvSpPr>
        <p:spPr>
          <a:xfrm>
            <a:off x="3529584" y="2404872"/>
            <a:ext cx="777240" cy="201168"/>
          </a:xfrm>
          <a:prstGeom prst="rect">
            <a:avLst/>
          </a:prstGeom>
          <a:noFill/>
          <a:ln/>
        </p:spPr>
        <p:txBody>
          <a:bodyPr wrap="square" lIns="0" tIns="0" rIns="0" bIns="0"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Equal Wt.</a:t>
            </a:r>
            <a:endParaRPr lang="en-US" sz="900" dirty="0"/>
          </a:p>
        </p:txBody>
      </p:sp>
      <p:sp>
        <p:nvSpPr>
          <p:cNvPr id="46" name="Shape 44"/>
          <p:cNvSpPr/>
          <p:nvPr/>
        </p:nvSpPr>
        <p:spPr>
          <a:xfrm>
            <a:off x="475488" y="3950208"/>
            <a:ext cx="146304" cy="146304"/>
          </a:xfrm>
          <a:prstGeom prst="ellipse">
            <a:avLst/>
          </a:prstGeom>
          <a:solidFill>
            <a:srgbClr val="C8963E"/>
          </a:solidFill>
          <a:ln/>
        </p:spPr>
      </p:sp>
      <p:sp>
        <p:nvSpPr>
          <p:cNvPr id="47" name="Shape 45"/>
          <p:cNvSpPr/>
          <p:nvPr/>
        </p:nvSpPr>
        <p:spPr>
          <a:xfrm>
            <a:off x="548640" y="4023360"/>
            <a:ext cx="1481328" cy="0"/>
          </a:xfrm>
          <a:prstGeom prst="line">
            <a:avLst/>
          </a:prstGeom>
          <a:noFill/>
          <a:ln w="19050">
            <a:solidFill>
              <a:srgbClr val="C8963E"/>
            </a:solidFill>
            <a:prstDash val="dash"/>
          </a:ln>
        </p:spPr>
      </p:sp>
      <p:sp>
        <p:nvSpPr>
          <p:cNvPr id="48" name="Text 46"/>
          <p:cNvSpPr/>
          <p:nvPr/>
        </p:nvSpPr>
        <p:spPr>
          <a:xfrm>
            <a:off x="1609344" y="2075688"/>
            <a:ext cx="457200" cy="201168"/>
          </a:xfrm>
          <a:prstGeom prst="rect">
            <a:avLst/>
          </a:prstGeom>
          <a:noFill/>
          <a:ln/>
        </p:spPr>
        <p:txBody>
          <a:bodyPr wrap="square" lIns="0" tIns="0" rIns="0" bIns="0" rtlCol="0" anchor="ctr"/>
          <a:lstStyle/>
          <a:p>
            <a:pPr marL="0" indent="0">
              <a:buNone/>
            </a:pPr>
            <a:r>
              <a:rPr lang="en-US" sz="900" b="1" dirty="0">
                <a:solidFill>
                  <a:srgbClr val="C8963E"/>
                </a:solidFill>
                <a:latin typeface="Calibri" pitchFamily="34" charset="0"/>
                <a:ea typeface="Calibri" pitchFamily="34" charset="-122"/>
                <a:cs typeface="Calibri" pitchFamily="34" charset="-120"/>
              </a:rPr>
              <a:t>CML</a:t>
            </a:r>
            <a:endParaRPr lang="en-US" sz="900" dirty="0"/>
          </a:p>
        </p:txBody>
      </p:sp>
      <p:sp>
        <p:nvSpPr>
          <p:cNvPr id="49" name="Shape 47"/>
          <p:cNvSpPr/>
          <p:nvPr/>
        </p:nvSpPr>
        <p:spPr>
          <a:xfrm>
            <a:off x="4114800" y="2578608"/>
            <a:ext cx="91440" cy="91440"/>
          </a:xfrm>
          <a:prstGeom prst="ellipse">
            <a:avLst/>
          </a:prstGeom>
          <a:solidFill>
            <a:srgbClr val="D6E0EA">
              <a:alpha val="80000"/>
            </a:srgbClr>
          </a:solidFill>
          <a:ln/>
        </p:spPr>
      </p:sp>
      <p:sp>
        <p:nvSpPr>
          <p:cNvPr id="50" name="Shape 48"/>
          <p:cNvSpPr/>
          <p:nvPr/>
        </p:nvSpPr>
        <p:spPr>
          <a:xfrm>
            <a:off x="4572000" y="2880360"/>
            <a:ext cx="91440" cy="91440"/>
          </a:xfrm>
          <a:prstGeom prst="ellipse">
            <a:avLst/>
          </a:prstGeom>
          <a:solidFill>
            <a:srgbClr val="D6E0EA">
              <a:alpha val="80000"/>
            </a:srgbClr>
          </a:solidFill>
          <a:ln/>
        </p:spPr>
      </p:sp>
      <p:sp>
        <p:nvSpPr>
          <p:cNvPr id="51" name="Shape 49"/>
          <p:cNvSpPr/>
          <p:nvPr/>
        </p:nvSpPr>
        <p:spPr>
          <a:xfrm>
            <a:off x="3474720" y="3127248"/>
            <a:ext cx="91440" cy="91440"/>
          </a:xfrm>
          <a:prstGeom prst="ellipse">
            <a:avLst/>
          </a:prstGeom>
          <a:solidFill>
            <a:srgbClr val="D6E0EA">
              <a:alpha val="80000"/>
            </a:srgbClr>
          </a:solidFill>
          <a:ln/>
        </p:spPr>
      </p:sp>
      <p:sp>
        <p:nvSpPr>
          <p:cNvPr id="52" name="Shape 50"/>
          <p:cNvSpPr/>
          <p:nvPr/>
        </p:nvSpPr>
        <p:spPr>
          <a:xfrm>
            <a:off x="3840480" y="2286000"/>
            <a:ext cx="91440" cy="91440"/>
          </a:xfrm>
          <a:prstGeom prst="ellipse">
            <a:avLst/>
          </a:prstGeom>
          <a:solidFill>
            <a:srgbClr val="D6E0EA">
              <a:alpha val="80000"/>
            </a:srgbClr>
          </a:solidFill>
          <a:ln/>
        </p:spPr>
      </p:sp>
      <p:sp>
        <p:nvSpPr>
          <p:cNvPr id="53" name="Shape 51"/>
          <p:cNvSpPr/>
          <p:nvPr/>
        </p:nvSpPr>
        <p:spPr>
          <a:xfrm>
            <a:off x="4663440" y="2148840"/>
            <a:ext cx="91440" cy="91440"/>
          </a:xfrm>
          <a:prstGeom prst="ellipse">
            <a:avLst/>
          </a:prstGeom>
          <a:solidFill>
            <a:srgbClr val="D6E0EA">
              <a:alpha val="80000"/>
            </a:srgbClr>
          </a:solidFill>
          <a:ln/>
        </p:spPr>
      </p:sp>
      <p:sp>
        <p:nvSpPr>
          <p:cNvPr id="54" name="Shape 52"/>
          <p:cNvSpPr/>
          <p:nvPr/>
        </p:nvSpPr>
        <p:spPr>
          <a:xfrm>
            <a:off x="3200400" y="3429000"/>
            <a:ext cx="91440" cy="91440"/>
          </a:xfrm>
          <a:prstGeom prst="ellipse">
            <a:avLst/>
          </a:prstGeom>
          <a:solidFill>
            <a:srgbClr val="D6E0EA">
              <a:alpha val="80000"/>
            </a:srgbClr>
          </a:solidFill>
          <a:ln/>
        </p:spPr>
      </p:sp>
      <p:sp>
        <p:nvSpPr>
          <p:cNvPr id="55" name="Shape 53"/>
          <p:cNvSpPr/>
          <p:nvPr/>
        </p:nvSpPr>
        <p:spPr>
          <a:xfrm>
            <a:off x="4389120" y="3703320"/>
            <a:ext cx="91440" cy="91440"/>
          </a:xfrm>
          <a:prstGeom prst="ellipse">
            <a:avLst/>
          </a:prstGeom>
          <a:solidFill>
            <a:srgbClr val="D6E0EA">
              <a:alpha val="80000"/>
            </a:srgbClr>
          </a:solidFill>
          <a:ln/>
        </p:spPr>
      </p:sp>
      <p:sp>
        <p:nvSpPr>
          <p:cNvPr id="56" name="Shape 54"/>
          <p:cNvSpPr/>
          <p:nvPr/>
        </p:nvSpPr>
        <p:spPr>
          <a:xfrm>
            <a:off x="2926080" y="3611880"/>
            <a:ext cx="91440" cy="91440"/>
          </a:xfrm>
          <a:prstGeom prst="ellipse">
            <a:avLst/>
          </a:prstGeom>
          <a:solidFill>
            <a:srgbClr val="D6E0EA">
              <a:alpha val="80000"/>
            </a:srgbClr>
          </a:solidFill>
          <a:ln/>
        </p:spPr>
      </p:sp>
      <p:sp>
        <p:nvSpPr>
          <p:cNvPr id="57" name="Shape 55"/>
          <p:cNvSpPr/>
          <p:nvPr/>
        </p:nvSpPr>
        <p:spPr>
          <a:xfrm>
            <a:off x="4846320" y="3246120"/>
            <a:ext cx="91440" cy="91440"/>
          </a:xfrm>
          <a:prstGeom prst="ellipse">
            <a:avLst/>
          </a:prstGeom>
          <a:solidFill>
            <a:srgbClr val="D6E0EA">
              <a:alpha val="80000"/>
            </a:srgbClr>
          </a:solidFill>
          <a:ln/>
        </p:spPr>
      </p:sp>
      <p:sp>
        <p:nvSpPr>
          <p:cNvPr id="58" name="Shape 56"/>
          <p:cNvSpPr/>
          <p:nvPr/>
        </p:nvSpPr>
        <p:spPr>
          <a:xfrm>
            <a:off x="4480560" y="4160520"/>
            <a:ext cx="91440" cy="91440"/>
          </a:xfrm>
          <a:prstGeom prst="ellipse">
            <a:avLst/>
          </a:prstGeom>
          <a:solidFill>
            <a:srgbClr val="D6E0EA">
              <a:alpha val="80000"/>
            </a:srgbClr>
          </a:solidFill>
          <a:ln/>
        </p:spPr>
      </p:sp>
      <p:sp>
        <p:nvSpPr>
          <p:cNvPr id="59" name="Text 57"/>
          <p:cNvSpPr/>
          <p:nvPr/>
        </p:nvSpPr>
        <p:spPr>
          <a:xfrm>
            <a:off x="4389120" y="4297680"/>
            <a:ext cx="1371600" cy="201168"/>
          </a:xfrm>
          <a:prstGeom prst="rect">
            <a:avLst/>
          </a:prstGeom>
          <a:noFill/>
          <a:ln/>
        </p:spPr>
        <p:txBody>
          <a:bodyPr wrap="square" lIns="0" tIns="0" rIns="0" bIns="0" rtlCol="0" anchor="ctr"/>
          <a:lstStyle/>
          <a:p>
            <a:pPr marL="0" indent="0">
              <a:buNone/>
            </a:pPr>
            <a:r>
              <a:rPr lang="en-US" sz="850" dirty="0">
                <a:solidFill>
                  <a:srgbClr val="8896A5"/>
                </a:solidFill>
                <a:latin typeface="Calibri" pitchFamily="34" charset="0"/>
                <a:ea typeface="Calibri" pitchFamily="34" charset="-122"/>
                <a:cs typeface="Calibri" pitchFamily="34" charset="-120"/>
              </a:rPr>
              <a:t>● Individual Stocks</a:t>
            </a:r>
            <a:endParaRPr lang="en-US" sz="850" dirty="0"/>
          </a:p>
        </p:txBody>
      </p:sp>
      <p:sp>
        <p:nvSpPr>
          <p:cNvPr id="60" name="Shape 58"/>
          <p:cNvSpPr/>
          <p:nvPr/>
        </p:nvSpPr>
        <p:spPr>
          <a:xfrm>
            <a:off x="5394960" y="1115568"/>
            <a:ext cx="3520440" cy="3657600"/>
          </a:xfrm>
          <a:prstGeom prst="rect">
            <a:avLst/>
          </a:prstGeom>
          <a:solidFill>
            <a:srgbClr val="EEF4FB"/>
          </a:solidFill>
          <a:ln/>
          <a:effectLst>
            <a:outerShdw blurRad="76200" dist="25400" dir="8100000" algn="bl" rotWithShape="0">
              <a:srgbClr val="000000">
                <a:alpha val="12000"/>
              </a:srgbClr>
            </a:outerShdw>
          </a:effectLst>
        </p:spPr>
      </p:sp>
      <p:sp>
        <p:nvSpPr>
          <p:cNvPr id="61" name="Shape 59"/>
          <p:cNvSpPr/>
          <p:nvPr/>
        </p:nvSpPr>
        <p:spPr>
          <a:xfrm>
            <a:off x="5394960" y="1115568"/>
            <a:ext cx="3520440" cy="329184"/>
          </a:xfrm>
          <a:prstGeom prst="rect">
            <a:avLst/>
          </a:prstGeom>
          <a:solidFill>
            <a:srgbClr val="0D1B2A"/>
          </a:solidFill>
          <a:ln/>
        </p:spPr>
      </p:sp>
      <p:sp>
        <p:nvSpPr>
          <p:cNvPr id="62" name="Text 60"/>
          <p:cNvSpPr/>
          <p:nvPr/>
        </p:nvSpPr>
        <p:spPr>
          <a:xfrm>
            <a:off x="5486400" y="1133856"/>
            <a:ext cx="3337560" cy="274320"/>
          </a:xfrm>
          <a:prstGeom prst="rect">
            <a:avLst/>
          </a:prstGeom>
          <a:noFill/>
          <a:ln/>
        </p:spPr>
        <p:txBody>
          <a:bodyPr wrap="square" lIns="0" tIns="0" rIns="0" bIns="0" rtlCol="0" anchor="ctr"/>
          <a:lstStyle/>
          <a:p>
            <a:pPr marL="0" indent="0">
              <a:buNone/>
            </a:pPr>
            <a:r>
              <a:rPr lang="en-US" sz="1000" b="1" dirty="0">
                <a:solidFill>
                  <a:srgbClr val="C8963E"/>
                </a:solidFill>
                <a:latin typeface="Calibri" pitchFamily="34" charset="0"/>
                <a:ea typeface="Calibri" pitchFamily="34" charset="-122"/>
                <a:cs typeface="Calibri" pitchFamily="34" charset="-120"/>
              </a:rPr>
              <a:t>Portfolio Performance (Test Period 2022–24)</a:t>
            </a:r>
            <a:endParaRPr lang="en-US" sz="1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0" y="1508760"/>
          <a:ext cx="3337560" cy="1549602"/>
        </p:xfrm>
        <a:graphic>
          <a:graphicData uri="http://schemas.openxmlformats.org/drawingml/2006/table">
            <a:tbl>
              <a:tblPr/>
              <a:tblGrid>
                <a:gridCol w="834390">
                  <a:extLst>
                    <a:ext uri="{9D8B030D-6E8A-4147-A177-3AD203B41FA5}">
                      <a16:colId xmlns:a16="http://schemas.microsoft.com/office/drawing/2014/main" val="20000"/>
                    </a:ext>
                  </a:extLst>
                </a:gridCol>
                <a:gridCol w="834390">
                  <a:extLst>
                    <a:ext uri="{9D8B030D-6E8A-4147-A177-3AD203B41FA5}">
                      <a16:colId xmlns:a16="http://schemas.microsoft.com/office/drawing/2014/main" val="20001"/>
                    </a:ext>
                  </a:extLst>
                </a:gridCol>
                <a:gridCol w="834390">
                  <a:extLst>
                    <a:ext uri="{9D8B030D-6E8A-4147-A177-3AD203B41FA5}">
                      <a16:colId xmlns:a16="http://schemas.microsoft.com/office/drawing/2014/main" val="20002"/>
                    </a:ext>
                  </a:extLst>
                </a:gridCol>
                <a:gridCol w="834390">
                  <a:extLst>
                    <a:ext uri="{9D8B030D-6E8A-4147-A177-3AD203B41FA5}">
                      <a16:colId xmlns:a16="http://schemas.microsoft.com/office/drawing/2014/main" val="20003"/>
                    </a:ext>
                  </a:extLst>
                </a:gridCol>
              </a:tblGrid>
              <a:tr h="25237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Portfolio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Ret.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σ</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Sharpe</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237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Equal Weight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18.4%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237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MVP (MVO)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13.2%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237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Max SR (MVO)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2374">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NIFTY 50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4" name="Text 61"/>
          <p:cNvSpPr/>
          <p:nvPr/>
        </p:nvSpPr>
        <p:spPr>
          <a:xfrm>
            <a:off x="5486400" y="2862072"/>
            <a:ext cx="3337560" cy="457200"/>
          </a:xfrm>
          <a:prstGeom prst="rect">
            <a:avLst/>
          </a:prstGeom>
          <a:noFill/>
          <a:ln/>
        </p:spPr>
        <p:txBody>
          <a:bodyPr wrap="square" lIns="0" tIns="0" rIns="0" bIns="0" rtlCol="0" anchor="ctr"/>
          <a:lstStyle/>
          <a:p>
            <a:pPr marL="0" indent="0">
              <a:buNone/>
            </a:pPr>
            <a:r>
              <a:rPr lang="en-US" sz="1000" b="1" dirty="0">
                <a:solidFill>
                  <a:srgbClr val="1E8449"/>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Max SR portfolio delivers best risk-adjusted return, consistent with theory.</a:t>
            </a:r>
            <a:endParaRPr lang="en-US" sz="1000" dirty="0"/>
          </a:p>
        </p:txBody>
      </p:sp>
      <p:sp>
        <p:nvSpPr>
          <p:cNvPr id="65" name="Text 62"/>
          <p:cNvSpPr/>
          <p:nvPr/>
        </p:nvSpPr>
        <p:spPr>
          <a:xfrm>
            <a:off x="5486400" y="3355848"/>
            <a:ext cx="3337560" cy="457200"/>
          </a:xfrm>
          <a:prstGeom prst="rect">
            <a:avLst/>
          </a:prstGeom>
          <a:noFill/>
          <a:ln/>
        </p:spPr>
        <p:txBody>
          <a:bodyPr wrap="square" lIns="0" tIns="0" rIns="0" bIns="0" rtlCol="0" anchor="ctr"/>
          <a:lstStyle/>
          <a:p>
            <a:pPr marL="0" indent="0">
              <a:buNone/>
            </a:pPr>
            <a:r>
              <a:rPr lang="en-US" sz="1000" b="1" dirty="0">
                <a:solidFill>
                  <a:srgbClr val="1E8449"/>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MVP significantly reduces volatility vs. equal weight — from 18.4% to 14.1%.</a:t>
            </a:r>
            <a:endParaRPr lang="en-US" sz="1000" dirty="0"/>
          </a:p>
        </p:txBody>
      </p:sp>
      <p:sp>
        <p:nvSpPr>
          <p:cNvPr id="66" name="Text 63"/>
          <p:cNvSpPr/>
          <p:nvPr/>
        </p:nvSpPr>
        <p:spPr>
          <a:xfrm>
            <a:off x="5486400" y="3849624"/>
            <a:ext cx="3337560" cy="457200"/>
          </a:xfrm>
          <a:prstGeom prst="rect">
            <a:avLst/>
          </a:prstGeom>
          <a:noFill/>
          <a:ln/>
        </p:spPr>
        <p:txBody>
          <a:bodyPr wrap="square" lIns="0" tIns="0" rIns="0" bIns="0" rtlCol="0" anchor="ctr"/>
          <a:lstStyle/>
          <a:p>
            <a:pPr marL="0" indent="0">
              <a:buNone/>
            </a:pPr>
            <a:r>
              <a:rPr lang="en-US" sz="1000" b="1" dirty="0">
                <a:solidFill>
                  <a:srgbClr val="1E8449"/>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Equal weight portfolio is consistently below the efficient frontier.</a:t>
            </a:r>
            <a:endParaRPr lang="en-US" sz="1000" dirty="0"/>
          </a:p>
        </p:txBody>
      </p:sp>
      <p:sp>
        <p:nvSpPr>
          <p:cNvPr id="67" name="Text 64"/>
          <p:cNvSpPr/>
          <p:nvPr/>
        </p:nvSpPr>
        <p:spPr>
          <a:xfrm>
            <a:off x="5486400" y="4343400"/>
            <a:ext cx="3337560" cy="457200"/>
          </a:xfrm>
          <a:prstGeom prst="rect">
            <a:avLst/>
          </a:prstGeom>
          <a:noFill/>
          <a:ln/>
        </p:spPr>
        <p:txBody>
          <a:bodyPr wrap="square" lIns="0" tIns="0" rIns="0" bIns="0" rtlCol="0" anchor="ctr"/>
          <a:lstStyle/>
          <a:p>
            <a:pPr marL="0" indent="0">
              <a:buNone/>
            </a:pPr>
            <a:r>
              <a:rPr lang="en-US" sz="1000" b="1" dirty="0">
                <a:solidFill>
                  <a:srgbClr val="1E8449"/>
                </a:solidFill>
                <a:latin typeface="Calibri" pitchFamily="34" charset="0"/>
                <a:ea typeface="Calibri" pitchFamily="34" charset="-122"/>
                <a:cs typeface="Calibri" pitchFamily="34" charset="-120"/>
              </a:rPr>
              <a:t>✓  </a:t>
            </a:r>
            <a:r>
              <a:rPr lang="en-US" sz="1000" dirty="0">
                <a:solidFill>
                  <a:srgbClr val="0D1B2A"/>
                </a:solidFill>
                <a:latin typeface="Calibri" pitchFamily="34" charset="0"/>
                <a:ea typeface="Calibri" pitchFamily="34" charset="-122"/>
                <a:cs typeface="Calibri" pitchFamily="34" charset="-120"/>
              </a:rPr>
              <a:t>Both MVO portfolios outperform NIFTY 50 on Sharpe ratio in test period.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GARCH(1,1) — Estimated Parameters &amp; Volatility Forecast</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47472"/>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GARCH(1,1) fitted to each of the 30 assets individually. DCC-GARCH then models time-varying correlations. Below are representative results.</a:t>
            </a:r>
            <a:endParaRPr lang="en-US" sz="1150" dirty="0"/>
          </a:p>
        </p:txBody>
      </p:sp>
      <p:sp>
        <p:nvSpPr>
          <p:cNvPr id="8" name="Shape 6"/>
          <p:cNvSpPr/>
          <p:nvPr/>
        </p:nvSpPr>
        <p:spPr>
          <a:xfrm>
            <a:off x="182880" y="1133856"/>
            <a:ext cx="4315968" cy="3063240"/>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133856"/>
            <a:ext cx="4315968" cy="329184"/>
          </a:xfrm>
          <a:prstGeom prst="rect">
            <a:avLst/>
          </a:prstGeom>
          <a:solidFill>
            <a:srgbClr val="0D1B2A"/>
          </a:solidFill>
          <a:ln/>
        </p:spPr>
      </p:sp>
      <p:sp>
        <p:nvSpPr>
          <p:cNvPr id="10" name="Text 8"/>
          <p:cNvSpPr/>
          <p:nvPr/>
        </p:nvSpPr>
        <p:spPr>
          <a:xfrm>
            <a:off x="274320" y="1152144"/>
            <a:ext cx="4133088"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GARCH(1,1) Parameter Estimates — Sample Stocks</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256032" y="1517904"/>
          <a:ext cx="4169664" cy="2564240"/>
        </p:xfrm>
        <a:graphic>
          <a:graphicData uri="http://schemas.openxmlformats.org/drawingml/2006/table">
            <a:tbl>
              <a:tblPr/>
              <a:tblGrid>
                <a:gridCol w="694944">
                  <a:extLst>
                    <a:ext uri="{9D8B030D-6E8A-4147-A177-3AD203B41FA5}">
                      <a16:colId xmlns:a16="http://schemas.microsoft.com/office/drawing/2014/main" val="20000"/>
                    </a:ext>
                  </a:extLst>
                </a:gridCol>
                <a:gridCol w="694944">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694944">
                  <a:extLst>
                    <a:ext uri="{9D8B030D-6E8A-4147-A177-3AD203B41FA5}">
                      <a16:colId xmlns:a16="http://schemas.microsoft.com/office/drawing/2014/main" val="20003"/>
                    </a:ext>
                  </a:extLst>
                </a:gridCol>
                <a:gridCol w="694944">
                  <a:extLst>
                    <a:ext uri="{9D8B030D-6E8A-4147-A177-3AD203B41FA5}">
                      <a16:colId xmlns:a16="http://schemas.microsoft.com/office/drawing/2014/main" val="20004"/>
                    </a:ext>
                  </a:extLst>
                </a:gridCol>
                <a:gridCol w="694944">
                  <a:extLst>
                    <a:ext uri="{9D8B030D-6E8A-4147-A177-3AD203B41FA5}">
                      <a16:colId xmlns:a16="http://schemas.microsoft.com/office/drawing/2014/main" val="20005"/>
                    </a:ext>
                  </a:extLst>
                </a:gridCol>
              </a:tblGrid>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Stock</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ω (×10⁻⁴)</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α (ARCH)</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β (GARCH)</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α+β</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LR Var.</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RELIANCE</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0.84</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0.082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0.901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0.983</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0.049</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INFOSYS</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1.12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0.095</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0.887</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0.062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HDFC Bank</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0.71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0.074</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0.912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0.986</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0.051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TCS</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0.93</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0.088</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0.895</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0.983</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0.055</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SBI</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1.45</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0.110</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0.871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0.076</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5310">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Median (30)</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0.91</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0.089</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0.893</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0.982</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950" dirty="0">
                          <a:solidFill>
                            <a:srgbClr val="0D1B2A"/>
                          </a:solidFill>
                          <a:latin typeface="Calibri" pitchFamily="34" charset="0"/>
                          <a:ea typeface="Calibri" pitchFamily="34" charset="-122"/>
                          <a:cs typeface="Calibri" pitchFamily="34" charset="-120"/>
                        </a:rPr>
                        <a:t>0.054</a:t>
                      </a:r>
                      <a:endParaRPr lang="en-US" sz="95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Shape 9"/>
          <p:cNvSpPr/>
          <p:nvPr/>
        </p:nvSpPr>
        <p:spPr>
          <a:xfrm>
            <a:off x="182880" y="4233672"/>
            <a:ext cx="4315968" cy="566928"/>
          </a:xfrm>
          <a:prstGeom prst="rect">
            <a:avLst/>
          </a:prstGeom>
          <a:solidFill>
            <a:srgbClr val="EAF6FF"/>
          </a:solidFill>
          <a:ln/>
        </p:spPr>
      </p:sp>
      <p:sp>
        <p:nvSpPr>
          <p:cNvPr id="13" name="Text 10"/>
          <p:cNvSpPr/>
          <p:nvPr/>
        </p:nvSpPr>
        <p:spPr>
          <a:xfrm>
            <a:off x="274320" y="4261104"/>
            <a:ext cx="4133088" cy="493776"/>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Interpretation: α+β ≈ 0.98 for all stocks → very high volatility persistence.</a:t>
            </a:r>
            <a:endParaRPr lang="en-US" sz="1000" dirty="0"/>
          </a:p>
          <a:p>
            <a:pPr marL="0" indent="0">
              <a:buNone/>
            </a:pPr>
            <a:r>
              <a:rPr lang="en-US" sz="1000" dirty="0">
                <a:solidFill>
                  <a:srgbClr val="0D1B2A"/>
                </a:solidFill>
                <a:latin typeface="Calibri" pitchFamily="34" charset="0"/>
                <a:ea typeface="Calibri" pitchFamily="34" charset="-122"/>
                <a:cs typeface="Calibri" pitchFamily="34" charset="-120"/>
              </a:rPr>
              <a:t>Small ω → shocks decay slowly (high β) → use long lookback for GARCH Σ estimation.</a:t>
            </a:r>
            <a:endParaRPr lang="en-US" sz="1000" dirty="0"/>
          </a:p>
        </p:txBody>
      </p:sp>
      <p:sp>
        <p:nvSpPr>
          <p:cNvPr id="14" name="Shape 11"/>
          <p:cNvSpPr/>
          <p:nvPr/>
        </p:nvSpPr>
        <p:spPr>
          <a:xfrm>
            <a:off x="4663440" y="1133856"/>
            <a:ext cx="4297680" cy="3063240"/>
          </a:xfrm>
          <a:prstGeom prst="rect">
            <a:avLst/>
          </a:prstGeom>
          <a:solidFill>
            <a:srgbClr val="F0F4F8"/>
          </a:solidFill>
          <a:ln/>
        </p:spPr>
      </p:sp>
      <p:sp>
        <p:nvSpPr>
          <p:cNvPr id="15" name="Text 12"/>
          <p:cNvSpPr/>
          <p:nvPr/>
        </p:nvSpPr>
        <p:spPr>
          <a:xfrm>
            <a:off x="4663440" y="1133856"/>
            <a:ext cx="4297680" cy="329184"/>
          </a:xfrm>
          <a:prstGeom prst="rect">
            <a:avLst/>
          </a:prstGeom>
          <a:noFill/>
          <a:ln/>
        </p:spPr>
        <p:txBody>
          <a:bodyPr wrap="square" lIns="0" tIns="0" rIns="0" bIns="0" rtlCol="0" anchor="ctr"/>
          <a:lstStyle/>
          <a:p>
            <a:pPr marL="0" indent="0" algn="ctr">
              <a:buNone/>
            </a:pPr>
            <a:r>
              <a:rPr lang="en-US" sz="950" b="1" dirty="0">
                <a:solidFill>
                  <a:srgbClr val="0D1B2A"/>
                </a:solidFill>
                <a:latin typeface="Calibri" pitchFamily="34" charset="0"/>
                <a:ea typeface="Calibri" pitchFamily="34" charset="-122"/>
                <a:cs typeface="Calibri" pitchFamily="34" charset="-120"/>
              </a:rPr>
              <a:t>Conditional Volatility σ_t — RELIANCE (Jan 2020–Jun 2021)</a:t>
            </a:r>
            <a:endParaRPr lang="en-US" sz="950" dirty="0"/>
          </a:p>
        </p:txBody>
      </p:sp>
      <p:sp>
        <p:nvSpPr>
          <p:cNvPr id="16" name="Shape 13"/>
          <p:cNvSpPr/>
          <p:nvPr/>
        </p:nvSpPr>
        <p:spPr>
          <a:xfrm>
            <a:off x="4846320" y="3931920"/>
            <a:ext cx="3931920" cy="0"/>
          </a:xfrm>
          <a:prstGeom prst="line">
            <a:avLst/>
          </a:prstGeom>
          <a:noFill/>
          <a:ln w="12700">
            <a:solidFill>
              <a:srgbClr val="0D1B2A"/>
            </a:solidFill>
            <a:prstDash val="solid"/>
          </a:ln>
        </p:spPr>
      </p:sp>
      <p:sp>
        <p:nvSpPr>
          <p:cNvPr id="17" name="Shape 14"/>
          <p:cNvSpPr/>
          <p:nvPr/>
        </p:nvSpPr>
        <p:spPr>
          <a:xfrm>
            <a:off x="4846320" y="1481328"/>
            <a:ext cx="0" cy="2450592"/>
          </a:xfrm>
          <a:prstGeom prst="line">
            <a:avLst/>
          </a:prstGeom>
          <a:noFill/>
          <a:ln w="12700">
            <a:solidFill>
              <a:srgbClr val="0D1B2A"/>
            </a:solidFill>
            <a:prstDash val="solid"/>
          </a:ln>
        </p:spPr>
      </p:sp>
      <p:sp>
        <p:nvSpPr>
          <p:cNvPr id="18" name="Text 15"/>
          <p:cNvSpPr/>
          <p:nvPr/>
        </p:nvSpPr>
        <p:spPr>
          <a:xfrm>
            <a:off x="6492240" y="4041648"/>
            <a:ext cx="640080" cy="182880"/>
          </a:xfrm>
          <a:prstGeom prst="rect">
            <a:avLst/>
          </a:prstGeom>
          <a:noFill/>
          <a:ln/>
        </p:spPr>
        <p:txBody>
          <a:bodyPr wrap="square" lIns="0" tIns="0" rIns="0" bIns="0" rtlCol="0" anchor="ctr"/>
          <a:lstStyle/>
          <a:p>
            <a:pPr marL="0" indent="0">
              <a:buNone/>
            </a:pPr>
            <a:r>
              <a:rPr lang="en-US" sz="800" dirty="0">
                <a:solidFill>
                  <a:srgbClr val="0D1B2A"/>
                </a:solidFill>
                <a:latin typeface="Calibri" pitchFamily="34" charset="0"/>
                <a:ea typeface="Calibri" pitchFamily="34" charset="-122"/>
                <a:cs typeface="Calibri" pitchFamily="34" charset="-120"/>
              </a:rPr>
              <a:t>Date</a:t>
            </a:r>
            <a:endParaRPr lang="en-US" sz="800" dirty="0"/>
          </a:p>
        </p:txBody>
      </p:sp>
      <p:sp>
        <p:nvSpPr>
          <p:cNvPr id="19" name="Text 16"/>
          <p:cNvSpPr/>
          <p:nvPr/>
        </p:nvSpPr>
        <p:spPr>
          <a:xfrm>
            <a:off x="4681728" y="1444752"/>
            <a:ext cx="502920" cy="182880"/>
          </a:xfrm>
          <a:prstGeom prst="rect">
            <a:avLst/>
          </a:prstGeom>
          <a:noFill/>
          <a:ln/>
        </p:spPr>
        <p:txBody>
          <a:bodyPr wrap="square" lIns="0" tIns="0" rIns="0" bIns="0" rtlCol="0" anchor="ctr"/>
          <a:lstStyle/>
          <a:p>
            <a:pPr marL="0" indent="0">
              <a:buNone/>
            </a:pPr>
            <a:r>
              <a:rPr lang="en-US" sz="800" dirty="0">
                <a:solidFill>
                  <a:srgbClr val="0D1B2A"/>
                </a:solidFill>
                <a:latin typeface="Calibri" pitchFamily="34" charset="0"/>
                <a:ea typeface="Calibri" pitchFamily="34" charset="-122"/>
                <a:cs typeface="Calibri" pitchFamily="34" charset="-120"/>
              </a:rPr>
              <a:t>σ_t (%)</a:t>
            </a:r>
            <a:endParaRPr lang="en-US" sz="800" dirty="0"/>
          </a:p>
        </p:txBody>
      </p:sp>
      <p:sp>
        <p:nvSpPr>
          <p:cNvPr id="20" name="Shape 17"/>
          <p:cNvSpPr/>
          <p:nvPr/>
        </p:nvSpPr>
        <p:spPr>
          <a:xfrm>
            <a:off x="4937760" y="3291840"/>
            <a:ext cx="182880" cy="91440"/>
          </a:xfrm>
          <a:prstGeom prst="line">
            <a:avLst/>
          </a:prstGeom>
          <a:noFill/>
          <a:ln w="25400">
            <a:solidFill>
              <a:srgbClr val="1B6CA8"/>
            </a:solidFill>
            <a:prstDash val="solid"/>
          </a:ln>
        </p:spPr>
      </p:sp>
      <p:sp>
        <p:nvSpPr>
          <p:cNvPr id="21" name="Shape 18"/>
          <p:cNvSpPr/>
          <p:nvPr/>
        </p:nvSpPr>
        <p:spPr>
          <a:xfrm>
            <a:off x="5120640" y="3383280"/>
            <a:ext cx="182880" cy="0"/>
          </a:xfrm>
          <a:prstGeom prst="line">
            <a:avLst/>
          </a:prstGeom>
          <a:noFill/>
          <a:ln w="25400">
            <a:solidFill>
              <a:srgbClr val="1B6CA8"/>
            </a:solidFill>
            <a:prstDash val="solid"/>
          </a:ln>
        </p:spPr>
      </p:sp>
      <p:sp>
        <p:nvSpPr>
          <p:cNvPr id="22" name="Shape 19"/>
          <p:cNvSpPr/>
          <p:nvPr/>
        </p:nvSpPr>
        <p:spPr>
          <a:xfrm>
            <a:off x="5303520" y="3337560"/>
            <a:ext cx="182880" cy="137160"/>
          </a:xfrm>
          <a:prstGeom prst="line">
            <a:avLst/>
          </a:prstGeom>
          <a:noFill/>
          <a:ln w="25400">
            <a:solidFill>
              <a:srgbClr val="1B6CA8"/>
            </a:solidFill>
            <a:prstDash val="solid"/>
          </a:ln>
        </p:spPr>
      </p:sp>
      <p:sp>
        <p:nvSpPr>
          <p:cNvPr id="23" name="Shape 20"/>
          <p:cNvSpPr/>
          <p:nvPr/>
        </p:nvSpPr>
        <p:spPr>
          <a:xfrm>
            <a:off x="5486400" y="3474720"/>
            <a:ext cx="182880" cy="0"/>
          </a:xfrm>
          <a:prstGeom prst="line">
            <a:avLst/>
          </a:prstGeom>
          <a:noFill/>
          <a:ln w="25400">
            <a:solidFill>
              <a:srgbClr val="1B6CA8"/>
            </a:solidFill>
            <a:prstDash val="solid"/>
          </a:ln>
        </p:spPr>
      </p:sp>
      <p:sp>
        <p:nvSpPr>
          <p:cNvPr id="24" name="Shape 21"/>
          <p:cNvSpPr/>
          <p:nvPr/>
        </p:nvSpPr>
        <p:spPr>
          <a:xfrm>
            <a:off x="5669280" y="3401568"/>
            <a:ext cx="182880" cy="0"/>
          </a:xfrm>
          <a:prstGeom prst="line">
            <a:avLst/>
          </a:prstGeom>
          <a:noFill/>
          <a:ln w="25400">
            <a:solidFill>
              <a:srgbClr val="1B6CA8"/>
            </a:solidFill>
            <a:prstDash val="solid"/>
          </a:ln>
        </p:spPr>
      </p:sp>
      <p:sp>
        <p:nvSpPr>
          <p:cNvPr id="11" name="Shape 22"/>
          <p:cNvSpPr/>
          <p:nvPr/>
        </p:nvSpPr>
        <p:spPr>
          <a:xfrm>
            <a:off x="5852160" y="3291840"/>
            <a:ext cx="91440" cy="0"/>
          </a:xfrm>
          <a:prstGeom prst="line">
            <a:avLst/>
          </a:prstGeom>
          <a:noFill/>
          <a:ln w="25400">
            <a:solidFill>
              <a:srgbClr val="1B6CA8"/>
            </a:solidFill>
            <a:prstDash val="solid"/>
          </a:ln>
        </p:spPr>
      </p:sp>
      <p:sp>
        <p:nvSpPr>
          <p:cNvPr id="26" name="Shape 23"/>
          <p:cNvSpPr/>
          <p:nvPr/>
        </p:nvSpPr>
        <p:spPr>
          <a:xfrm>
            <a:off x="5943600" y="2697480"/>
            <a:ext cx="45720" cy="0"/>
          </a:xfrm>
          <a:prstGeom prst="line">
            <a:avLst/>
          </a:prstGeom>
          <a:noFill/>
          <a:ln w="25400">
            <a:solidFill>
              <a:srgbClr val="1B6CA8"/>
            </a:solidFill>
            <a:prstDash val="solid"/>
          </a:ln>
        </p:spPr>
      </p:sp>
      <p:sp>
        <p:nvSpPr>
          <p:cNvPr id="27" name="Shape 24"/>
          <p:cNvSpPr/>
          <p:nvPr/>
        </p:nvSpPr>
        <p:spPr>
          <a:xfrm>
            <a:off x="5989320" y="2148840"/>
            <a:ext cx="27432" cy="0"/>
          </a:xfrm>
          <a:prstGeom prst="line">
            <a:avLst/>
          </a:prstGeom>
          <a:noFill/>
          <a:ln w="25400">
            <a:solidFill>
              <a:srgbClr val="1B6CA8"/>
            </a:solidFill>
            <a:prstDash val="solid"/>
          </a:ln>
        </p:spPr>
      </p:sp>
      <p:sp>
        <p:nvSpPr>
          <p:cNvPr id="28" name="Shape 25"/>
          <p:cNvSpPr/>
          <p:nvPr/>
        </p:nvSpPr>
        <p:spPr>
          <a:xfrm>
            <a:off x="6016752" y="1691640"/>
            <a:ext cx="18288" cy="0"/>
          </a:xfrm>
          <a:prstGeom prst="line">
            <a:avLst/>
          </a:prstGeom>
          <a:noFill/>
          <a:ln w="25400">
            <a:solidFill>
              <a:srgbClr val="1B6CA8"/>
            </a:solidFill>
            <a:prstDash val="solid"/>
          </a:ln>
        </p:spPr>
      </p:sp>
      <p:sp>
        <p:nvSpPr>
          <p:cNvPr id="29" name="Shape 26"/>
          <p:cNvSpPr/>
          <p:nvPr/>
        </p:nvSpPr>
        <p:spPr>
          <a:xfrm>
            <a:off x="6035040" y="1572768"/>
            <a:ext cx="45720" cy="438912"/>
          </a:xfrm>
          <a:prstGeom prst="line">
            <a:avLst/>
          </a:prstGeom>
          <a:noFill/>
          <a:ln w="25400">
            <a:solidFill>
              <a:srgbClr val="1B6CA8"/>
            </a:solidFill>
            <a:prstDash val="solid"/>
          </a:ln>
        </p:spPr>
      </p:sp>
      <p:sp>
        <p:nvSpPr>
          <p:cNvPr id="30" name="Shape 27"/>
          <p:cNvSpPr/>
          <p:nvPr/>
        </p:nvSpPr>
        <p:spPr>
          <a:xfrm>
            <a:off x="6080760" y="2011680"/>
            <a:ext cx="64008" cy="457200"/>
          </a:xfrm>
          <a:prstGeom prst="line">
            <a:avLst/>
          </a:prstGeom>
          <a:noFill/>
          <a:ln w="25400">
            <a:solidFill>
              <a:srgbClr val="1B6CA8"/>
            </a:solidFill>
            <a:prstDash val="solid"/>
          </a:ln>
        </p:spPr>
      </p:sp>
      <p:sp>
        <p:nvSpPr>
          <p:cNvPr id="31" name="Shape 28"/>
          <p:cNvSpPr/>
          <p:nvPr/>
        </p:nvSpPr>
        <p:spPr>
          <a:xfrm>
            <a:off x="6144768" y="2468880"/>
            <a:ext cx="73152" cy="320040"/>
          </a:xfrm>
          <a:prstGeom prst="line">
            <a:avLst/>
          </a:prstGeom>
          <a:noFill/>
          <a:ln w="25400">
            <a:solidFill>
              <a:srgbClr val="1B6CA8"/>
            </a:solidFill>
            <a:prstDash val="solid"/>
          </a:ln>
        </p:spPr>
      </p:sp>
      <p:sp>
        <p:nvSpPr>
          <p:cNvPr id="32" name="Shape 29"/>
          <p:cNvSpPr/>
          <p:nvPr/>
        </p:nvSpPr>
        <p:spPr>
          <a:xfrm>
            <a:off x="6217920" y="2788920"/>
            <a:ext cx="91440" cy="228600"/>
          </a:xfrm>
          <a:prstGeom prst="line">
            <a:avLst/>
          </a:prstGeom>
          <a:noFill/>
          <a:ln w="25400">
            <a:solidFill>
              <a:srgbClr val="1B6CA8"/>
            </a:solidFill>
            <a:prstDash val="solid"/>
          </a:ln>
        </p:spPr>
      </p:sp>
      <p:sp>
        <p:nvSpPr>
          <p:cNvPr id="33" name="Shape 30"/>
          <p:cNvSpPr/>
          <p:nvPr/>
        </p:nvSpPr>
        <p:spPr>
          <a:xfrm>
            <a:off x="6309360" y="3017520"/>
            <a:ext cx="91440" cy="182880"/>
          </a:xfrm>
          <a:prstGeom prst="line">
            <a:avLst/>
          </a:prstGeom>
          <a:noFill/>
          <a:ln w="25400">
            <a:solidFill>
              <a:srgbClr val="1B6CA8"/>
            </a:solidFill>
            <a:prstDash val="solid"/>
          </a:ln>
        </p:spPr>
      </p:sp>
      <p:sp>
        <p:nvSpPr>
          <p:cNvPr id="34" name="Shape 31"/>
          <p:cNvSpPr/>
          <p:nvPr/>
        </p:nvSpPr>
        <p:spPr>
          <a:xfrm>
            <a:off x="6400800" y="3200400"/>
            <a:ext cx="137160" cy="109728"/>
          </a:xfrm>
          <a:prstGeom prst="line">
            <a:avLst/>
          </a:prstGeom>
          <a:noFill/>
          <a:ln w="25400">
            <a:solidFill>
              <a:srgbClr val="1B6CA8"/>
            </a:solidFill>
            <a:prstDash val="solid"/>
          </a:ln>
        </p:spPr>
      </p:sp>
      <p:sp>
        <p:nvSpPr>
          <p:cNvPr id="35" name="Shape 32"/>
          <p:cNvSpPr/>
          <p:nvPr/>
        </p:nvSpPr>
        <p:spPr>
          <a:xfrm>
            <a:off x="6537960" y="3310128"/>
            <a:ext cx="137160" cy="91440"/>
          </a:xfrm>
          <a:prstGeom prst="line">
            <a:avLst/>
          </a:prstGeom>
          <a:noFill/>
          <a:ln w="25400">
            <a:solidFill>
              <a:srgbClr val="1B6CA8"/>
            </a:solidFill>
            <a:prstDash val="solid"/>
          </a:ln>
        </p:spPr>
      </p:sp>
      <p:sp>
        <p:nvSpPr>
          <p:cNvPr id="36" name="Shape 33"/>
          <p:cNvSpPr/>
          <p:nvPr/>
        </p:nvSpPr>
        <p:spPr>
          <a:xfrm>
            <a:off x="6675120" y="3401568"/>
            <a:ext cx="182880" cy="91440"/>
          </a:xfrm>
          <a:prstGeom prst="line">
            <a:avLst/>
          </a:prstGeom>
          <a:noFill/>
          <a:ln w="25400">
            <a:solidFill>
              <a:srgbClr val="1B6CA8"/>
            </a:solidFill>
            <a:prstDash val="solid"/>
          </a:ln>
        </p:spPr>
      </p:sp>
      <p:sp>
        <p:nvSpPr>
          <p:cNvPr id="37" name="Shape 34"/>
          <p:cNvSpPr/>
          <p:nvPr/>
        </p:nvSpPr>
        <p:spPr>
          <a:xfrm>
            <a:off x="6858000" y="3493008"/>
            <a:ext cx="137160" cy="54864"/>
          </a:xfrm>
          <a:prstGeom prst="line">
            <a:avLst/>
          </a:prstGeom>
          <a:noFill/>
          <a:ln w="25400">
            <a:solidFill>
              <a:srgbClr val="1B6CA8"/>
            </a:solidFill>
            <a:prstDash val="solid"/>
          </a:ln>
        </p:spPr>
      </p:sp>
      <p:sp>
        <p:nvSpPr>
          <p:cNvPr id="38" name="Shape 35"/>
          <p:cNvSpPr/>
          <p:nvPr/>
        </p:nvSpPr>
        <p:spPr>
          <a:xfrm>
            <a:off x="6995160" y="3547872"/>
            <a:ext cx="137160" cy="64008"/>
          </a:xfrm>
          <a:prstGeom prst="line">
            <a:avLst/>
          </a:prstGeom>
          <a:noFill/>
          <a:ln w="25400">
            <a:solidFill>
              <a:srgbClr val="1B6CA8"/>
            </a:solidFill>
            <a:prstDash val="solid"/>
          </a:ln>
        </p:spPr>
      </p:sp>
      <p:sp>
        <p:nvSpPr>
          <p:cNvPr id="39" name="Shape 36"/>
          <p:cNvSpPr/>
          <p:nvPr/>
        </p:nvSpPr>
        <p:spPr>
          <a:xfrm>
            <a:off x="7132320" y="3611880"/>
            <a:ext cx="137160" cy="118872"/>
          </a:xfrm>
          <a:prstGeom prst="line">
            <a:avLst/>
          </a:prstGeom>
          <a:noFill/>
          <a:ln w="25400">
            <a:solidFill>
              <a:srgbClr val="1B6CA8"/>
            </a:solidFill>
            <a:prstDash val="solid"/>
          </a:ln>
        </p:spPr>
      </p:sp>
      <p:sp>
        <p:nvSpPr>
          <p:cNvPr id="40" name="Shape 37"/>
          <p:cNvSpPr/>
          <p:nvPr/>
        </p:nvSpPr>
        <p:spPr>
          <a:xfrm>
            <a:off x="7269480" y="3730752"/>
            <a:ext cx="137160" cy="36576"/>
          </a:xfrm>
          <a:prstGeom prst="line">
            <a:avLst/>
          </a:prstGeom>
          <a:noFill/>
          <a:ln w="25400">
            <a:solidFill>
              <a:srgbClr val="1B6CA8"/>
            </a:solidFill>
            <a:prstDash val="solid"/>
          </a:ln>
        </p:spPr>
      </p:sp>
      <p:sp>
        <p:nvSpPr>
          <p:cNvPr id="41" name="Shape 38"/>
          <p:cNvSpPr/>
          <p:nvPr/>
        </p:nvSpPr>
        <p:spPr>
          <a:xfrm>
            <a:off x="7406640" y="3767328"/>
            <a:ext cx="137160" cy="36576"/>
          </a:xfrm>
          <a:prstGeom prst="line">
            <a:avLst/>
          </a:prstGeom>
          <a:noFill/>
          <a:ln w="25400">
            <a:solidFill>
              <a:srgbClr val="1B6CA8"/>
            </a:solidFill>
            <a:prstDash val="solid"/>
          </a:ln>
        </p:spPr>
      </p:sp>
      <p:sp>
        <p:nvSpPr>
          <p:cNvPr id="42" name="Shape 39"/>
          <p:cNvSpPr/>
          <p:nvPr/>
        </p:nvSpPr>
        <p:spPr>
          <a:xfrm>
            <a:off x="7543800" y="3803904"/>
            <a:ext cx="137160" cy="54864"/>
          </a:xfrm>
          <a:prstGeom prst="line">
            <a:avLst/>
          </a:prstGeom>
          <a:noFill/>
          <a:ln w="25400">
            <a:solidFill>
              <a:srgbClr val="1B6CA8"/>
            </a:solidFill>
            <a:prstDash val="solid"/>
          </a:ln>
        </p:spPr>
      </p:sp>
      <p:sp>
        <p:nvSpPr>
          <p:cNvPr id="43" name="Shape 40"/>
          <p:cNvSpPr/>
          <p:nvPr/>
        </p:nvSpPr>
        <p:spPr>
          <a:xfrm>
            <a:off x="7680960" y="3858768"/>
            <a:ext cx="164592" cy="36576"/>
          </a:xfrm>
          <a:prstGeom prst="line">
            <a:avLst/>
          </a:prstGeom>
          <a:noFill/>
          <a:ln w="25400">
            <a:solidFill>
              <a:srgbClr val="1B6CA8"/>
            </a:solidFill>
            <a:prstDash val="solid"/>
          </a:ln>
        </p:spPr>
      </p:sp>
      <p:sp>
        <p:nvSpPr>
          <p:cNvPr id="44" name="Shape 41"/>
          <p:cNvSpPr/>
          <p:nvPr/>
        </p:nvSpPr>
        <p:spPr>
          <a:xfrm>
            <a:off x="7845552" y="3895344"/>
            <a:ext cx="749808" cy="18288"/>
          </a:xfrm>
          <a:prstGeom prst="line">
            <a:avLst/>
          </a:prstGeom>
          <a:noFill/>
          <a:ln w="25400">
            <a:solidFill>
              <a:srgbClr val="1B6CA8"/>
            </a:solidFill>
            <a:prstDash val="solid"/>
          </a:ln>
        </p:spPr>
      </p:sp>
      <p:sp>
        <p:nvSpPr>
          <p:cNvPr id="45" name="Shape 42"/>
          <p:cNvSpPr/>
          <p:nvPr/>
        </p:nvSpPr>
        <p:spPr>
          <a:xfrm>
            <a:off x="6035040" y="1508760"/>
            <a:ext cx="0" cy="868680"/>
          </a:xfrm>
          <a:prstGeom prst="line">
            <a:avLst/>
          </a:prstGeom>
          <a:noFill/>
          <a:ln w="12700">
            <a:solidFill>
              <a:srgbClr val="C0392B"/>
            </a:solidFill>
            <a:prstDash val="dash"/>
          </a:ln>
        </p:spPr>
      </p:sp>
      <p:sp>
        <p:nvSpPr>
          <p:cNvPr id="46" name="Text 43"/>
          <p:cNvSpPr/>
          <p:nvPr/>
        </p:nvSpPr>
        <p:spPr>
          <a:xfrm>
            <a:off x="5888736" y="1508760"/>
            <a:ext cx="777240" cy="365760"/>
          </a:xfrm>
          <a:prstGeom prst="rect">
            <a:avLst/>
          </a:prstGeom>
          <a:noFill/>
          <a:ln/>
        </p:spPr>
        <p:txBody>
          <a:bodyPr wrap="square" lIns="0" tIns="0" rIns="0" bIns="0" rtlCol="0" anchor="ctr"/>
          <a:lstStyle/>
          <a:p>
            <a:pPr marL="0" indent="0" algn="ctr">
              <a:buNone/>
            </a:pPr>
            <a:r>
              <a:rPr lang="en-US" sz="750" dirty="0">
                <a:solidFill>
                  <a:srgbClr val="C0392B"/>
                </a:solidFill>
                <a:latin typeface="Calibri" pitchFamily="34" charset="0"/>
                <a:ea typeface="Calibri" pitchFamily="34" charset="-122"/>
                <a:cs typeface="Calibri" pitchFamily="34" charset="-120"/>
              </a:rPr>
              <a:t>COVID-19</a:t>
            </a:r>
            <a:endParaRPr lang="en-US" sz="750" dirty="0"/>
          </a:p>
          <a:p>
            <a:pPr marL="0" indent="0" algn="ctr">
              <a:buNone/>
            </a:pPr>
            <a:r>
              <a:rPr lang="en-US" sz="750" dirty="0">
                <a:solidFill>
                  <a:srgbClr val="C0392B"/>
                </a:solidFill>
                <a:latin typeface="Calibri" pitchFamily="34" charset="0"/>
                <a:ea typeface="Calibri" pitchFamily="34" charset="-122"/>
                <a:cs typeface="Calibri" pitchFamily="34" charset="-120"/>
              </a:rPr>
              <a:t>Crash</a:t>
            </a:r>
            <a:endParaRPr lang="en-US" sz="750" dirty="0"/>
          </a:p>
        </p:txBody>
      </p:sp>
      <p:sp>
        <p:nvSpPr>
          <p:cNvPr id="47" name="Text 44"/>
          <p:cNvSpPr/>
          <p:nvPr/>
        </p:nvSpPr>
        <p:spPr>
          <a:xfrm>
            <a:off x="4864608" y="3959352"/>
            <a:ext cx="594360" cy="164592"/>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Jan'20</a:t>
            </a:r>
            <a:endParaRPr lang="en-US" sz="750" dirty="0"/>
          </a:p>
        </p:txBody>
      </p:sp>
      <p:sp>
        <p:nvSpPr>
          <p:cNvPr id="48" name="Text 45"/>
          <p:cNvSpPr/>
          <p:nvPr/>
        </p:nvSpPr>
        <p:spPr>
          <a:xfrm>
            <a:off x="5925312" y="3959352"/>
            <a:ext cx="594360" cy="164592"/>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Mar'20</a:t>
            </a:r>
            <a:endParaRPr lang="en-US" sz="750" dirty="0"/>
          </a:p>
        </p:txBody>
      </p:sp>
      <p:sp>
        <p:nvSpPr>
          <p:cNvPr id="49" name="Text 46"/>
          <p:cNvSpPr/>
          <p:nvPr/>
        </p:nvSpPr>
        <p:spPr>
          <a:xfrm>
            <a:off x="8430768" y="3959352"/>
            <a:ext cx="502920" cy="164592"/>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Jun'21</a:t>
            </a:r>
            <a:endParaRPr lang="en-US" sz="750" dirty="0"/>
          </a:p>
        </p:txBody>
      </p:sp>
      <p:sp>
        <p:nvSpPr>
          <p:cNvPr id="50" name="Shape 47"/>
          <p:cNvSpPr/>
          <p:nvPr/>
        </p:nvSpPr>
        <p:spPr>
          <a:xfrm>
            <a:off x="4663440" y="4233672"/>
            <a:ext cx="4297680" cy="566928"/>
          </a:xfrm>
          <a:prstGeom prst="rect">
            <a:avLst/>
          </a:prstGeom>
          <a:solidFill>
            <a:srgbClr val="EEF4FB"/>
          </a:solidFill>
          <a:ln/>
          <a:effectLst>
            <a:outerShdw blurRad="76200" dist="25400" dir="8100000" algn="bl" rotWithShape="0">
              <a:srgbClr val="000000">
                <a:alpha val="12000"/>
              </a:srgbClr>
            </a:outerShdw>
          </a:effectLst>
        </p:spPr>
      </p:sp>
      <p:sp>
        <p:nvSpPr>
          <p:cNvPr id="51" name="Text 48"/>
          <p:cNvSpPr/>
          <p:nvPr/>
        </p:nvSpPr>
        <p:spPr>
          <a:xfrm>
            <a:off x="4754880" y="4261104"/>
            <a:ext cx="4114800" cy="493776"/>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GARCH-DCC vs. Sample Cov Portfolio: GARCH weights react to COVID spike by reducing equity exposure and increasing bonds — sample covariance weights remain static. Out-of-sample Sharpe: 0.91 vs 0.86.</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Logistic Regression Portfolio — Results &amp; Frontier Test</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4315968" cy="192024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13232"/>
            <a:ext cx="4315968" cy="329184"/>
          </a:xfrm>
          <a:prstGeom prst="rect">
            <a:avLst/>
          </a:prstGeom>
          <a:solidFill>
            <a:srgbClr val="0D1B2A"/>
          </a:solidFill>
          <a:ln/>
        </p:spPr>
      </p:sp>
      <p:sp>
        <p:nvSpPr>
          <p:cNvPr id="9" name="Text 7"/>
          <p:cNvSpPr/>
          <p:nvPr/>
        </p:nvSpPr>
        <p:spPr>
          <a:xfrm>
            <a:off x="274320" y="731520"/>
            <a:ext cx="4133088" cy="274320"/>
          </a:xfrm>
          <a:prstGeom prst="rect">
            <a:avLst/>
          </a:prstGeom>
          <a:noFill/>
          <a:ln/>
        </p:spPr>
        <p:txBody>
          <a:bodyPr wrap="square" lIns="0" tIns="0" rIns="0" bIns="0" rtlCol="0" anchor="ctr"/>
          <a:lstStyle/>
          <a:p>
            <a:pPr marL="0" indent="0">
              <a:buNone/>
            </a:pPr>
            <a:r>
              <a:rPr lang="en-US" sz="1050" b="1" dirty="0">
                <a:solidFill>
                  <a:srgbClr val="C8963E"/>
                </a:solidFill>
                <a:latin typeface="Calibri" pitchFamily="34" charset="0"/>
                <a:ea typeface="Calibri" pitchFamily="34" charset="-122"/>
                <a:cs typeface="Calibri" pitchFamily="34" charset="-120"/>
              </a:rPr>
              <a:t>Logistic Regression — Classification Performance</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56032" y="1097280"/>
          <a:ext cx="4169664" cy="1508152"/>
        </p:xfrm>
        <a:graphic>
          <a:graphicData uri="http://schemas.openxmlformats.org/drawingml/2006/table">
            <a:tbl>
              <a:tblPr/>
              <a:tblGrid>
                <a:gridCol w="1042416">
                  <a:extLst>
                    <a:ext uri="{9D8B030D-6E8A-4147-A177-3AD203B41FA5}">
                      <a16:colId xmlns:a16="http://schemas.microsoft.com/office/drawing/2014/main" val="20000"/>
                    </a:ext>
                  </a:extLst>
                </a:gridCol>
                <a:gridCol w="1042416">
                  <a:extLst>
                    <a:ext uri="{9D8B030D-6E8A-4147-A177-3AD203B41FA5}">
                      <a16:colId xmlns:a16="http://schemas.microsoft.com/office/drawing/2014/main" val="20001"/>
                    </a:ext>
                  </a:extLst>
                </a:gridCol>
                <a:gridCol w="1042416">
                  <a:extLst>
                    <a:ext uri="{9D8B030D-6E8A-4147-A177-3AD203B41FA5}">
                      <a16:colId xmlns:a16="http://schemas.microsoft.com/office/drawing/2014/main" val="20002"/>
                    </a:ext>
                  </a:extLst>
                </a:gridCol>
                <a:gridCol w="1042416">
                  <a:extLst>
                    <a:ext uri="{9D8B030D-6E8A-4147-A177-3AD203B41FA5}">
                      <a16:colId xmlns:a16="http://schemas.microsoft.com/office/drawing/2014/main" val="20003"/>
                    </a:ext>
                  </a:extLst>
                </a:gridCol>
              </a:tblGrid>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Training</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Validation</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67.4%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64.1%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62.8%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Precision (class 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0.67</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Recall (class 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AUC-ROC</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Shape 8"/>
          <p:cNvSpPr/>
          <p:nvPr/>
        </p:nvSpPr>
        <p:spPr>
          <a:xfrm>
            <a:off x="4663440" y="713232"/>
            <a:ext cx="4297680" cy="1920240"/>
          </a:xfrm>
          <a:prstGeom prst="rect">
            <a:avLst/>
          </a:prstGeom>
          <a:solidFill>
            <a:srgbClr val="EEF4FB"/>
          </a:solidFill>
          <a:ln/>
          <a:effectLst>
            <a:outerShdw blurRad="76200" dist="25400" dir="8100000" algn="bl" rotWithShape="0">
              <a:srgbClr val="000000">
                <a:alpha val="12000"/>
              </a:srgbClr>
            </a:outerShdw>
          </a:effectLst>
        </p:spPr>
      </p:sp>
      <p:sp>
        <p:nvSpPr>
          <p:cNvPr id="12" name="Shape 9"/>
          <p:cNvSpPr/>
          <p:nvPr/>
        </p:nvSpPr>
        <p:spPr>
          <a:xfrm>
            <a:off x="4663440" y="713232"/>
            <a:ext cx="4297680" cy="329184"/>
          </a:xfrm>
          <a:prstGeom prst="rect">
            <a:avLst/>
          </a:prstGeom>
          <a:solidFill>
            <a:srgbClr val="1B6CA8"/>
          </a:solidFill>
          <a:ln/>
        </p:spPr>
      </p:sp>
      <p:sp>
        <p:nvSpPr>
          <p:cNvPr id="13" name="Text 10"/>
          <p:cNvSpPr/>
          <p:nvPr/>
        </p:nvSpPr>
        <p:spPr>
          <a:xfrm>
            <a:off x="4754880" y="731520"/>
            <a:ext cx="41148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Portfolio Performance — Test Period (2022–2024)</a:t>
            </a:r>
            <a:endParaRPr lang="en-US" sz="105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4736592" y="1097280"/>
          <a:ext cx="4151375" cy="2015338"/>
        </p:xfrm>
        <a:graphic>
          <a:graphicData uri="http://schemas.openxmlformats.org/drawingml/2006/table">
            <a:tbl>
              <a:tblPr/>
              <a:tblGrid>
                <a:gridCol w="830275">
                  <a:extLst>
                    <a:ext uri="{9D8B030D-6E8A-4147-A177-3AD203B41FA5}">
                      <a16:colId xmlns:a16="http://schemas.microsoft.com/office/drawing/2014/main" val="20000"/>
                    </a:ext>
                  </a:extLst>
                </a:gridCol>
                <a:gridCol w="830275">
                  <a:extLst>
                    <a:ext uri="{9D8B030D-6E8A-4147-A177-3AD203B41FA5}">
                      <a16:colId xmlns:a16="http://schemas.microsoft.com/office/drawing/2014/main" val="20001"/>
                    </a:ext>
                  </a:extLst>
                </a:gridCol>
                <a:gridCol w="830275">
                  <a:extLst>
                    <a:ext uri="{9D8B030D-6E8A-4147-A177-3AD203B41FA5}">
                      <a16:colId xmlns:a16="http://schemas.microsoft.com/office/drawing/2014/main" val="20002"/>
                    </a:ext>
                  </a:extLst>
                </a:gridCol>
                <a:gridCol w="830275">
                  <a:extLst>
                    <a:ext uri="{9D8B030D-6E8A-4147-A177-3AD203B41FA5}">
                      <a16:colId xmlns:a16="http://schemas.microsoft.com/office/drawing/2014/main" val="20003"/>
                    </a:ext>
                  </a:extLst>
                </a:gridCol>
                <a:gridCol w="830275">
                  <a:extLst>
                    <a:ext uri="{9D8B030D-6E8A-4147-A177-3AD203B41FA5}">
                      <a16:colId xmlns:a16="http://schemas.microsoft.com/office/drawing/2014/main" val="20004"/>
                    </a:ext>
                  </a:extLst>
                </a:gridCol>
              </a:tblGrid>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Portfolio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Return</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σ</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Sharpe</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Max DD</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Equal Weight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18.4%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-24.1%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MVO Max SR</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-18.2%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LR Top-K (k=10)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-17.8%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7978">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LR Proportional</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13.7%</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0.77</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hape 11"/>
          <p:cNvSpPr/>
          <p:nvPr/>
        </p:nvSpPr>
        <p:spPr>
          <a:xfrm>
            <a:off x="182880" y="2706624"/>
            <a:ext cx="4315968" cy="2057400"/>
          </a:xfrm>
          <a:prstGeom prst="rect">
            <a:avLst/>
          </a:prstGeom>
          <a:solidFill>
            <a:srgbClr val="EEF4FB"/>
          </a:solidFill>
          <a:ln/>
          <a:effectLst>
            <a:outerShdw blurRad="76200" dist="25400" dir="8100000" algn="bl" rotWithShape="0">
              <a:srgbClr val="000000">
                <a:alpha val="12000"/>
              </a:srgbClr>
            </a:outerShdw>
          </a:effectLst>
        </p:spPr>
      </p:sp>
      <p:sp>
        <p:nvSpPr>
          <p:cNvPr id="16" name="Shape 12"/>
          <p:cNvSpPr/>
          <p:nvPr/>
        </p:nvSpPr>
        <p:spPr>
          <a:xfrm>
            <a:off x="182880" y="2706624"/>
            <a:ext cx="4315968" cy="329184"/>
          </a:xfrm>
          <a:prstGeom prst="rect">
            <a:avLst/>
          </a:prstGeom>
          <a:solidFill>
            <a:srgbClr val="1E8449"/>
          </a:solidFill>
          <a:ln/>
        </p:spPr>
      </p:sp>
      <p:sp>
        <p:nvSpPr>
          <p:cNvPr id="17" name="Text 13"/>
          <p:cNvSpPr/>
          <p:nvPr/>
        </p:nvSpPr>
        <p:spPr>
          <a:xfrm>
            <a:off x="274320" y="2724912"/>
            <a:ext cx="413308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GRS Test Result</a:t>
            </a:r>
            <a:endParaRPr lang="en-US" sz="1100" dirty="0"/>
          </a:p>
        </p:txBody>
      </p:sp>
      <p:sp>
        <p:nvSpPr>
          <p:cNvPr id="18" name="Text 14"/>
          <p:cNvSpPr/>
          <p:nvPr/>
        </p:nvSpPr>
        <p:spPr>
          <a:xfrm>
            <a:off x="274320" y="3108960"/>
            <a:ext cx="4133088" cy="1591056"/>
          </a:xfrm>
          <a:prstGeom prst="rect">
            <a:avLst/>
          </a:prstGeom>
          <a:noFill/>
          <a:ln/>
        </p:spPr>
        <p:txBody>
          <a:bodyPr wrap="square" lIns="0" tIns="0" rIns="0" bIns="0"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H₀: LR portfolio is mean-variance efficient (α = 0)
</a:t>
            </a:r>
            <a:r>
              <a:rPr lang="en-US" sz="1050" b="1" dirty="0">
                <a:solidFill>
                  <a:srgbClr val="1B6CA8"/>
                </a:solidFill>
                <a:latin typeface="Calibri" pitchFamily="34" charset="0"/>
                <a:ea typeface="Calibri" pitchFamily="34" charset="-122"/>
                <a:cs typeface="Calibri" pitchFamily="34" charset="-120"/>
              </a:rPr>
              <a:t>GRS F-statistic:  F(30, 500) = 1.42
p-value:  0.068
</a:t>
            </a:r>
            <a:r>
              <a:rPr lang="en-US" sz="1050" b="1" dirty="0">
                <a:solidFill>
                  <a:srgbClr val="1E8449"/>
                </a:solidFill>
                <a:latin typeface="Calibri" pitchFamily="34" charset="0"/>
                <a:ea typeface="Calibri" pitchFamily="34" charset="-122"/>
                <a:cs typeface="Calibri" pitchFamily="34" charset="-120"/>
              </a:rPr>
              <a:t>Result: Fail to reject H₀ at 5% significance level.
</a:t>
            </a:r>
            <a:r>
              <a:rPr lang="en-US" sz="1050" dirty="0">
                <a:solidFill>
                  <a:srgbClr val="0D1B2A"/>
                </a:solidFill>
                <a:latin typeface="Calibri" pitchFamily="34" charset="0"/>
                <a:ea typeface="Calibri" pitchFamily="34" charset="-122"/>
                <a:cs typeface="Calibri" pitchFamily="34" charset="-120"/>
              </a:rPr>
              <a:t>Conclusion: The LR portfolio is statistically consistent with mean-variance efficiency — it lies near (but not exactly on) the efficient frontier.</a:t>
            </a:r>
            <a:endParaRPr lang="en-US" sz="1050" dirty="0"/>
          </a:p>
        </p:txBody>
      </p:sp>
      <p:sp>
        <p:nvSpPr>
          <p:cNvPr id="19" name="Shape 15"/>
          <p:cNvSpPr/>
          <p:nvPr/>
        </p:nvSpPr>
        <p:spPr>
          <a:xfrm>
            <a:off x="4663440" y="2706624"/>
            <a:ext cx="4297680" cy="2057400"/>
          </a:xfrm>
          <a:prstGeom prst="rect">
            <a:avLst/>
          </a:prstGeom>
          <a:solidFill>
            <a:srgbClr val="F0F4F8"/>
          </a:solidFill>
          <a:ln/>
        </p:spPr>
      </p:sp>
      <p:sp>
        <p:nvSpPr>
          <p:cNvPr id="20" name="Text 16"/>
          <p:cNvSpPr/>
          <p:nvPr/>
        </p:nvSpPr>
        <p:spPr>
          <a:xfrm>
            <a:off x="4663440" y="2706624"/>
            <a:ext cx="4297680" cy="256032"/>
          </a:xfrm>
          <a:prstGeom prst="rect">
            <a:avLst/>
          </a:prstGeom>
          <a:noFill/>
          <a:ln/>
        </p:spPr>
        <p:txBody>
          <a:bodyPr wrap="square" lIns="0" tIns="0" rIns="0" bIns="0" rtlCol="0" anchor="ctr"/>
          <a:lstStyle/>
          <a:p>
            <a:pPr marL="0" indent="0" algn="ctr">
              <a:buNone/>
            </a:pPr>
            <a:r>
              <a:rPr lang="en-US" sz="1000" b="1" dirty="0">
                <a:solidFill>
                  <a:srgbClr val="0D1B2A"/>
                </a:solidFill>
                <a:latin typeface="Calibri" pitchFamily="34" charset="0"/>
                <a:ea typeface="Calibri" pitchFamily="34" charset="-122"/>
                <a:cs typeface="Calibri" pitchFamily="34" charset="-120"/>
              </a:rPr>
              <a:t>LR Portfolio vs. Efficient Frontier</a:t>
            </a:r>
            <a:endParaRPr lang="en-US" sz="1000" dirty="0"/>
          </a:p>
        </p:txBody>
      </p:sp>
      <p:sp>
        <p:nvSpPr>
          <p:cNvPr id="21" name="Shape 17"/>
          <p:cNvSpPr/>
          <p:nvPr/>
        </p:nvSpPr>
        <p:spPr>
          <a:xfrm>
            <a:off x="4846320" y="4544568"/>
            <a:ext cx="3931920" cy="0"/>
          </a:xfrm>
          <a:prstGeom prst="line">
            <a:avLst/>
          </a:prstGeom>
          <a:noFill/>
          <a:ln w="12700">
            <a:solidFill>
              <a:srgbClr val="0D1B2A"/>
            </a:solidFill>
            <a:prstDash val="solid"/>
          </a:ln>
        </p:spPr>
      </p:sp>
      <p:sp>
        <p:nvSpPr>
          <p:cNvPr id="22" name="Shape 18"/>
          <p:cNvSpPr/>
          <p:nvPr/>
        </p:nvSpPr>
        <p:spPr>
          <a:xfrm>
            <a:off x="4846320" y="2999232"/>
            <a:ext cx="0" cy="1545336"/>
          </a:xfrm>
          <a:prstGeom prst="line">
            <a:avLst/>
          </a:prstGeom>
          <a:noFill/>
          <a:ln w="12700">
            <a:solidFill>
              <a:srgbClr val="0D1B2A"/>
            </a:solidFill>
            <a:prstDash val="solid"/>
          </a:ln>
        </p:spPr>
      </p:sp>
      <p:sp>
        <p:nvSpPr>
          <p:cNvPr id="23" name="Shape 19"/>
          <p:cNvSpPr/>
          <p:nvPr/>
        </p:nvSpPr>
        <p:spPr>
          <a:xfrm>
            <a:off x="5029200" y="4251960"/>
            <a:ext cx="182880" cy="0"/>
          </a:xfrm>
          <a:prstGeom prst="line">
            <a:avLst/>
          </a:prstGeom>
          <a:noFill/>
          <a:ln w="31750">
            <a:solidFill>
              <a:srgbClr val="1B6CA8"/>
            </a:solidFill>
            <a:prstDash val="solid"/>
          </a:ln>
        </p:spPr>
      </p:sp>
      <p:sp>
        <p:nvSpPr>
          <p:cNvPr id="24" name="Shape 20"/>
          <p:cNvSpPr/>
          <p:nvPr/>
        </p:nvSpPr>
        <p:spPr>
          <a:xfrm>
            <a:off x="5212080" y="3931920"/>
            <a:ext cx="228600" cy="0"/>
          </a:xfrm>
          <a:prstGeom prst="line">
            <a:avLst/>
          </a:prstGeom>
          <a:noFill/>
          <a:ln w="31750">
            <a:solidFill>
              <a:srgbClr val="1B6CA8"/>
            </a:solidFill>
            <a:prstDash val="solid"/>
          </a:ln>
        </p:spPr>
      </p:sp>
      <p:sp>
        <p:nvSpPr>
          <p:cNvPr id="25" name="Shape 21"/>
          <p:cNvSpPr/>
          <p:nvPr/>
        </p:nvSpPr>
        <p:spPr>
          <a:xfrm>
            <a:off x="5440680" y="3584448"/>
            <a:ext cx="274320" cy="0"/>
          </a:xfrm>
          <a:prstGeom prst="line">
            <a:avLst/>
          </a:prstGeom>
          <a:noFill/>
          <a:ln w="31750">
            <a:solidFill>
              <a:srgbClr val="1B6CA8"/>
            </a:solidFill>
            <a:prstDash val="solid"/>
          </a:ln>
        </p:spPr>
      </p:sp>
      <p:sp>
        <p:nvSpPr>
          <p:cNvPr id="10" name="Shape 22"/>
          <p:cNvSpPr/>
          <p:nvPr/>
        </p:nvSpPr>
        <p:spPr>
          <a:xfrm>
            <a:off x="5715000" y="3310128"/>
            <a:ext cx="320040" cy="0"/>
          </a:xfrm>
          <a:prstGeom prst="line">
            <a:avLst/>
          </a:prstGeom>
          <a:noFill/>
          <a:ln w="31750">
            <a:solidFill>
              <a:srgbClr val="1B6CA8"/>
            </a:solidFill>
            <a:prstDash val="solid"/>
          </a:ln>
        </p:spPr>
      </p:sp>
      <p:sp>
        <p:nvSpPr>
          <p:cNvPr id="27" name="Shape 23"/>
          <p:cNvSpPr/>
          <p:nvPr/>
        </p:nvSpPr>
        <p:spPr>
          <a:xfrm>
            <a:off x="6035040" y="3108960"/>
            <a:ext cx="365760" cy="0"/>
          </a:xfrm>
          <a:prstGeom prst="line">
            <a:avLst/>
          </a:prstGeom>
          <a:noFill/>
          <a:ln w="31750">
            <a:solidFill>
              <a:srgbClr val="1B6CA8"/>
            </a:solidFill>
            <a:prstDash val="solid"/>
          </a:ln>
        </p:spPr>
      </p:sp>
      <p:sp>
        <p:nvSpPr>
          <p:cNvPr id="28" name="Shape 24"/>
          <p:cNvSpPr/>
          <p:nvPr/>
        </p:nvSpPr>
        <p:spPr>
          <a:xfrm>
            <a:off x="6400800" y="3017520"/>
            <a:ext cx="384048" cy="73152"/>
          </a:xfrm>
          <a:prstGeom prst="line">
            <a:avLst/>
          </a:prstGeom>
          <a:noFill/>
          <a:ln w="31750">
            <a:solidFill>
              <a:srgbClr val="1B6CA8"/>
            </a:solidFill>
            <a:prstDash val="solid"/>
          </a:ln>
        </p:spPr>
      </p:sp>
      <p:sp>
        <p:nvSpPr>
          <p:cNvPr id="29" name="Shape 25"/>
          <p:cNvSpPr/>
          <p:nvPr/>
        </p:nvSpPr>
        <p:spPr>
          <a:xfrm>
            <a:off x="6784848" y="3090672"/>
            <a:ext cx="393192" cy="219456"/>
          </a:xfrm>
          <a:prstGeom prst="line">
            <a:avLst/>
          </a:prstGeom>
          <a:noFill/>
          <a:ln w="31750">
            <a:solidFill>
              <a:srgbClr val="1B6CA8"/>
            </a:solidFill>
            <a:prstDash val="solid"/>
          </a:ln>
        </p:spPr>
      </p:sp>
      <p:sp>
        <p:nvSpPr>
          <p:cNvPr id="30" name="Shape 26"/>
          <p:cNvSpPr/>
          <p:nvPr/>
        </p:nvSpPr>
        <p:spPr>
          <a:xfrm>
            <a:off x="7178040" y="3310128"/>
            <a:ext cx="320040" cy="256032"/>
          </a:xfrm>
          <a:prstGeom prst="line">
            <a:avLst/>
          </a:prstGeom>
          <a:noFill/>
          <a:ln w="31750">
            <a:solidFill>
              <a:srgbClr val="1B6CA8"/>
            </a:solidFill>
            <a:prstDash val="solid"/>
          </a:ln>
        </p:spPr>
      </p:sp>
      <p:sp>
        <p:nvSpPr>
          <p:cNvPr id="31" name="Shape 27"/>
          <p:cNvSpPr/>
          <p:nvPr/>
        </p:nvSpPr>
        <p:spPr>
          <a:xfrm>
            <a:off x="7498080" y="3566160"/>
            <a:ext cx="274320" cy="320040"/>
          </a:xfrm>
          <a:prstGeom prst="line">
            <a:avLst/>
          </a:prstGeom>
          <a:noFill/>
          <a:ln w="31750">
            <a:solidFill>
              <a:srgbClr val="1B6CA8"/>
            </a:solidFill>
            <a:prstDash val="solid"/>
          </a:ln>
        </p:spPr>
      </p:sp>
      <p:sp>
        <p:nvSpPr>
          <p:cNvPr id="32" name="Shape 28"/>
          <p:cNvSpPr/>
          <p:nvPr/>
        </p:nvSpPr>
        <p:spPr>
          <a:xfrm>
            <a:off x="7772400" y="3886200"/>
            <a:ext cx="731520" cy="411480"/>
          </a:xfrm>
          <a:prstGeom prst="line">
            <a:avLst/>
          </a:prstGeom>
          <a:noFill/>
          <a:ln w="31750">
            <a:solidFill>
              <a:srgbClr val="1B6CA8"/>
            </a:solidFill>
            <a:prstDash val="solid"/>
          </a:ln>
        </p:spPr>
      </p:sp>
      <p:sp>
        <p:nvSpPr>
          <p:cNvPr id="33" name="Shape 29"/>
          <p:cNvSpPr/>
          <p:nvPr/>
        </p:nvSpPr>
        <p:spPr>
          <a:xfrm>
            <a:off x="6291072" y="3127248"/>
            <a:ext cx="182880" cy="182880"/>
          </a:xfrm>
          <a:prstGeom prst="ellipse">
            <a:avLst/>
          </a:prstGeom>
          <a:solidFill>
            <a:srgbClr val="C0392B"/>
          </a:solidFill>
          <a:ln/>
        </p:spPr>
      </p:sp>
      <p:sp>
        <p:nvSpPr>
          <p:cNvPr id="34" name="Text 30"/>
          <p:cNvSpPr/>
          <p:nvPr/>
        </p:nvSpPr>
        <p:spPr>
          <a:xfrm>
            <a:off x="6510528" y="3063240"/>
            <a:ext cx="1188720" cy="347472"/>
          </a:xfrm>
          <a:prstGeom prst="rect">
            <a:avLst/>
          </a:prstGeom>
          <a:noFill/>
          <a:ln/>
        </p:spPr>
        <p:txBody>
          <a:bodyPr wrap="square" lIns="0" tIns="0" rIns="0" bIns="0" rtlCol="0" anchor="ctr"/>
          <a:lstStyle/>
          <a:p>
            <a:pPr marL="0" indent="0">
              <a:buNone/>
            </a:pPr>
            <a:r>
              <a:rPr lang="en-US" sz="850" b="1" dirty="0">
                <a:solidFill>
                  <a:srgbClr val="C0392B"/>
                </a:solidFill>
                <a:latin typeface="Calibri" pitchFamily="34" charset="0"/>
                <a:ea typeface="Calibri" pitchFamily="34" charset="-122"/>
                <a:cs typeface="Calibri" pitchFamily="34" charset="-120"/>
              </a:rPr>
              <a:t>LR Portfolio</a:t>
            </a:r>
            <a:endParaRPr lang="en-US" sz="850" dirty="0"/>
          </a:p>
          <a:p>
            <a:pPr marL="0" indent="0">
              <a:buNone/>
            </a:pPr>
            <a:r>
              <a:rPr lang="en-US" sz="850" b="1" dirty="0">
                <a:solidFill>
                  <a:srgbClr val="C0392B"/>
                </a:solidFill>
                <a:latin typeface="Calibri" pitchFamily="34" charset="0"/>
                <a:ea typeface="Calibri" pitchFamily="34" charset="-122"/>
                <a:cs typeface="Calibri" pitchFamily="34" charset="-120"/>
              </a:rPr>
              <a:t>(p=0.068)</a:t>
            </a:r>
            <a:endParaRPr lang="en-US" sz="850" dirty="0"/>
          </a:p>
        </p:txBody>
      </p:sp>
      <p:sp>
        <p:nvSpPr>
          <p:cNvPr id="35" name="Shape 31"/>
          <p:cNvSpPr/>
          <p:nvPr/>
        </p:nvSpPr>
        <p:spPr>
          <a:xfrm>
            <a:off x="5961888" y="3035808"/>
            <a:ext cx="164592" cy="164592"/>
          </a:xfrm>
          <a:prstGeom prst="ellipse">
            <a:avLst/>
          </a:prstGeom>
          <a:solidFill>
            <a:srgbClr val="1E8449"/>
          </a:solidFill>
          <a:ln/>
        </p:spPr>
      </p:sp>
      <p:sp>
        <p:nvSpPr>
          <p:cNvPr id="36" name="Text 32"/>
          <p:cNvSpPr/>
          <p:nvPr/>
        </p:nvSpPr>
        <p:spPr>
          <a:xfrm>
            <a:off x="6163056" y="3017520"/>
            <a:ext cx="777240" cy="201168"/>
          </a:xfrm>
          <a:prstGeom prst="rect">
            <a:avLst/>
          </a:prstGeom>
          <a:noFill/>
          <a:ln/>
        </p:spPr>
        <p:txBody>
          <a:bodyPr wrap="square" lIns="0" tIns="0" rIns="0" bIns="0" rtlCol="0" anchor="ctr"/>
          <a:lstStyle/>
          <a:p>
            <a:pPr marL="0" indent="0">
              <a:buNone/>
            </a:pPr>
            <a:r>
              <a:rPr lang="en-US" sz="800" dirty="0">
                <a:solidFill>
                  <a:srgbClr val="1E8449"/>
                </a:solidFill>
                <a:latin typeface="Calibri" pitchFamily="34" charset="0"/>
                <a:ea typeface="Calibri" pitchFamily="34" charset="-122"/>
                <a:cs typeface="Calibri" pitchFamily="34" charset="-120"/>
              </a:rPr>
              <a:t>Tangency</a:t>
            </a:r>
            <a:endParaRPr lang="en-US" sz="800" dirty="0"/>
          </a:p>
        </p:txBody>
      </p:sp>
      <p:sp>
        <p:nvSpPr>
          <p:cNvPr id="37" name="Text 33"/>
          <p:cNvSpPr/>
          <p:nvPr/>
        </p:nvSpPr>
        <p:spPr>
          <a:xfrm>
            <a:off x="8458200" y="4498848"/>
            <a:ext cx="411480" cy="182880"/>
          </a:xfrm>
          <a:prstGeom prst="rect">
            <a:avLst/>
          </a:prstGeom>
          <a:noFill/>
          <a:ln/>
        </p:spPr>
        <p:txBody>
          <a:bodyPr wrap="square" lIns="0" tIns="0" rIns="0" bIns="0" rtlCol="0" anchor="ctr"/>
          <a:lstStyle/>
          <a:p>
            <a:pPr marL="0" indent="0">
              <a:buNone/>
            </a:pPr>
            <a:r>
              <a:rPr lang="en-US" sz="800" dirty="0">
                <a:solidFill>
                  <a:srgbClr val="0D1B2A"/>
                </a:solidFill>
                <a:latin typeface="Calibri" pitchFamily="34" charset="0"/>
                <a:ea typeface="Calibri" pitchFamily="34" charset="-122"/>
                <a:cs typeface="Calibri" pitchFamily="34" charset="-120"/>
              </a:rPr>
              <a:t>σ →</a:t>
            </a:r>
            <a:endParaRPr lang="en-US" sz="800" dirty="0"/>
          </a:p>
        </p:txBody>
      </p:sp>
      <p:sp>
        <p:nvSpPr>
          <p:cNvPr id="38" name="Text 34"/>
          <p:cNvSpPr/>
          <p:nvPr/>
        </p:nvSpPr>
        <p:spPr>
          <a:xfrm>
            <a:off x="4681728" y="2971800"/>
            <a:ext cx="411480" cy="182880"/>
          </a:xfrm>
          <a:prstGeom prst="rect">
            <a:avLst/>
          </a:prstGeom>
          <a:noFill/>
          <a:ln/>
        </p:spPr>
        <p:txBody>
          <a:bodyPr wrap="square" lIns="0" tIns="0" rIns="0" bIns="0" rtlCol="0" anchor="ctr"/>
          <a:lstStyle/>
          <a:p>
            <a:pPr marL="0" indent="0">
              <a:buNone/>
            </a:pPr>
            <a:r>
              <a:rPr lang="en-US" sz="800" dirty="0">
                <a:solidFill>
                  <a:srgbClr val="0D1B2A"/>
                </a:solidFill>
                <a:latin typeface="Calibri" pitchFamily="34" charset="0"/>
                <a:ea typeface="Calibri" pitchFamily="34" charset="-122"/>
                <a:cs typeface="Calibri" pitchFamily="34" charset="-120"/>
              </a:rPr>
              <a:t>E[R] ↑</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Comprehensive Model Comparison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2004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Out-of-sample performance comparison across all portfolio construction methods on the test period (Jan 2022 – Dec 2024):</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82880" y="1097280"/>
          <a:ext cx="8778240" cy="237744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Ret.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Ann. σ</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Sharpe</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Sortino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Max DD</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Calmar</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Info. Ratio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Equal Weight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18.4%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-24.1%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0.49</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MVO — Min Var</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13.2%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0.38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MVO — Max SR</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1.24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-18.2%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0.90</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LR Top-K</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15.6%</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-17.8%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LR Proportional</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13.7%</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0.77</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0.83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0.43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GARCH-DCC MVO</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17.1%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15.4%</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0.98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1.42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-15.2%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0.72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7180">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NIFTY 50 (Bmark)</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16.2%</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0.63</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0.91</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-21.5%</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0.58</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12700" cap="flat" cmpd="sng" algn="ctr">
                      <a:solidFill>
                        <a:srgbClr val="D6E0EA"/>
                      </a:solidFill>
                      <a:prstDash val="solid"/>
                      <a:round/>
                      <a:headEnd type="none" w="med" len="med"/>
                      <a:tailEnd type="none" w="med" len="med"/>
                    </a:lnL>
                    <a:lnR w="12700" cap="flat" cmpd="sng" algn="ctr">
                      <a:solidFill>
                        <a:srgbClr val="D6E0EA"/>
                      </a:solidFill>
                      <a:prstDash val="solid"/>
                      <a:round/>
                      <a:headEnd type="none" w="med" len="med"/>
                      <a:tailEnd type="none" w="med" len="med"/>
                    </a:lnR>
                    <a:lnT w="12700" cap="flat" cmpd="sng" algn="ctr">
                      <a:solidFill>
                        <a:srgbClr val="D6E0EA"/>
                      </a:solidFill>
                      <a:prstDash val="solid"/>
                      <a:round/>
                      <a:headEnd type="none" w="med" len="med"/>
                      <a:tailEnd type="none" w="med" len="med"/>
                    </a:lnT>
                    <a:lnB w="12700" cap="flat" cmpd="sng" algn="ctr">
                      <a:solidFill>
                        <a:srgbClr val="D6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6"/>
          <p:cNvSpPr/>
          <p:nvPr/>
        </p:nvSpPr>
        <p:spPr>
          <a:xfrm>
            <a:off x="182880" y="3566160"/>
            <a:ext cx="8778240" cy="329184"/>
          </a:xfrm>
          <a:prstGeom prst="rect">
            <a:avLst/>
          </a:prstGeom>
          <a:solidFill>
            <a:srgbClr val="0D1B2A"/>
          </a:solidFill>
          <a:ln/>
        </p:spPr>
      </p:sp>
      <p:sp>
        <p:nvSpPr>
          <p:cNvPr id="10" name="Text 7"/>
          <p:cNvSpPr/>
          <p:nvPr/>
        </p:nvSpPr>
        <p:spPr>
          <a:xfrm>
            <a:off x="274320" y="3584448"/>
            <a:ext cx="8503920" cy="274320"/>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Key Findings</a:t>
            </a:r>
            <a:endParaRPr lang="en-US" sz="1100" dirty="0"/>
          </a:p>
        </p:txBody>
      </p:sp>
      <p:pic>
        <p:nvPicPr>
          <p:cNvPr id="11" name="Image 0" descr="preencoded.png"/>
          <p:cNvPicPr>
            <a:picLocks noChangeAspect="1"/>
          </p:cNvPicPr>
          <p:nvPr/>
        </p:nvPicPr>
        <p:blipFill>
          <a:blip r:embed="rId3"/>
          <a:stretch>
            <a:fillRect/>
          </a:stretch>
        </p:blipFill>
        <p:spPr>
          <a:xfrm>
            <a:off x="228600" y="4032504"/>
            <a:ext cx="274320" cy="274320"/>
          </a:xfrm>
          <a:prstGeom prst="rect">
            <a:avLst/>
          </a:prstGeom>
        </p:spPr>
      </p:pic>
      <p:sp>
        <p:nvSpPr>
          <p:cNvPr id="12" name="Text 8"/>
          <p:cNvSpPr/>
          <p:nvPr/>
        </p:nvSpPr>
        <p:spPr>
          <a:xfrm>
            <a:off x="566928" y="4023360"/>
            <a:ext cx="3858768" cy="3840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GARCH-DCC MVO achieves the best Sharpe (0.98) and Sortino (1.42), demonstrating the value of dynamic volatility modelling.</a:t>
            </a:r>
            <a:endParaRPr lang="en-US" sz="1000" dirty="0"/>
          </a:p>
        </p:txBody>
      </p:sp>
      <p:pic>
        <p:nvPicPr>
          <p:cNvPr id="13" name="Image 1" descr="preencoded.png"/>
          <p:cNvPicPr>
            <a:picLocks noChangeAspect="1"/>
          </p:cNvPicPr>
          <p:nvPr/>
        </p:nvPicPr>
        <p:blipFill>
          <a:blip r:embed="rId4"/>
          <a:stretch>
            <a:fillRect/>
          </a:stretch>
        </p:blipFill>
        <p:spPr>
          <a:xfrm>
            <a:off x="4709160" y="4032504"/>
            <a:ext cx="274320" cy="274320"/>
          </a:xfrm>
          <a:prstGeom prst="rect">
            <a:avLst/>
          </a:prstGeom>
        </p:spPr>
      </p:pic>
      <p:sp>
        <p:nvSpPr>
          <p:cNvPr id="14" name="Text 9"/>
          <p:cNvSpPr/>
          <p:nvPr/>
        </p:nvSpPr>
        <p:spPr>
          <a:xfrm>
            <a:off x="5047488" y="4023360"/>
            <a:ext cx="3858768" cy="3840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Both MVO formulations outperform equal weighting — confirming Markowitz theory holds empirically on NSE data.</a:t>
            </a:r>
            <a:endParaRPr lang="en-US" sz="1000" dirty="0"/>
          </a:p>
        </p:txBody>
      </p:sp>
      <p:pic>
        <p:nvPicPr>
          <p:cNvPr id="15" name="Image 2" descr="preencoded.png"/>
          <p:cNvPicPr>
            <a:picLocks noChangeAspect="1"/>
          </p:cNvPicPr>
          <p:nvPr/>
        </p:nvPicPr>
        <p:blipFill>
          <a:blip r:embed="rId5"/>
          <a:stretch>
            <a:fillRect/>
          </a:stretch>
        </p:blipFill>
        <p:spPr>
          <a:xfrm>
            <a:off x="228600" y="4507992"/>
            <a:ext cx="274320" cy="274320"/>
          </a:xfrm>
          <a:prstGeom prst="rect">
            <a:avLst/>
          </a:prstGeom>
        </p:spPr>
      </p:pic>
      <p:sp>
        <p:nvSpPr>
          <p:cNvPr id="16" name="Text 10"/>
          <p:cNvSpPr/>
          <p:nvPr/>
        </p:nvSpPr>
        <p:spPr>
          <a:xfrm>
            <a:off x="566928" y="4498848"/>
            <a:ext cx="3858768" cy="3840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Logistic Regression portfolios show competitive Sharpe ratios (0.77–0.82) with the additional benefit of lower max drawdown.</a:t>
            </a:r>
            <a:endParaRPr lang="en-US" sz="1000" dirty="0"/>
          </a:p>
        </p:txBody>
      </p:sp>
      <p:pic>
        <p:nvPicPr>
          <p:cNvPr id="17" name="Image 3" descr="preencoded.png"/>
          <p:cNvPicPr>
            <a:picLocks noChangeAspect="1"/>
          </p:cNvPicPr>
          <p:nvPr/>
        </p:nvPicPr>
        <p:blipFill>
          <a:blip r:embed="rId6"/>
          <a:stretch>
            <a:fillRect/>
          </a:stretch>
        </p:blipFill>
        <p:spPr>
          <a:xfrm>
            <a:off x="4709160" y="4507992"/>
            <a:ext cx="274320" cy="274320"/>
          </a:xfrm>
          <a:prstGeom prst="rect">
            <a:avLst/>
          </a:prstGeom>
        </p:spPr>
      </p:pic>
      <p:sp>
        <p:nvSpPr>
          <p:cNvPr id="18" name="Text 11"/>
          <p:cNvSpPr/>
          <p:nvPr/>
        </p:nvSpPr>
        <p:spPr>
          <a:xfrm>
            <a:off x="5047488" y="4498848"/>
            <a:ext cx="3858768" cy="384048"/>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All optimised portfolios significantly outperform the NIFTY 50 benchmark on risk-adjusted basis in the test period.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06</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Limitations &amp; Future Scope</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Real-World Challenges and Emerging AI/DL Techniques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Key Limitations in Practice</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4980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49808"/>
            <a:ext cx="502920" cy="1325880"/>
          </a:xfrm>
          <a:prstGeom prst="rect">
            <a:avLst/>
          </a:prstGeom>
          <a:solidFill>
            <a:srgbClr val="C0392B"/>
          </a:solidFill>
          <a:ln/>
        </p:spPr>
      </p:sp>
      <p:sp>
        <p:nvSpPr>
          <p:cNvPr id="9" name="Text 7"/>
          <p:cNvSpPr/>
          <p:nvPr/>
        </p:nvSpPr>
        <p:spPr>
          <a:xfrm>
            <a:off x="237744" y="122529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L1</a:t>
            </a:r>
            <a:endParaRPr lang="en-US" sz="1300" dirty="0"/>
          </a:p>
        </p:txBody>
      </p:sp>
      <p:sp>
        <p:nvSpPr>
          <p:cNvPr id="10" name="Text 8"/>
          <p:cNvSpPr/>
          <p:nvPr/>
        </p:nvSpPr>
        <p:spPr>
          <a:xfrm>
            <a:off x="768096" y="804672"/>
            <a:ext cx="3639312" cy="256032"/>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Estimation Error</a:t>
            </a:r>
            <a:endParaRPr lang="en-US" sz="1100" dirty="0"/>
          </a:p>
        </p:txBody>
      </p:sp>
      <p:sp>
        <p:nvSpPr>
          <p:cNvPr id="11" name="Text 9"/>
          <p:cNvSpPr/>
          <p:nvPr/>
        </p:nvSpPr>
        <p:spPr>
          <a:xfrm>
            <a:off x="768096" y="111556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All methods rely on estimated μ and Σ. In practice, estimation error from limited samples dominates optimisation benefits. Bayesian shrinkage (Ledoit-Wolf) and Black-Litterman help but don't fully solve the problem.</a:t>
            </a:r>
            <a:endParaRPr lang="en-US" sz="1000" dirty="0"/>
          </a:p>
        </p:txBody>
      </p:sp>
      <p:sp>
        <p:nvSpPr>
          <p:cNvPr id="12" name="Shape 10"/>
          <p:cNvSpPr/>
          <p:nvPr/>
        </p:nvSpPr>
        <p:spPr>
          <a:xfrm>
            <a:off x="4663440" y="74980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13" name="Shape 11"/>
          <p:cNvSpPr/>
          <p:nvPr/>
        </p:nvSpPr>
        <p:spPr>
          <a:xfrm>
            <a:off x="4663440" y="749808"/>
            <a:ext cx="502920" cy="1325880"/>
          </a:xfrm>
          <a:prstGeom prst="rect">
            <a:avLst/>
          </a:prstGeom>
          <a:solidFill>
            <a:srgbClr val="7D3C98"/>
          </a:solidFill>
          <a:ln/>
        </p:spPr>
      </p:sp>
      <p:sp>
        <p:nvSpPr>
          <p:cNvPr id="14" name="Text 12"/>
          <p:cNvSpPr/>
          <p:nvPr/>
        </p:nvSpPr>
        <p:spPr>
          <a:xfrm>
            <a:off x="4718304" y="122529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L2</a:t>
            </a:r>
            <a:endParaRPr lang="en-US" sz="1300" dirty="0"/>
          </a:p>
        </p:txBody>
      </p:sp>
      <p:sp>
        <p:nvSpPr>
          <p:cNvPr id="15" name="Text 13"/>
          <p:cNvSpPr/>
          <p:nvPr/>
        </p:nvSpPr>
        <p:spPr>
          <a:xfrm>
            <a:off x="5248656" y="804672"/>
            <a:ext cx="3639312" cy="256032"/>
          </a:xfrm>
          <a:prstGeom prst="rect">
            <a:avLst/>
          </a:prstGeom>
          <a:noFill/>
          <a:ln/>
        </p:spPr>
        <p:txBody>
          <a:bodyPr wrap="square" lIns="0" tIns="0" rIns="0" bIns="0" rtlCol="0" anchor="ctr"/>
          <a:lstStyle/>
          <a:p>
            <a:pPr marL="0" indent="0">
              <a:buNone/>
            </a:pPr>
            <a:r>
              <a:rPr lang="en-US" sz="1100" b="1" dirty="0">
                <a:solidFill>
                  <a:srgbClr val="7D3C98"/>
                </a:solidFill>
                <a:latin typeface="Calibri" pitchFamily="34" charset="0"/>
                <a:ea typeface="Calibri" pitchFamily="34" charset="-122"/>
                <a:cs typeface="Calibri" pitchFamily="34" charset="-120"/>
              </a:rPr>
              <a:t>Stationarity Assumption</a:t>
            </a:r>
            <a:endParaRPr lang="en-US" sz="1100" dirty="0"/>
          </a:p>
        </p:txBody>
      </p:sp>
      <p:sp>
        <p:nvSpPr>
          <p:cNvPr id="16" name="Text 14"/>
          <p:cNvSpPr/>
          <p:nvPr/>
        </p:nvSpPr>
        <p:spPr>
          <a:xfrm>
            <a:off x="5248656" y="111556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GARCH and MVO assume return distributions are stable (stationary). Structural breaks (COVID, GFC) violate this. Rolling estimation windows mitigate but don't eliminate the issue.</a:t>
            </a:r>
            <a:endParaRPr lang="en-US" sz="1000" dirty="0"/>
          </a:p>
        </p:txBody>
      </p:sp>
      <p:sp>
        <p:nvSpPr>
          <p:cNvPr id="17" name="Shape 15"/>
          <p:cNvSpPr/>
          <p:nvPr/>
        </p:nvSpPr>
        <p:spPr>
          <a:xfrm>
            <a:off x="182880" y="221284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18" name="Shape 16"/>
          <p:cNvSpPr/>
          <p:nvPr/>
        </p:nvSpPr>
        <p:spPr>
          <a:xfrm>
            <a:off x="182880" y="2212848"/>
            <a:ext cx="502920" cy="1325880"/>
          </a:xfrm>
          <a:prstGeom prst="rect">
            <a:avLst/>
          </a:prstGeom>
          <a:solidFill>
            <a:srgbClr val="C8963E"/>
          </a:solidFill>
          <a:ln/>
        </p:spPr>
      </p:sp>
      <p:sp>
        <p:nvSpPr>
          <p:cNvPr id="19" name="Text 17"/>
          <p:cNvSpPr/>
          <p:nvPr/>
        </p:nvSpPr>
        <p:spPr>
          <a:xfrm>
            <a:off x="237744" y="268833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L3</a:t>
            </a:r>
            <a:endParaRPr lang="en-US" sz="1300" dirty="0"/>
          </a:p>
        </p:txBody>
      </p:sp>
      <p:sp>
        <p:nvSpPr>
          <p:cNvPr id="20" name="Text 18"/>
          <p:cNvSpPr/>
          <p:nvPr/>
        </p:nvSpPr>
        <p:spPr>
          <a:xfrm>
            <a:off x="768096" y="2267712"/>
            <a:ext cx="3639312" cy="256032"/>
          </a:xfrm>
          <a:prstGeom prst="rect">
            <a:avLst/>
          </a:prstGeom>
          <a:noFill/>
          <a:ln/>
        </p:spPr>
        <p:txBody>
          <a:bodyPr wrap="square" lIns="0" tIns="0" rIns="0" bIns="0" rtlCol="0" anchor="ctr"/>
          <a:lstStyle/>
          <a:p>
            <a:pPr marL="0" indent="0">
              <a:buNone/>
            </a:pPr>
            <a:r>
              <a:rPr lang="en-US" sz="1100" b="1" dirty="0">
                <a:solidFill>
                  <a:srgbClr val="C8963E"/>
                </a:solidFill>
                <a:latin typeface="Calibri" pitchFamily="34" charset="0"/>
                <a:ea typeface="Calibri" pitchFamily="34" charset="-122"/>
                <a:cs typeface="Calibri" pitchFamily="34" charset="-120"/>
              </a:rPr>
              <a:t>Transaction Costs &amp; Liquidity</a:t>
            </a:r>
            <a:endParaRPr lang="en-US" sz="1100" dirty="0"/>
          </a:p>
        </p:txBody>
      </p:sp>
      <p:sp>
        <p:nvSpPr>
          <p:cNvPr id="21" name="Text 19"/>
          <p:cNvSpPr/>
          <p:nvPr/>
        </p:nvSpPr>
        <p:spPr>
          <a:xfrm>
            <a:off x="768096" y="257860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Optimal portfolios require frequent rebalancing. Transaction costs, bid-ask spreads, and market impact can erode up to 30-40% of theoretical alpha. Turnover constraints must be imposed.</a:t>
            </a:r>
            <a:endParaRPr lang="en-US" sz="1000" dirty="0"/>
          </a:p>
        </p:txBody>
      </p:sp>
      <p:sp>
        <p:nvSpPr>
          <p:cNvPr id="22" name="Shape 20"/>
          <p:cNvSpPr/>
          <p:nvPr/>
        </p:nvSpPr>
        <p:spPr>
          <a:xfrm>
            <a:off x="4663440" y="221284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23" name="Shape 21"/>
          <p:cNvSpPr/>
          <p:nvPr/>
        </p:nvSpPr>
        <p:spPr>
          <a:xfrm>
            <a:off x="4663440" y="2212848"/>
            <a:ext cx="502920" cy="1325880"/>
          </a:xfrm>
          <a:prstGeom prst="rect">
            <a:avLst/>
          </a:prstGeom>
          <a:solidFill>
            <a:srgbClr val="1B6CA8"/>
          </a:solidFill>
          <a:ln/>
        </p:spPr>
      </p:sp>
      <p:sp>
        <p:nvSpPr>
          <p:cNvPr id="24" name="Text 22"/>
          <p:cNvSpPr/>
          <p:nvPr/>
        </p:nvSpPr>
        <p:spPr>
          <a:xfrm>
            <a:off x="4718304" y="268833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L4</a:t>
            </a:r>
            <a:endParaRPr lang="en-US" sz="1300" dirty="0"/>
          </a:p>
        </p:txBody>
      </p:sp>
      <p:sp>
        <p:nvSpPr>
          <p:cNvPr id="25" name="Text 23"/>
          <p:cNvSpPr/>
          <p:nvPr/>
        </p:nvSpPr>
        <p:spPr>
          <a:xfrm>
            <a:off x="5248656" y="2267712"/>
            <a:ext cx="3639312" cy="256032"/>
          </a:xfrm>
          <a:prstGeom prst="rect">
            <a:avLst/>
          </a:prstGeom>
          <a:noFill/>
          <a:ln/>
        </p:spPr>
        <p:txBody>
          <a:bodyPr wrap="square" lIns="0" tIns="0" rIns="0" bIns="0" rtlCol="0" anchor="ctr"/>
          <a:lstStyle/>
          <a:p>
            <a:pPr marL="0" indent="0">
              <a:buNone/>
            </a:pPr>
            <a:r>
              <a:rPr lang="en-US" sz="1100" b="1" dirty="0">
                <a:solidFill>
                  <a:srgbClr val="1B6CA8"/>
                </a:solidFill>
                <a:latin typeface="Calibri" pitchFamily="34" charset="0"/>
                <a:ea typeface="Calibri" pitchFamily="34" charset="-122"/>
                <a:cs typeface="Calibri" pitchFamily="34" charset="-120"/>
              </a:rPr>
              <a:t>Look-Ahead Bias in LR Features</a:t>
            </a:r>
            <a:endParaRPr lang="en-US" sz="1100" dirty="0"/>
          </a:p>
        </p:txBody>
      </p:sp>
      <p:sp>
        <p:nvSpPr>
          <p:cNvPr id="26" name="Text 24"/>
          <p:cNvSpPr/>
          <p:nvPr/>
        </p:nvSpPr>
        <p:spPr>
          <a:xfrm>
            <a:off x="5248656" y="257860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If features use forward-looking information (e.g., future earnings), backtest performance is overstated. Strict point-in-time data discipline is essential for live deployment.</a:t>
            </a:r>
            <a:endParaRPr lang="en-US" sz="1000" dirty="0"/>
          </a:p>
        </p:txBody>
      </p:sp>
      <p:sp>
        <p:nvSpPr>
          <p:cNvPr id="27" name="Shape 25"/>
          <p:cNvSpPr/>
          <p:nvPr/>
        </p:nvSpPr>
        <p:spPr>
          <a:xfrm>
            <a:off x="182880" y="367588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28" name="Shape 26"/>
          <p:cNvSpPr/>
          <p:nvPr/>
        </p:nvSpPr>
        <p:spPr>
          <a:xfrm>
            <a:off x="182880" y="3675888"/>
            <a:ext cx="502920" cy="1325880"/>
          </a:xfrm>
          <a:prstGeom prst="rect">
            <a:avLst/>
          </a:prstGeom>
          <a:solidFill>
            <a:srgbClr val="0D1B2A"/>
          </a:solidFill>
          <a:ln/>
        </p:spPr>
      </p:sp>
      <p:sp>
        <p:nvSpPr>
          <p:cNvPr id="29" name="Text 27"/>
          <p:cNvSpPr/>
          <p:nvPr/>
        </p:nvSpPr>
        <p:spPr>
          <a:xfrm>
            <a:off x="237744" y="415137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L5</a:t>
            </a:r>
            <a:endParaRPr lang="en-US" sz="1300" dirty="0"/>
          </a:p>
        </p:txBody>
      </p:sp>
      <p:sp>
        <p:nvSpPr>
          <p:cNvPr id="30" name="Text 28"/>
          <p:cNvSpPr/>
          <p:nvPr/>
        </p:nvSpPr>
        <p:spPr>
          <a:xfrm>
            <a:off x="768096" y="3730752"/>
            <a:ext cx="3639312" cy="25603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Non-Normality of Returns</a:t>
            </a:r>
            <a:endParaRPr lang="en-US" sz="1100" dirty="0"/>
          </a:p>
        </p:txBody>
      </p:sp>
      <p:sp>
        <p:nvSpPr>
          <p:cNvPr id="31" name="Text 29"/>
          <p:cNvSpPr/>
          <p:nvPr/>
        </p:nvSpPr>
        <p:spPr>
          <a:xfrm>
            <a:off x="768096" y="404164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Extreme events (fat tails) are grossly underestimated by normal distribution assumption. CVaR (Conditional Value at Risk) optimisation is more robust but computationally intensive.</a:t>
            </a:r>
            <a:endParaRPr lang="en-US" sz="1000" dirty="0"/>
          </a:p>
        </p:txBody>
      </p:sp>
      <p:sp>
        <p:nvSpPr>
          <p:cNvPr id="32" name="Shape 30"/>
          <p:cNvSpPr/>
          <p:nvPr/>
        </p:nvSpPr>
        <p:spPr>
          <a:xfrm>
            <a:off x="4663440" y="3675888"/>
            <a:ext cx="4315968" cy="1325880"/>
          </a:xfrm>
          <a:prstGeom prst="rect">
            <a:avLst/>
          </a:prstGeom>
          <a:solidFill>
            <a:srgbClr val="EEF4FB"/>
          </a:solidFill>
          <a:ln/>
          <a:effectLst>
            <a:outerShdw blurRad="76200" dist="25400" dir="8100000" algn="bl" rotWithShape="0">
              <a:srgbClr val="000000">
                <a:alpha val="12000"/>
              </a:srgbClr>
            </a:outerShdw>
          </a:effectLst>
        </p:spPr>
      </p:sp>
      <p:sp>
        <p:nvSpPr>
          <p:cNvPr id="33" name="Shape 31"/>
          <p:cNvSpPr/>
          <p:nvPr/>
        </p:nvSpPr>
        <p:spPr>
          <a:xfrm>
            <a:off x="4663440" y="3675888"/>
            <a:ext cx="502920" cy="1325880"/>
          </a:xfrm>
          <a:prstGeom prst="rect">
            <a:avLst/>
          </a:prstGeom>
          <a:solidFill>
            <a:srgbClr val="1E8449"/>
          </a:solidFill>
          <a:ln/>
        </p:spPr>
      </p:sp>
      <p:sp>
        <p:nvSpPr>
          <p:cNvPr id="34" name="Text 32"/>
          <p:cNvSpPr/>
          <p:nvPr/>
        </p:nvSpPr>
        <p:spPr>
          <a:xfrm>
            <a:off x="4718304" y="4151376"/>
            <a:ext cx="40233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L6</a:t>
            </a:r>
            <a:endParaRPr lang="en-US" sz="1300" dirty="0"/>
          </a:p>
        </p:txBody>
      </p:sp>
      <p:sp>
        <p:nvSpPr>
          <p:cNvPr id="35" name="Text 33"/>
          <p:cNvSpPr/>
          <p:nvPr/>
        </p:nvSpPr>
        <p:spPr>
          <a:xfrm>
            <a:off x="5248656" y="3730752"/>
            <a:ext cx="3639312" cy="256032"/>
          </a:xfrm>
          <a:prstGeom prst="rect">
            <a:avLst/>
          </a:prstGeom>
          <a:noFill/>
          <a:ln/>
        </p:spPr>
        <p:txBody>
          <a:bodyPr wrap="square" lIns="0" tIns="0" rIns="0" bIns="0" rtlCol="0" anchor="ctr"/>
          <a:lstStyle/>
          <a:p>
            <a:pPr marL="0" indent="0">
              <a:buNone/>
            </a:pPr>
            <a:r>
              <a:rPr lang="en-US" sz="1100" b="1" dirty="0">
                <a:solidFill>
                  <a:srgbClr val="1E8449"/>
                </a:solidFill>
                <a:latin typeface="Calibri" pitchFamily="34" charset="0"/>
                <a:ea typeface="Calibri" pitchFamily="34" charset="-122"/>
                <a:cs typeface="Calibri" pitchFamily="34" charset="-120"/>
              </a:rPr>
              <a:t>Overfitting in Logistic Regression</a:t>
            </a:r>
            <a:endParaRPr lang="en-US" sz="1100" dirty="0"/>
          </a:p>
        </p:txBody>
      </p:sp>
      <p:sp>
        <p:nvSpPr>
          <p:cNvPr id="36" name="Text 34"/>
          <p:cNvSpPr/>
          <p:nvPr/>
        </p:nvSpPr>
        <p:spPr>
          <a:xfrm>
            <a:off x="5248656" y="4041648"/>
            <a:ext cx="3639312" cy="89611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With many features, LR can overfit the training period. Regularisation (LASSO, Ridge), cross-validation, and feature selection are necessary. Out-of-sample degradation is common.</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Future Scope — AI &amp; Deep Learning in Portfolio Optimisation</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Text 5"/>
          <p:cNvSpPr/>
          <p:nvPr/>
        </p:nvSpPr>
        <p:spPr>
          <a:xfrm>
            <a:off x="182880" y="713232"/>
            <a:ext cx="8778240" cy="365760"/>
          </a:xfrm>
          <a:prstGeom prst="rect">
            <a:avLst/>
          </a:prstGeom>
          <a:noFill/>
          <a:ln/>
        </p:spPr>
        <p:txBody>
          <a:bodyPr wrap="square" lIns="0" tIns="0" rIns="0" bIns="0" rtlCol="0" anchor="ctr"/>
          <a:lstStyle/>
          <a:p>
            <a:pPr marL="0" indent="0">
              <a:buNone/>
            </a:pPr>
            <a:r>
              <a:rPr lang="en-US" sz="1150" i="1" dirty="0">
                <a:solidFill>
                  <a:srgbClr val="0D1B2A"/>
                </a:solidFill>
                <a:latin typeface="Calibri" pitchFamily="34" charset="0"/>
                <a:ea typeface="Calibri" pitchFamily="34" charset="-122"/>
                <a:cs typeface="Calibri" pitchFamily="34" charset="-120"/>
              </a:rPr>
              <a:t>The convergence of deep learning, reinforcement learning, and NLP is reshaping quantitative finance. Future work should incorporate these paradigms.</a:t>
            </a:r>
            <a:endParaRPr lang="en-US" sz="1150" dirty="0"/>
          </a:p>
        </p:txBody>
      </p:sp>
      <p:sp>
        <p:nvSpPr>
          <p:cNvPr id="8" name="Shape 6"/>
          <p:cNvSpPr/>
          <p:nvPr/>
        </p:nvSpPr>
        <p:spPr>
          <a:xfrm>
            <a:off x="182880" y="11704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9" name="Shape 7"/>
          <p:cNvSpPr/>
          <p:nvPr/>
        </p:nvSpPr>
        <p:spPr>
          <a:xfrm>
            <a:off x="182880" y="1170432"/>
            <a:ext cx="4315968" cy="365760"/>
          </a:xfrm>
          <a:prstGeom prst="rect">
            <a:avLst/>
          </a:prstGeom>
          <a:solidFill>
            <a:srgbClr val="0D1B2A"/>
          </a:solidFill>
          <a:ln/>
        </p:spPr>
      </p:sp>
      <p:pic>
        <p:nvPicPr>
          <p:cNvPr id="10" name="Image 0" descr="preencoded.png"/>
          <p:cNvPicPr>
            <a:picLocks noChangeAspect="1"/>
          </p:cNvPicPr>
          <p:nvPr/>
        </p:nvPicPr>
        <p:blipFill>
          <a:blip r:embed="rId3"/>
          <a:stretch>
            <a:fillRect/>
          </a:stretch>
        </p:blipFill>
        <p:spPr>
          <a:xfrm>
            <a:off x="274320" y="1216152"/>
            <a:ext cx="274320" cy="274320"/>
          </a:xfrm>
          <a:prstGeom prst="rect">
            <a:avLst/>
          </a:prstGeom>
        </p:spPr>
      </p:pic>
      <p:sp>
        <p:nvSpPr>
          <p:cNvPr id="11" name="Text 8"/>
          <p:cNvSpPr/>
          <p:nvPr/>
        </p:nvSpPr>
        <p:spPr>
          <a:xfrm>
            <a:off x="640080" y="1225296"/>
            <a:ext cx="376732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LSTM for Return Prediction</a:t>
            </a:r>
            <a:endParaRPr lang="en-US" sz="1100" dirty="0"/>
          </a:p>
        </p:txBody>
      </p:sp>
      <p:sp>
        <p:nvSpPr>
          <p:cNvPr id="12" name="Text 9"/>
          <p:cNvSpPr/>
          <p:nvPr/>
        </p:nvSpPr>
        <p:spPr>
          <a:xfrm>
            <a:off x="292608" y="1609344"/>
            <a:ext cx="4096512" cy="11704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Long Short-Term Memory networks capture temporal dependencies in multi-variate return series. Input: 60-day return windows + macro features. Output: predicted μ vector to feed into MVO. Advantage over ARIMA/GARCH: non-linear patterns, regime-aware.</a:t>
            </a:r>
            <a:endParaRPr lang="en-US" sz="1000" dirty="0"/>
          </a:p>
        </p:txBody>
      </p:sp>
      <p:sp>
        <p:nvSpPr>
          <p:cNvPr id="13" name="Shape 10"/>
          <p:cNvSpPr/>
          <p:nvPr/>
        </p:nvSpPr>
        <p:spPr>
          <a:xfrm>
            <a:off x="4663440" y="11704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14" name="Shape 11"/>
          <p:cNvSpPr/>
          <p:nvPr/>
        </p:nvSpPr>
        <p:spPr>
          <a:xfrm>
            <a:off x="4663440" y="1170432"/>
            <a:ext cx="4315968" cy="365760"/>
          </a:xfrm>
          <a:prstGeom prst="rect">
            <a:avLst/>
          </a:prstGeom>
          <a:solidFill>
            <a:srgbClr val="1B6CA8"/>
          </a:solidFill>
          <a:ln/>
        </p:spPr>
      </p:sp>
      <p:pic>
        <p:nvPicPr>
          <p:cNvPr id="15" name="Image 1" descr="preencoded.png"/>
          <p:cNvPicPr>
            <a:picLocks noChangeAspect="1"/>
          </p:cNvPicPr>
          <p:nvPr/>
        </p:nvPicPr>
        <p:blipFill>
          <a:blip r:embed="rId4"/>
          <a:stretch>
            <a:fillRect/>
          </a:stretch>
        </p:blipFill>
        <p:spPr>
          <a:xfrm>
            <a:off x="4754880" y="1216152"/>
            <a:ext cx="274320" cy="274320"/>
          </a:xfrm>
          <a:prstGeom prst="rect">
            <a:avLst/>
          </a:prstGeom>
        </p:spPr>
      </p:pic>
      <p:sp>
        <p:nvSpPr>
          <p:cNvPr id="16" name="Text 12"/>
          <p:cNvSpPr/>
          <p:nvPr/>
        </p:nvSpPr>
        <p:spPr>
          <a:xfrm>
            <a:off x="5120640" y="1225296"/>
            <a:ext cx="376732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Reinforcement Learning (RL) Portfolio Management</a:t>
            </a:r>
            <a:endParaRPr lang="en-US" sz="1100" dirty="0"/>
          </a:p>
        </p:txBody>
      </p:sp>
      <p:sp>
        <p:nvSpPr>
          <p:cNvPr id="17" name="Text 13"/>
          <p:cNvSpPr/>
          <p:nvPr/>
        </p:nvSpPr>
        <p:spPr>
          <a:xfrm>
            <a:off x="4773168" y="1609344"/>
            <a:ext cx="4096512" cy="11704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Deep RL agents (PPO, SAC) learn a continuous portfolio rebalancing policy directly from price data. Reward = risk-adjusted return. No need for separate volatility or return model. End-to-end: raw prices → optimal weights. See: Jiang et al. (2017).</a:t>
            </a:r>
            <a:endParaRPr lang="en-US" sz="1000" dirty="0"/>
          </a:p>
        </p:txBody>
      </p:sp>
      <p:sp>
        <p:nvSpPr>
          <p:cNvPr id="18" name="Shape 14"/>
          <p:cNvSpPr/>
          <p:nvPr/>
        </p:nvSpPr>
        <p:spPr>
          <a:xfrm>
            <a:off x="182880" y="29992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19" name="Shape 15"/>
          <p:cNvSpPr/>
          <p:nvPr/>
        </p:nvSpPr>
        <p:spPr>
          <a:xfrm>
            <a:off x="182880" y="2999232"/>
            <a:ext cx="4315968" cy="365760"/>
          </a:xfrm>
          <a:prstGeom prst="rect">
            <a:avLst/>
          </a:prstGeom>
          <a:solidFill>
            <a:srgbClr val="7D3C98"/>
          </a:solidFill>
          <a:ln/>
        </p:spPr>
      </p:sp>
      <p:pic>
        <p:nvPicPr>
          <p:cNvPr id="20" name="Image 2" descr="preencoded.png"/>
          <p:cNvPicPr>
            <a:picLocks noChangeAspect="1"/>
          </p:cNvPicPr>
          <p:nvPr/>
        </p:nvPicPr>
        <p:blipFill>
          <a:blip r:embed="rId5"/>
          <a:stretch>
            <a:fillRect/>
          </a:stretch>
        </p:blipFill>
        <p:spPr>
          <a:xfrm>
            <a:off x="274320" y="3044952"/>
            <a:ext cx="274320" cy="274320"/>
          </a:xfrm>
          <a:prstGeom prst="rect">
            <a:avLst/>
          </a:prstGeom>
        </p:spPr>
      </p:pic>
      <p:sp>
        <p:nvSpPr>
          <p:cNvPr id="21" name="Text 16"/>
          <p:cNvSpPr/>
          <p:nvPr/>
        </p:nvSpPr>
        <p:spPr>
          <a:xfrm>
            <a:off x="640080" y="3054096"/>
            <a:ext cx="376732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Transformer / Attention Models</a:t>
            </a:r>
            <a:endParaRPr lang="en-US" sz="1100" dirty="0"/>
          </a:p>
        </p:txBody>
      </p:sp>
      <p:sp>
        <p:nvSpPr>
          <p:cNvPr id="22" name="Text 17"/>
          <p:cNvSpPr/>
          <p:nvPr/>
        </p:nvSpPr>
        <p:spPr>
          <a:xfrm>
            <a:off x="292608" y="3438144"/>
            <a:ext cx="4096512" cy="11704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Transformer architectures process cross-asset return series simultaneously, capturing complex inter-asset dependencies. Temporal Fusion Transformer (Lim et al., 2021) shown to outperform LSTM on financial time series prediction tasks.</a:t>
            </a:r>
            <a:endParaRPr lang="en-US" sz="1000" dirty="0"/>
          </a:p>
        </p:txBody>
      </p:sp>
      <p:sp>
        <p:nvSpPr>
          <p:cNvPr id="23" name="Shape 18"/>
          <p:cNvSpPr/>
          <p:nvPr/>
        </p:nvSpPr>
        <p:spPr>
          <a:xfrm>
            <a:off x="4663440" y="2999232"/>
            <a:ext cx="4315968" cy="1664208"/>
          </a:xfrm>
          <a:prstGeom prst="rect">
            <a:avLst/>
          </a:prstGeom>
          <a:solidFill>
            <a:srgbClr val="EEF4FB"/>
          </a:solidFill>
          <a:ln/>
          <a:effectLst>
            <a:outerShdw blurRad="76200" dist="25400" dir="8100000" algn="bl" rotWithShape="0">
              <a:srgbClr val="000000">
                <a:alpha val="12000"/>
              </a:srgbClr>
            </a:outerShdw>
          </a:effectLst>
        </p:spPr>
      </p:sp>
      <p:sp>
        <p:nvSpPr>
          <p:cNvPr id="24" name="Shape 19"/>
          <p:cNvSpPr/>
          <p:nvPr/>
        </p:nvSpPr>
        <p:spPr>
          <a:xfrm>
            <a:off x="4663440" y="2999232"/>
            <a:ext cx="4315968" cy="365760"/>
          </a:xfrm>
          <a:prstGeom prst="rect">
            <a:avLst/>
          </a:prstGeom>
          <a:solidFill>
            <a:srgbClr val="C8963E"/>
          </a:solidFill>
          <a:ln/>
        </p:spPr>
      </p:sp>
      <p:pic>
        <p:nvPicPr>
          <p:cNvPr id="25" name="Image 3" descr="preencoded.png"/>
          <p:cNvPicPr>
            <a:picLocks noChangeAspect="1"/>
          </p:cNvPicPr>
          <p:nvPr/>
        </p:nvPicPr>
        <p:blipFill>
          <a:blip r:embed="rId6"/>
          <a:stretch>
            <a:fillRect/>
          </a:stretch>
        </p:blipFill>
        <p:spPr>
          <a:xfrm>
            <a:off x="4754880" y="3044952"/>
            <a:ext cx="274320" cy="274320"/>
          </a:xfrm>
          <a:prstGeom prst="rect">
            <a:avLst/>
          </a:prstGeom>
        </p:spPr>
      </p:pic>
      <p:sp>
        <p:nvSpPr>
          <p:cNvPr id="26" name="Text 20"/>
          <p:cNvSpPr/>
          <p:nvPr/>
        </p:nvSpPr>
        <p:spPr>
          <a:xfrm>
            <a:off x="5120640" y="3054096"/>
            <a:ext cx="3767328"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NLP Sentiment Integration</a:t>
            </a:r>
            <a:endParaRPr lang="en-US" sz="1100" dirty="0"/>
          </a:p>
        </p:txBody>
      </p:sp>
      <p:sp>
        <p:nvSpPr>
          <p:cNvPr id="27" name="Text 21"/>
          <p:cNvSpPr/>
          <p:nvPr/>
        </p:nvSpPr>
        <p:spPr>
          <a:xfrm>
            <a:off x="4773168" y="3438144"/>
            <a:ext cx="4096512" cy="1170432"/>
          </a:xfrm>
          <a:prstGeom prst="rect">
            <a:avLst/>
          </a:prstGeom>
          <a:noFill/>
          <a:ln/>
        </p:spPr>
        <p:txBody>
          <a:bodyPr wrap="square" lIns="0" tIns="0" rIns="0" bIns="0" rtlCol="0" anchor="ctr"/>
          <a:lstStyle/>
          <a:p>
            <a:pPr marL="0" indent="0">
              <a:buNone/>
            </a:pPr>
            <a:r>
              <a:rPr lang="en-US" sz="1000" dirty="0">
                <a:solidFill>
                  <a:srgbClr val="0D1B2A"/>
                </a:solidFill>
                <a:latin typeface="Calibri" pitchFamily="34" charset="0"/>
                <a:ea typeface="Calibri" pitchFamily="34" charset="-122"/>
                <a:cs typeface="Calibri" pitchFamily="34" charset="-120"/>
              </a:rPr>
              <a:t>Large language models (BERT, FinBERT) extract sentiment scores from earnings call transcripts, news, and SEC filings. Sentiment signals α can be combined with MVO as additional return predictors (μ̂ = historical + α_sentiment).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731520"/>
            <a:ext cx="2286000" cy="2011680"/>
          </a:xfrm>
          <a:prstGeom prst="rect">
            <a:avLst/>
          </a:prstGeom>
          <a:noFill/>
          <a:ln/>
        </p:spPr>
        <p:txBody>
          <a:bodyPr wrap="square" lIns="0" tIns="0" rIns="0" bIns="0" rtlCol="0" anchor="t"/>
          <a:lstStyle/>
          <a:p>
            <a:pPr marL="0" indent="0" algn="l">
              <a:buNone/>
            </a:pPr>
            <a:r>
              <a:rPr lang="en-US" sz="9600" b="1" dirty="0">
                <a:solidFill>
                  <a:srgbClr val="1B3A5C"/>
                </a:solidFill>
                <a:latin typeface="Calibri" pitchFamily="34" charset="0"/>
                <a:ea typeface="Calibri" pitchFamily="34" charset="-122"/>
                <a:cs typeface="Calibri" pitchFamily="34" charset="-120"/>
              </a:rPr>
              <a:t>07</a:t>
            </a:r>
            <a:endParaRPr lang="en-US" sz="9600" dirty="0"/>
          </a:p>
        </p:txBody>
      </p:sp>
      <p:sp>
        <p:nvSpPr>
          <p:cNvPr id="3" name="Shape 1"/>
          <p:cNvSpPr/>
          <p:nvPr/>
        </p:nvSpPr>
        <p:spPr>
          <a:xfrm>
            <a:off x="365760" y="2880360"/>
            <a:ext cx="1828800" cy="54864"/>
          </a:xfrm>
          <a:prstGeom prst="rect">
            <a:avLst/>
          </a:prstGeom>
          <a:solidFill>
            <a:srgbClr val="C8963E"/>
          </a:solidFill>
          <a:ln/>
        </p:spPr>
      </p:sp>
      <p:sp>
        <p:nvSpPr>
          <p:cNvPr id="4" name="Text 2"/>
          <p:cNvSpPr/>
          <p:nvPr/>
        </p:nvSpPr>
        <p:spPr>
          <a:xfrm>
            <a:off x="365760" y="3017520"/>
            <a:ext cx="82296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References &amp; Acknowledgements</a:t>
            </a:r>
            <a:endParaRPr lang="en-US" sz="3200" dirty="0"/>
          </a:p>
        </p:txBody>
      </p:sp>
      <p:sp>
        <p:nvSpPr>
          <p:cNvPr id="5" name="Text 3"/>
          <p:cNvSpPr/>
          <p:nvPr/>
        </p:nvSpPr>
        <p:spPr>
          <a:xfrm>
            <a:off x="365760" y="3840480"/>
            <a:ext cx="7772400" cy="548640"/>
          </a:xfrm>
          <a:prstGeom prst="rect">
            <a:avLst/>
          </a:prstGeom>
          <a:noFill/>
          <a:ln/>
        </p:spPr>
        <p:txBody>
          <a:bodyPr wrap="square" lIns="0" tIns="0" rIns="0" bIns="0" rtlCol="0" anchor="ctr"/>
          <a:lstStyle/>
          <a:p>
            <a:pPr marL="0" indent="0">
              <a:buNone/>
            </a:pPr>
            <a:r>
              <a:rPr lang="en-US" sz="1500" dirty="0">
                <a:solidFill>
                  <a:srgbClr val="D6E0EA"/>
                </a:solidFill>
                <a:latin typeface="Calibri" pitchFamily="34" charset="0"/>
                <a:ea typeface="Calibri" pitchFamily="34" charset="-122"/>
                <a:cs typeface="Calibri" pitchFamily="34" charset="-120"/>
              </a:rPr>
              <a:t>Citations, Team &amp; Course Information</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References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pic>
        <p:nvPicPr>
          <p:cNvPr id="7" name="Image 0" descr="preencoded.png"/>
          <p:cNvPicPr>
            <a:picLocks noChangeAspect="1"/>
          </p:cNvPicPr>
          <p:nvPr/>
        </p:nvPicPr>
        <p:blipFill>
          <a:blip r:embed="rId3"/>
          <a:stretch>
            <a:fillRect/>
          </a:stretch>
        </p:blipFill>
        <p:spPr>
          <a:xfrm>
            <a:off x="182880" y="731520"/>
            <a:ext cx="411480" cy="411480"/>
          </a:xfrm>
          <a:prstGeom prst="rect">
            <a:avLst/>
          </a:prstGeom>
        </p:spPr>
      </p:pic>
      <p:sp>
        <p:nvSpPr>
          <p:cNvPr id="8" name="Text 5"/>
          <p:cNvSpPr/>
          <p:nvPr/>
        </p:nvSpPr>
        <p:spPr>
          <a:xfrm>
            <a:off x="658368" y="768096"/>
            <a:ext cx="8046720" cy="347472"/>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Key Papers &amp; References</a:t>
            </a:r>
            <a:endParaRPr lang="en-US" sz="1600" dirty="0"/>
          </a:p>
        </p:txBody>
      </p:sp>
      <p:sp>
        <p:nvSpPr>
          <p:cNvPr id="9" name="Text 6"/>
          <p:cNvSpPr/>
          <p:nvPr/>
        </p:nvSpPr>
        <p:spPr>
          <a:xfrm>
            <a:off x="182880" y="1261872"/>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[1] Markowitz, H. (1952). Portfolio Selection. Journal of Finance, 7(1), 77–91.</a:t>
            </a:r>
            <a:endParaRPr lang="en-US" sz="950" dirty="0"/>
          </a:p>
        </p:txBody>
      </p:sp>
      <p:sp>
        <p:nvSpPr>
          <p:cNvPr id="10" name="Text 7"/>
          <p:cNvSpPr/>
          <p:nvPr/>
        </p:nvSpPr>
        <p:spPr>
          <a:xfrm>
            <a:off x="182880" y="1554480"/>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[2] Sharpe, W.F. (1964). Capital Asset Prices: A Theory of Market Equilibrium. Journal of Finance, 19(3), 425–442.</a:t>
            </a:r>
            <a:endParaRPr lang="en-US" sz="950" dirty="0"/>
          </a:p>
        </p:txBody>
      </p:sp>
      <p:sp>
        <p:nvSpPr>
          <p:cNvPr id="11" name="Text 8"/>
          <p:cNvSpPr/>
          <p:nvPr/>
        </p:nvSpPr>
        <p:spPr>
          <a:xfrm>
            <a:off x="182880" y="1847088"/>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[3] Engle, R.F. (1982). Autoregressive Conditional Heteroskedasticity with Estimates of the Variance of U.K. Inflation. Econometrica, 50(4), 987–1007.</a:t>
            </a:r>
            <a:endParaRPr lang="en-US" sz="950" dirty="0"/>
          </a:p>
        </p:txBody>
      </p:sp>
      <p:sp>
        <p:nvSpPr>
          <p:cNvPr id="12" name="Text 9"/>
          <p:cNvSpPr/>
          <p:nvPr/>
        </p:nvSpPr>
        <p:spPr>
          <a:xfrm>
            <a:off x="182880" y="2139696"/>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[4] Bollerslev, T. (1986). Generalised Autoregressive Conditional Heteroskedasticity. Journal of Econometrics, 31(3), 307–327.</a:t>
            </a:r>
            <a:endParaRPr lang="en-US" sz="950" dirty="0"/>
          </a:p>
        </p:txBody>
      </p:sp>
      <p:sp>
        <p:nvSpPr>
          <p:cNvPr id="13" name="Text 10"/>
          <p:cNvSpPr/>
          <p:nvPr/>
        </p:nvSpPr>
        <p:spPr>
          <a:xfrm>
            <a:off x="182880" y="2432304"/>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[5] Engle, R. (2002). Dynamic Conditional Correlation. Journal of Business &amp; Economic Statistics, 20(3), 339–350.</a:t>
            </a:r>
            <a:endParaRPr lang="en-US" sz="950" dirty="0"/>
          </a:p>
        </p:txBody>
      </p:sp>
      <p:sp>
        <p:nvSpPr>
          <p:cNvPr id="14" name="Text 11"/>
          <p:cNvSpPr/>
          <p:nvPr/>
        </p:nvSpPr>
        <p:spPr>
          <a:xfrm>
            <a:off x="182880" y="2724912"/>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[6] Gibbons, M.R., Ross, S.A., &amp; Shanken, J. (1989). A Test of the Efficiency of a Given Portfolio. Econometrica, 57(5), 1121–1152.</a:t>
            </a:r>
            <a:endParaRPr lang="en-US" sz="950" dirty="0"/>
          </a:p>
        </p:txBody>
      </p:sp>
      <p:sp>
        <p:nvSpPr>
          <p:cNvPr id="15" name="Text 12"/>
          <p:cNvSpPr/>
          <p:nvPr/>
        </p:nvSpPr>
        <p:spPr>
          <a:xfrm>
            <a:off x="182880" y="3017520"/>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[7] Ledoit, O. &amp; Wolf, M. (2004). A well-conditioned estimator for large-dimensional covariance matrices. Journal of Multivariate Analysis, 88(2), 365–411.</a:t>
            </a:r>
            <a:endParaRPr lang="en-US" sz="950" dirty="0"/>
          </a:p>
        </p:txBody>
      </p:sp>
      <p:sp>
        <p:nvSpPr>
          <p:cNvPr id="16" name="Text 13"/>
          <p:cNvSpPr/>
          <p:nvPr/>
        </p:nvSpPr>
        <p:spPr>
          <a:xfrm>
            <a:off x="182880" y="3310128"/>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[8] Black, F. &amp; Litterman, R. (1992). Global Portfolio Optimization. Financial Analysts Journal, 48(5), 28–43.</a:t>
            </a:r>
            <a:endParaRPr lang="en-US" sz="950" dirty="0"/>
          </a:p>
        </p:txBody>
      </p:sp>
      <p:sp>
        <p:nvSpPr>
          <p:cNvPr id="17" name="Text 14"/>
          <p:cNvSpPr/>
          <p:nvPr/>
        </p:nvSpPr>
        <p:spPr>
          <a:xfrm>
            <a:off x="182880" y="3602736"/>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[9] Michaud, R.O. (1989). The Markowitz Optimization Enigma: Is Optimized Optimal? Financial Analysts Journal, 45(1), 31–42.</a:t>
            </a:r>
            <a:endParaRPr lang="en-US" sz="950" dirty="0"/>
          </a:p>
        </p:txBody>
      </p:sp>
      <p:sp>
        <p:nvSpPr>
          <p:cNvPr id="18" name="Text 15"/>
          <p:cNvSpPr/>
          <p:nvPr/>
        </p:nvSpPr>
        <p:spPr>
          <a:xfrm>
            <a:off x="182880" y="3895344"/>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[10] Jiang, Z., Xu, D., &amp; Liang, J. (2017). A Deep Reinforcement Learning Framework for the Financial Portfolio Management Problem. arXiv:1706.10059.</a:t>
            </a:r>
            <a:endParaRPr lang="en-US" sz="950" dirty="0"/>
          </a:p>
        </p:txBody>
      </p:sp>
      <p:sp>
        <p:nvSpPr>
          <p:cNvPr id="19" name="Text 16"/>
          <p:cNvSpPr/>
          <p:nvPr/>
        </p:nvSpPr>
        <p:spPr>
          <a:xfrm>
            <a:off x="182880" y="4187952"/>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[11] Hochreiter, S. &amp; Schmidhuber, J. (1997). Long Short-Term Memory. Neural Computation, 9(8), 1735–1780.</a:t>
            </a:r>
            <a:endParaRPr lang="en-US" sz="950" dirty="0"/>
          </a:p>
        </p:txBody>
      </p:sp>
      <p:sp>
        <p:nvSpPr>
          <p:cNvPr id="20" name="Text 17"/>
          <p:cNvSpPr/>
          <p:nvPr/>
        </p:nvSpPr>
        <p:spPr>
          <a:xfrm>
            <a:off x="182880" y="4480560"/>
            <a:ext cx="8778240" cy="274320"/>
          </a:xfrm>
          <a:prstGeom prst="rect">
            <a:avLst/>
          </a:prstGeom>
          <a:noFill/>
          <a:ln/>
        </p:spPr>
        <p:txBody>
          <a:bodyPr wrap="square" lIns="0" tIns="0" rIns="0" bIns="0" rtlCol="0" anchor="ctr"/>
          <a:lstStyle/>
          <a:p>
            <a:pPr marL="0" indent="0">
              <a:buNone/>
            </a:pPr>
            <a:r>
              <a:rPr lang="en-US" sz="950" dirty="0">
                <a:solidFill>
                  <a:srgbClr val="0D1B2A"/>
                </a:solidFill>
                <a:latin typeface="Calibri" pitchFamily="34" charset="0"/>
                <a:ea typeface="Calibri" pitchFamily="34" charset="-122"/>
                <a:cs typeface="Calibri" pitchFamily="34" charset="-120"/>
              </a:rPr>
              <a:t>[12] Lim, B. et al. (2021). Temporal Fusion Transformers for Interpretable Multi-horizon Time Series Forecasting. International Journal of Forecasting, 37(4), 1748–1764.</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2A"/>
          </a:solidFill>
          <a:ln/>
        </p:spPr>
      </p:sp>
      <p:sp>
        <p:nvSpPr>
          <p:cNvPr id="3" name="Shape 1"/>
          <p:cNvSpPr/>
          <p:nvPr/>
        </p:nvSpPr>
        <p:spPr>
          <a:xfrm>
            <a:off x="0" y="0"/>
            <a:ext cx="73152" cy="5143500"/>
          </a:xfrm>
          <a:prstGeom prst="rect">
            <a:avLst/>
          </a:prstGeom>
          <a:solidFill>
            <a:srgbClr val="C8963E"/>
          </a:solidFill>
          <a:ln/>
        </p:spPr>
      </p:sp>
      <p:sp>
        <p:nvSpPr>
          <p:cNvPr id="4" name="Text 2"/>
          <p:cNvSpPr/>
          <p:nvPr/>
        </p:nvSpPr>
        <p:spPr>
          <a:xfrm>
            <a:off x="228600" y="73152"/>
            <a:ext cx="850392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Acknowledgements</a:t>
            </a:r>
            <a:endParaRPr lang="en-US" sz="2000" dirty="0"/>
          </a:p>
        </p:txBody>
      </p:sp>
      <p:sp>
        <p:nvSpPr>
          <p:cNvPr id="5" name="Shape 3"/>
          <p:cNvSpPr/>
          <p:nvPr/>
        </p:nvSpPr>
        <p:spPr>
          <a:xfrm>
            <a:off x="0" y="4910328"/>
            <a:ext cx="9144000" cy="233172"/>
          </a:xfrm>
          <a:prstGeom prst="rect">
            <a:avLst/>
          </a:prstGeom>
          <a:solidFill>
            <a:srgbClr val="0D1B2A"/>
          </a:solidFill>
          <a:ln/>
        </p:spPr>
      </p:sp>
      <p:sp>
        <p:nvSpPr>
          <p:cNvPr id="6" name="Text 4"/>
          <p:cNvSpPr/>
          <p:nvPr/>
        </p:nvSpPr>
        <p:spPr>
          <a:xfrm>
            <a:off x="137160" y="4919472"/>
            <a:ext cx="5486400" cy="201168"/>
          </a:xfrm>
          <a:prstGeom prst="rect">
            <a:avLst/>
          </a:prstGeom>
          <a:noFill/>
          <a:ln/>
        </p:spPr>
        <p:txBody>
          <a:bodyPr wrap="square" lIns="0" tIns="0" rIns="0" bIns="0" rtlCol="0" anchor="ctr"/>
          <a:lstStyle/>
          <a:p>
            <a:pPr marL="0" indent="0">
              <a:buNone/>
            </a:pPr>
            <a:r>
              <a:rPr lang="en-US" sz="800" dirty="0">
                <a:solidFill>
                  <a:srgbClr val="D6E0EA"/>
                </a:solidFill>
                <a:latin typeface="Calibri" pitchFamily="34" charset="0"/>
                <a:ea typeface="Calibri" pitchFamily="34" charset="-122"/>
                <a:cs typeface="Calibri" pitchFamily="34" charset="-120"/>
              </a:rPr>
              <a:t>Portfolio Optimisation — Group Project</a:t>
            </a:r>
            <a:endParaRPr lang="en-US" sz="800" dirty="0"/>
          </a:p>
        </p:txBody>
      </p:sp>
      <p:sp>
        <p:nvSpPr>
          <p:cNvPr id="7" name="Shape 5"/>
          <p:cNvSpPr/>
          <p:nvPr/>
        </p:nvSpPr>
        <p:spPr>
          <a:xfrm>
            <a:off x="182880" y="713232"/>
            <a:ext cx="8778240" cy="1371600"/>
          </a:xfrm>
          <a:prstGeom prst="rect">
            <a:avLst/>
          </a:prstGeom>
          <a:solidFill>
            <a:srgbClr val="EEF4FB"/>
          </a:solidFill>
          <a:ln/>
          <a:effectLst>
            <a:outerShdw blurRad="76200" dist="25400" dir="8100000" algn="bl" rotWithShape="0">
              <a:srgbClr val="000000">
                <a:alpha val="12000"/>
              </a:srgbClr>
            </a:outerShdw>
          </a:effectLst>
        </p:spPr>
      </p:sp>
      <p:sp>
        <p:nvSpPr>
          <p:cNvPr id="8" name="Shape 6"/>
          <p:cNvSpPr/>
          <p:nvPr/>
        </p:nvSpPr>
        <p:spPr>
          <a:xfrm>
            <a:off x="182880" y="713232"/>
            <a:ext cx="8778240" cy="347472"/>
          </a:xfrm>
          <a:prstGeom prst="rect">
            <a:avLst/>
          </a:prstGeom>
          <a:solidFill>
            <a:srgbClr val="0D1B2A"/>
          </a:solidFill>
          <a:ln/>
        </p:spPr>
      </p:sp>
      <p:sp>
        <p:nvSpPr>
          <p:cNvPr id="9" name="Text 7"/>
          <p:cNvSpPr/>
          <p:nvPr/>
        </p:nvSpPr>
        <p:spPr>
          <a:xfrm>
            <a:off x="274320" y="731520"/>
            <a:ext cx="8503920" cy="292608"/>
          </a:xfrm>
          <a:prstGeom prst="rect">
            <a:avLst/>
          </a:prstGeom>
          <a:noFill/>
          <a:ln/>
        </p:spPr>
        <p:txBody>
          <a:bodyPr wrap="square" lIns="0" tIns="0" rIns="0" bIns="0" rtlCol="0" anchor="ctr"/>
          <a:lstStyle/>
          <a:p>
            <a:pPr marL="0" indent="0">
              <a:buNone/>
            </a:pPr>
            <a:r>
              <a:rPr lang="en-US" sz="1300" b="1" dirty="0">
                <a:solidFill>
                  <a:srgbClr val="C8963E"/>
                </a:solidFill>
                <a:latin typeface="Calibri" pitchFamily="34" charset="0"/>
                <a:ea typeface="Calibri" pitchFamily="34" charset="-122"/>
                <a:cs typeface="Calibri" pitchFamily="34" charset="-120"/>
              </a:rPr>
              <a:t>Acknowledgements</a:t>
            </a:r>
            <a:endParaRPr lang="en-US" sz="1300" dirty="0"/>
          </a:p>
        </p:txBody>
      </p:sp>
      <p:sp>
        <p:nvSpPr>
          <p:cNvPr id="10" name="Text 8"/>
          <p:cNvSpPr/>
          <p:nvPr/>
        </p:nvSpPr>
        <p:spPr>
          <a:xfrm>
            <a:off x="274320" y="1124712"/>
            <a:ext cx="8503920" cy="896112"/>
          </a:xfrm>
          <a:prstGeom prst="rect">
            <a:avLst/>
          </a:prstGeom>
          <a:noFill/>
          <a:ln/>
        </p:spPr>
        <p:txBody>
          <a:bodyPr wrap="square" lIns="0" tIns="0" rIns="0" bIns="0"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We would like to sincerely thank our course instructor and the Indian Statistical Institute for providing the foundational knowledge and resources that made this project possible. Special thanks to the teaching assistants for their guidance on mathematical modelling and implementation. We also acknowledge the open-source communities behind Python (pandas, numpy, scipy, arch, statsmodels) and the financial data providers whose tools enabled our empirical analysis.</a:t>
            </a:r>
            <a:endParaRPr lang="en-US" sz="1100" dirty="0"/>
          </a:p>
        </p:txBody>
      </p:sp>
      <p:sp>
        <p:nvSpPr>
          <p:cNvPr id="11" name="Shape 9"/>
          <p:cNvSpPr/>
          <p:nvPr/>
        </p:nvSpPr>
        <p:spPr>
          <a:xfrm>
            <a:off x="182880" y="2176272"/>
            <a:ext cx="8778240" cy="329184"/>
          </a:xfrm>
          <a:prstGeom prst="rect">
            <a:avLst/>
          </a:prstGeom>
          <a:solidFill>
            <a:srgbClr val="0D1B2A"/>
          </a:solidFill>
          <a:ln/>
        </p:spPr>
      </p:sp>
      <p:sp>
        <p:nvSpPr>
          <p:cNvPr id="12" name="Text 10"/>
          <p:cNvSpPr/>
          <p:nvPr/>
        </p:nvSpPr>
        <p:spPr>
          <a:xfrm>
            <a:off x="274320" y="2194560"/>
            <a:ext cx="8503920" cy="274320"/>
          </a:xfrm>
          <a:prstGeom prst="rect">
            <a:avLst/>
          </a:prstGeom>
          <a:noFill/>
          <a:ln/>
        </p:spPr>
        <p:txBody>
          <a:bodyPr wrap="square" lIns="0" tIns="0" rIns="0" bIns="0" rtlCol="0" anchor="ctr"/>
          <a:lstStyle/>
          <a:p>
            <a:pPr marL="0" indent="0">
              <a:buNone/>
            </a:pPr>
            <a:r>
              <a:rPr lang="en-US" sz="1200" b="1" dirty="0">
                <a:solidFill>
                  <a:srgbClr val="C8963E"/>
                </a:solidFill>
                <a:latin typeface="Calibri" pitchFamily="34" charset="0"/>
                <a:ea typeface="Calibri" pitchFamily="34" charset="-122"/>
                <a:cs typeface="Calibri" pitchFamily="34" charset="-120"/>
              </a:rPr>
              <a:t>Project Team</a:t>
            </a:r>
            <a:endParaRPr lang="en-US" sz="1200" dirty="0"/>
          </a:p>
        </p:txBody>
      </p:sp>
      <p:sp>
        <p:nvSpPr>
          <p:cNvPr id="13" name="Shape 11"/>
          <p:cNvSpPr/>
          <p:nvPr/>
        </p:nvSpPr>
        <p:spPr>
          <a:xfrm>
            <a:off x="182880" y="2606040"/>
            <a:ext cx="4663440" cy="576072"/>
          </a:xfrm>
          <a:prstGeom prst="rect">
            <a:avLst/>
          </a:prstGeom>
          <a:solidFill>
            <a:srgbClr val="EEF4FB"/>
          </a:solidFill>
          <a:ln/>
          <a:effectLst>
            <a:outerShdw blurRad="76200" dist="25400" dir="8100000" algn="bl" rotWithShape="0">
              <a:srgbClr val="000000">
                <a:alpha val="12000"/>
              </a:srgbClr>
            </a:outerShdw>
          </a:effectLst>
        </p:spPr>
      </p:sp>
      <p:sp>
        <p:nvSpPr>
          <p:cNvPr id="14" name="Shape 12"/>
          <p:cNvSpPr/>
          <p:nvPr/>
        </p:nvSpPr>
        <p:spPr>
          <a:xfrm>
            <a:off x="182880" y="2606040"/>
            <a:ext cx="54864" cy="576072"/>
          </a:xfrm>
          <a:prstGeom prst="rect">
            <a:avLst/>
          </a:prstGeom>
          <a:solidFill>
            <a:srgbClr val="C8963E"/>
          </a:solidFill>
          <a:ln/>
        </p:spPr>
      </p:sp>
      <p:pic>
        <p:nvPicPr>
          <p:cNvPr id="15" name="Image 0" descr="preencoded.png"/>
          <p:cNvPicPr>
            <a:picLocks noChangeAspect="1"/>
          </p:cNvPicPr>
          <p:nvPr/>
        </p:nvPicPr>
        <p:blipFill>
          <a:blip r:embed="rId3"/>
          <a:stretch>
            <a:fillRect/>
          </a:stretch>
        </p:blipFill>
        <p:spPr>
          <a:xfrm>
            <a:off x="310896" y="2715768"/>
            <a:ext cx="274320" cy="274320"/>
          </a:xfrm>
          <a:prstGeom prst="rect">
            <a:avLst/>
          </a:prstGeom>
        </p:spPr>
      </p:pic>
      <p:sp>
        <p:nvSpPr>
          <p:cNvPr id="16" name="Text 13"/>
          <p:cNvSpPr/>
          <p:nvPr/>
        </p:nvSpPr>
        <p:spPr>
          <a:xfrm>
            <a:off x="658368" y="2660904"/>
            <a:ext cx="41148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Member 1 Name</a:t>
            </a:r>
            <a:endParaRPr lang="en-US" sz="1200" dirty="0"/>
          </a:p>
        </p:txBody>
      </p:sp>
      <p:sp>
        <p:nvSpPr>
          <p:cNvPr id="17" name="Text 14"/>
          <p:cNvSpPr/>
          <p:nvPr/>
        </p:nvSpPr>
        <p:spPr>
          <a:xfrm>
            <a:off x="658368" y="2935224"/>
            <a:ext cx="4114800" cy="201168"/>
          </a:xfrm>
          <a:prstGeom prst="rect">
            <a:avLst/>
          </a:prstGeom>
          <a:noFill/>
          <a:ln/>
        </p:spPr>
        <p:txBody>
          <a:bodyPr wrap="square" lIns="0" tIns="0" rIns="0" bIns="0" rtlCol="0" anchor="ctr"/>
          <a:lstStyle/>
          <a:p>
            <a:pPr marL="0" indent="0">
              <a:buNone/>
            </a:pPr>
            <a:r>
              <a:rPr lang="en-US" sz="950" dirty="0">
                <a:solidFill>
                  <a:srgbClr val="8896A5"/>
                </a:solidFill>
                <a:latin typeface="Calibri" pitchFamily="34" charset="0"/>
                <a:ea typeface="Calibri" pitchFamily="34" charset="-122"/>
                <a:cs typeface="Calibri" pitchFamily="34" charset="-120"/>
              </a:rPr>
              <a:t>Roll No. XXXXXX  |  MVO Implementation &amp; Theory</a:t>
            </a:r>
            <a:endParaRPr lang="en-US" sz="950" dirty="0"/>
          </a:p>
        </p:txBody>
      </p:sp>
      <p:sp>
        <p:nvSpPr>
          <p:cNvPr id="18" name="Shape 15"/>
          <p:cNvSpPr/>
          <p:nvPr/>
        </p:nvSpPr>
        <p:spPr>
          <a:xfrm>
            <a:off x="182880" y="3264408"/>
            <a:ext cx="4663440" cy="576072"/>
          </a:xfrm>
          <a:prstGeom prst="rect">
            <a:avLst/>
          </a:prstGeom>
          <a:solidFill>
            <a:srgbClr val="EEF4FB"/>
          </a:solidFill>
          <a:ln/>
          <a:effectLst>
            <a:outerShdw blurRad="76200" dist="25400" dir="8100000" algn="bl" rotWithShape="0">
              <a:srgbClr val="000000">
                <a:alpha val="12000"/>
              </a:srgbClr>
            </a:outerShdw>
          </a:effectLst>
        </p:spPr>
      </p:sp>
      <p:sp>
        <p:nvSpPr>
          <p:cNvPr id="19" name="Shape 16"/>
          <p:cNvSpPr/>
          <p:nvPr/>
        </p:nvSpPr>
        <p:spPr>
          <a:xfrm>
            <a:off x="182880" y="3264408"/>
            <a:ext cx="54864" cy="576072"/>
          </a:xfrm>
          <a:prstGeom prst="rect">
            <a:avLst/>
          </a:prstGeom>
          <a:solidFill>
            <a:srgbClr val="C8963E"/>
          </a:solidFill>
          <a:ln/>
        </p:spPr>
      </p:sp>
      <p:pic>
        <p:nvPicPr>
          <p:cNvPr id="20" name="Image 1" descr="preencoded.png"/>
          <p:cNvPicPr>
            <a:picLocks noChangeAspect="1"/>
          </p:cNvPicPr>
          <p:nvPr/>
        </p:nvPicPr>
        <p:blipFill>
          <a:blip r:embed="rId3"/>
          <a:stretch>
            <a:fillRect/>
          </a:stretch>
        </p:blipFill>
        <p:spPr>
          <a:xfrm>
            <a:off x="310896" y="3374136"/>
            <a:ext cx="274320" cy="274320"/>
          </a:xfrm>
          <a:prstGeom prst="rect">
            <a:avLst/>
          </a:prstGeom>
        </p:spPr>
      </p:pic>
      <p:sp>
        <p:nvSpPr>
          <p:cNvPr id="21" name="Text 17"/>
          <p:cNvSpPr/>
          <p:nvPr/>
        </p:nvSpPr>
        <p:spPr>
          <a:xfrm>
            <a:off x="658368" y="3319272"/>
            <a:ext cx="41148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Member 2 Name</a:t>
            </a:r>
            <a:endParaRPr lang="en-US" sz="1200" dirty="0"/>
          </a:p>
        </p:txBody>
      </p:sp>
      <p:sp>
        <p:nvSpPr>
          <p:cNvPr id="22" name="Text 18"/>
          <p:cNvSpPr/>
          <p:nvPr/>
        </p:nvSpPr>
        <p:spPr>
          <a:xfrm>
            <a:off x="658368" y="3593592"/>
            <a:ext cx="4114800" cy="201168"/>
          </a:xfrm>
          <a:prstGeom prst="rect">
            <a:avLst/>
          </a:prstGeom>
          <a:noFill/>
          <a:ln/>
        </p:spPr>
        <p:txBody>
          <a:bodyPr wrap="square" lIns="0" tIns="0" rIns="0" bIns="0" rtlCol="0" anchor="ctr"/>
          <a:lstStyle/>
          <a:p>
            <a:pPr marL="0" indent="0">
              <a:buNone/>
            </a:pPr>
            <a:r>
              <a:rPr lang="en-US" sz="950" dirty="0">
                <a:solidFill>
                  <a:srgbClr val="8896A5"/>
                </a:solidFill>
                <a:latin typeface="Calibri" pitchFamily="34" charset="0"/>
                <a:ea typeface="Calibri" pitchFamily="34" charset="-122"/>
                <a:cs typeface="Calibri" pitchFamily="34" charset="-120"/>
              </a:rPr>
              <a:t>Roll No. XXXXXX  |  Logistic Regression Modelling</a:t>
            </a:r>
            <a:endParaRPr lang="en-US" sz="950" dirty="0"/>
          </a:p>
        </p:txBody>
      </p:sp>
      <p:sp>
        <p:nvSpPr>
          <p:cNvPr id="23" name="Shape 19"/>
          <p:cNvSpPr/>
          <p:nvPr/>
        </p:nvSpPr>
        <p:spPr>
          <a:xfrm>
            <a:off x="182880" y="3922776"/>
            <a:ext cx="4663440" cy="576072"/>
          </a:xfrm>
          <a:prstGeom prst="rect">
            <a:avLst/>
          </a:prstGeom>
          <a:solidFill>
            <a:srgbClr val="EEF4FB"/>
          </a:solidFill>
          <a:ln/>
          <a:effectLst>
            <a:outerShdw blurRad="76200" dist="25400" dir="8100000" algn="bl" rotWithShape="0">
              <a:srgbClr val="000000">
                <a:alpha val="12000"/>
              </a:srgbClr>
            </a:outerShdw>
          </a:effectLst>
        </p:spPr>
      </p:sp>
      <p:sp>
        <p:nvSpPr>
          <p:cNvPr id="24" name="Shape 20"/>
          <p:cNvSpPr/>
          <p:nvPr/>
        </p:nvSpPr>
        <p:spPr>
          <a:xfrm>
            <a:off x="182880" y="3922776"/>
            <a:ext cx="54864" cy="576072"/>
          </a:xfrm>
          <a:prstGeom prst="rect">
            <a:avLst/>
          </a:prstGeom>
          <a:solidFill>
            <a:srgbClr val="C8963E"/>
          </a:solidFill>
          <a:ln/>
        </p:spPr>
      </p:sp>
      <p:pic>
        <p:nvPicPr>
          <p:cNvPr id="25" name="Image 2" descr="preencoded.png"/>
          <p:cNvPicPr>
            <a:picLocks noChangeAspect="1"/>
          </p:cNvPicPr>
          <p:nvPr/>
        </p:nvPicPr>
        <p:blipFill>
          <a:blip r:embed="rId3"/>
          <a:stretch>
            <a:fillRect/>
          </a:stretch>
        </p:blipFill>
        <p:spPr>
          <a:xfrm>
            <a:off x="310896" y="4032504"/>
            <a:ext cx="274320" cy="274320"/>
          </a:xfrm>
          <a:prstGeom prst="rect">
            <a:avLst/>
          </a:prstGeom>
        </p:spPr>
      </p:pic>
      <p:sp>
        <p:nvSpPr>
          <p:cNvPr id="26" name="Text 21"/>
          <p:cNvSpPr/>
          <p:nvPr/>
        </p:nvSpPr>
        <p:spPr>
          <a:xfrm>
            <a:off x="658368" y="3977640"/>
            <a:ext cx="41148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Member 3 Name</a:t>
            </a:r>
            <a:endParaRPr lang="en-US" sz="1200" dirty="0"/>
          </a:p>
        </p:txBody>
      </p:sp>
      <p:sp>
        <p:nvSpPr>
          <p:cNvPr id="27" name="Text 22"/>
          <p:cNvSpPr/>
          <p:nvPr/>
        </p:nvSpPr>
        <p:spPr>
          <a:xfrm>
            <a:off x="658368" y="4251960"/>
            <a:ext cx="4114800" cy="201168"/>
          </a:xfrm>
          <a:prstGeom prst="rect">
            <a:avLst/>
          </a:prstGeom>
          <a:noFill/>
          <a:ln/>
        </p:spPr>
        <p:txBody>
          <a:bodyPr wrap="square" lIns="0" tIns="0" rIns="0" bIns="0" rtlCol="0" anchor="ctr"/>
          <a:lstStyle/>
          <a:p>
            <a:pPr marL="0" indent="0">
              <a:buNone/>
            </a:pPr>
            <a:r>
              <a:rPr lang="en-US" sz="950" dirty="0">
                <a:solidFill>
                  <a:srgbClr val="8896A5"/>
                </a:solidFill>
                <a:latin typeface="Calibri" pitchFamily="34" charset="0"/>
                <a:ea typeface="Calibri" pitchFamily="34" charset="-122"/>
                <a:cs typeface="Calibri" pitchFamily="34" charset="-120"/>
              </a:rPr>
              <a:t>Roll No. XXXXXX  |  GARCH &amp; DCC Estimation</a:t>
            </a:r>
            <a:endParaRPr lang="en-US" sz="950" dirty="0"/>
          </a:p>
        </p:txBody>
      </p:sp>
      <p:sp>
        <p:nvSpPr>
          <p:cNvPr id="28" name="Shape 23"/>
          <p:cNvSpPr/>
          <p:nvPr/>
        </p:nvSpPr>
        <p:spPr>
          <a:xfrm>
            <a:off x="5029200" y="2606040"/>
            <a:ext cx="4663440" cy="576072"/>
          </a:xfrm>
          <a:prstGeom prst="rect">
            <a:avLst/>
          </a:prstGeom>
          <a:solidFill>
            <a:srgbClr val="EEF4FB"/>
          </a:solidFill>
          <a:ln/>
          <a:effectLst>
            <a:outerShdw blurRad="76200" dist="25400" dir="8100000" algn="bl" rotWithShape="0">
              <a:srgbClr val="000000">
                <a:alpha val="12000"/>
              </a:srgbClr>
            </a:outerShdw>
          </a:effectLst>
        </p:spPr>
      </p:sp>
      <p:sp>
        <p:nvSpPr>
          <p:cNvPr id="29" name="Shape 24"/>
          <p:cNvSpPr/>
          <p:nvPr/>
        </p:nvSpPr>
        <p:spPr>
          <a:xfrm>
            <a:off x="5029200" y="2606040"/>
            <a:ext cx="54864" cy="576072"/>
          </a:xfrm>
          <a:prstGeom prst="rect">
            <a:avLst/>
          </a:prstGeom>
          <a:solidFill>
            <a:srgbClr val="C8963E"/>
          </a:solidFill>
          <a:ln/>
        </p:spPr>
      </p:sp>
      <p:pic>
        <p:nvPicPr>
          <p:cNvPr id="30" name="Image 3" descr="preencoded.png"/>
          <p:cNvPicPr>
            <a:picLocks noChangeAspect="1"/>
          </p:cNvPicPr>
          <p:nvPr/>
        </p:nvPicPr>
        <p:blipFill>
          <a:blip r:embed="rId3"/>
          <a:stretch>
            <a:fillRect/>
          </a:stretch>
        </p:blipFill>
        <p:spPr>
          <a:xfrm>
            <a:off x="5157216" y="2715768"/>
            <a:ext cx="274320" cy="274320"/>
          </a:xfrm>
          <a:prstGeom prst="rect">
            <a:avLst/>
          </a:prstGeom>
        </p:spPr>
      </p:pic>
      <p:sp>
        <p:nvSpPr>
          <p:cNvPr id="31" name="Text 25"/>
          <p:cNvSpPr/>
          <p:nvPr/>
        </p:nvSpPr>
        <p:spPr>
          <a:xfrm>
            <a:off x="5504688" y="2660904"/>
            <a:ext cx="41148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Member 4 Name</a:t>
            </a:r>
            <a:endParaRPr lang="en-US" sz="1200" dirty="0"/>
          </a:p>
        </p:txBody>
      </p:sp>
      <p:sp>
        <p:nvSpPr>
          <p:cNvPr id="32" name="Text 26"/>
          <p:cNvSpPr/>
          <p:nvPr/>
        </p:nvSpPr>
        <p:spPr>
          <a:xfrm>
            <a:off x="5504688" y="2935224"/>
            <a:ext cx="4114800" cy="201168"/>
          </a:xfrm>
          <a:prstGeom prst="rect">
            <a:avLst/>
          </a:prstGeom>
          <a:noFill/>
          <a:ln/>
        </p:spPr>
        <p:txBody>
          <a:bodyPr wrap="square" lIns="0" tIns="0" rIns="0" bIns="0" rtlCol="0" anchor="ctr"/>
          <a:lstStyle/>
          <a:p>
            <a:pPr marL="0" indent="0">
              <a:buNone/>
            </a:pPr>
            <a:r>
              <a:rPr lang="en-US" sz="950" dirty="0">
                <a:solidFill>
                  <a:srgbClr val="8896A5"/>
                </a:solidFill>
                <a:latin typeface="Calibri" pitchFamily="34" charset="0"/>
                <a:ea typeface="Calibri" pitchFamily="34" charset="-122"/>
                <a:cs typeface="Calibri" pitchFamily="34" charset="-120"/>
              </a:rPr>
              <a:t>Roll No. XXXXXX  |  Data Collection &amp; Pre-processing</a:t>
            </a:r>
            <a:endParaRPr lang="en-US" sz="950" dirty="0"/>
          </a:p>
        </p:txBody>
      </p:sp>
      <p:sp>
        <p:nvSpPr>
          <p:cNvPr id="33" name="Shape 27"/>
          <p:cNvSpPr/>
          <p:nvPr/>
        </p:nvSpPr>
        <p:spPr>
          <a:xfrm>
            <a:off x="5029200" y="3264408"/>
            <a:ext cx="4663440" cy="576072"/>
          </a:xfrm>
          <a:prstGeom prst="rect">
            <a:avLst/>
          </a:prstGeom>
          <a:solidFill>
            <a:srgbClr val="EEF4FB"/>
          </a:solidFill>
          <a:ln/>
          <a:effectLst>
            <a:outerShdw blurRad="76200" dist="25400" dir="8100000" algn="bl" rotWithShape="0">
              <a:srgbClr val="000000">
                <a:alpha val="12000"/>
              </a:srgbClr>
            </a:outerShdw>
          </a:effectLst>
        </p:spPr>
      </p:sp>
      <p:sp>
        <p:nvSpPr>
          <p:cNvPr id="34" name="Shape 28"/>
          <p:cNvSpPr/>
          <p:nvPr/>
        </p:nvSpPr>
        <p:spPr>
          <a:xfrm>
            <a:off x="5029200" y="3264408"/>
            <a:ext cx="54864" cy="576072"/>
          </a:xfrm>
          <a:prstGeom prst="rect">
            <a:avLst/>
          </a:prstGeom>
          <a:solidFill>
            <a:srgbClr val="C8963E"/>
          </a:solidFill>
          <a:ln/>
        </p:spPr>
      </p:sp>
      <p:pic>
        <p:nvPicPr>
          <p:cNvPr id="35" name="Image 4" descr="preencoded.png"/>
          <p:cNvPicPr>
            <a:picLocks noChangeAspect="1"/>
          </p:cNvPicPr>
          <p:nvPr/>
        </p:nvPicPr>
        <p:blipFill>
          <a:blip r:embed="rId3"/>
          <a:stretch>
            <a:fillRect/>
          </a:stretch>
        </p:blipFill>
        <p:spPr>
          <a:xfrm>
            <a:off x="5157216" y="3374136"/>
            <a:ext cx="274320" cy="274320"/>
          </a:xfrm>
          <a:prstGeom prst="rect">
            <a:avLst/>
          </a:prstGeom>
        </p:spPr>
      </p:pic>
      <p:sp>
        <p:nvSpPr>
          <p:cNvPr id="36" name="Text 29"/>
          <p:cNvSpPr/>
          <p:nvPr/>
        </p:nvSpPr>
        <p:spPr>
          <a:xfrm>
            <a:off x="5504688" y="3319272"/>
            <a:ext cx="4114800" cy="256032"/>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Member 5 Name</a:t>
            </a:r>
            <a:endParaRPr lang="en-US" sz="1200" dirty="0"/>
          </a:p>
        </p:txBody>
      </p:sp>
      <p:sp>
        <p:nvSpPr>
          <p:cNvPr id="37" name="Text 30"/>
          <p:cNvSpPr/>
          <p:nvPr/>
        </p:nvSpPr>
        <p:spPr>
          <a:xfrm>
            <a:off x="5504688" y="3593592"/>
            <a:ext cx="4114800" cy="201168"/>
          </a:xfrm>
          <a:prstGeom prst="rect">
            <a:avLst/>
          </a:prstGeom>
          <a:noFill/>
          <a:ln/>
        </p:spPr>
        <p:txBody>
          <a:bodyPr wrap="square" lIns="0" tIns="0" rIns="0" bIns="0" rtlCol="0" anchor="ctr"/>
          <a:lstStyle/>
          <a:p>
            <a:pPr marL="0" indent="0">
              <a:buNone/>
            </a:pPr>
            <a:r>
              <a:rPr lang="en-US" sz="950" dirty="0">
                <a:solidFill>
                  <a:srgbClr val="8896A5"/>
                </a:solidFill>
                <a:latin typeface="Calibri" pitchFamily="34" charset="0"/>
                <a:ea typeface="Calibri" pitchFamily="34" charset="-122"/>
                <a:cs typeface="Calibri" pitchFamily="34" charset="-120"/>
              </a:rPr>
              <a:t>Roll No. XXXXXX  |  Backtesting &amp; Visualisation</a:t>
            </a:r>
            <a:endParaRPr lang="en-US" sz="950" dirty="0"/>
          </a:p>
        </p:txBody>
      </p:sp>
      <p:sp>
        <p:nvSpPr>
          <p:cNvPr id="38" name="Shape 31"/>
          <p:cNvSpPr/>
          <p:nvPr/>
        </p:nvSpPr>
        <p:spPr>
          <a:xfrm>
            <a:off x="182880" y="4645152"/>
            <a:ext cx="8778240" cy="320040"/>
          </a:xfrm>
          <a:prstGeom prst="rect">
            <a:avLst/>
          </a:prstGeom>
          <a:solidFill>
            <a:srgbClr val="EDF5FF"/>
          </a:solidFill>
          <a:ln/>
        </p:spPr>
      </p:sp>
      <p:sp>
        <p:nvSpPr>
          <p:cNvPr id="39" name="Text 32"/>
          <p:cNvSpPr/>
          <p:nvPr/>
        </p:nvSpPr>
        <p:spPr>
          <a:xfrm>
            <a:off x="274320" y="4663440"/>
            <a:ext cx="8503920" cy="274320"/>
          </a:xfrm>
          <a:prstGeom prst="rect">
            <a:avLst/>
          </a:prstGeom>
          <a:noFill/>
          <a:ln/>
        </p:spPr>
        <p:txBody>
          <a:bodyPr wrap="square" lIns="0" tIns="0" rIns="0" bIns="0" rtlCol="0" anchor="ctr"/>
          <a:lstStyle/>
          <a:p>
            <a:pPr marL="0" indent="0" algn="ctr">
              <a:buNone/>
            </a:pPr>
            <a:r>
              <a:rPr lang="en-US" sz="1000" dirty="0">
                <a:solidFill>
                  <a:srgbClr val="0D1B2A"/>
                </a:solidFill>
                <a:latin typeface="Calibri" pitchFamily="34" charset="0"/>
                <a:ea typeface="Calibri" pitchFamily="34" charset="-122"/>
                <a:cs typeface="Calibri" pitchFamily="34" charset="-120"/>
              </a:rPr>
              <a:t>Course: Statistics for Finance  |  Programme: B.Stat / M.Stat  |  Indian Statistical Institute, Kolkata  |  Academic Year 2025–26</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8963E"/>
          </a:solidFill>
          <a:ln/>
        </p:spPr>
      </p:sp>
      <p:sp>
        <p:nvSpPr>
          <p:cNvPr id="3" name="Shape 1"/>
          <p:cNvSpPr/>
          <p:nvPr/>
        </p:nvSpPr>
        <p:spPr>
          <a:xfrm>
            <a:off x="0" y="5029200"/>
            <a:ext cx="9144000" cy="114300"/>
          </a:xfrm>
          <a:prstGeom prst="rect">
            <a:avLst/>
          </a:prstGeom>
          <a:solidFill>
            <a:srgbClr val="C8963E"/>
          </a:solidFill>
          <a:ln/>
        </p:spPr>
      </p:sp>
      <p:sp>
        <p:nvSpPr>
          <p:cNvPr id="4" name="Shape 2"/>
          <p:cNvSpPr/>
          <p:nvPr/>
        </p:nvSpPr>
        <p:spPr>
          <a:xfrm>
            <a:off x="5943600" y="-274320"/>
            <a:ext cx="3840480" cy="3840480"/>
          </a:xfrm>
          <a:prstGeom prst="ellipse">
            <a:avLst/>
          </a:prstGeom>
          <a:solidFill>
            <a:srgbClr val="06101A"/>
          </a:solidFill>
          <a:ln w="25400">
            <a:solidFill>
              <a:srgbClr val="1B3A5C"/>
            </a:solidFill>
            <a:prstDash val="solid"/>
          </a:ln>
        </p:spPr>
      </p:sp>
      <p:sp>
        <p:nvSpPr>
          <p:cNvPr id="5" name="Shape 3"/>
          <p:cNvSpPr/>
          <p:nvPr/>
        </p:nvSpPr>
        <p:spPr>
          <a:xfrm>
            <a:off x="6858000" y="3200400"/>
            <a:ext cx="2286000" cy="2286000"/>
          </a:xfrm>
          <a:prstGeom prst="ellipse">
            <a:avLst/>
          </a:prstGeom>
          <a:solidFill>
            <a:srgbClr val="06101A"/>
          </a:solidFill>
          <a:ln w="12700">
            <a:solidFill>
              <a:srgbClr val="C8963E"/>
            </a:solidFill>
            <a:prstDash val="solid"/>
          </a:ln>
        </p:spPr>
      </p:sp>
      <p:sp>
        <p:nvSpPr>
          <p:cNvPr id="6" name="Text 4"/>
          <p:cNvSpPr/>
          <p:nvPr/>
        </p:nvSpPr>
        <p:spPr>
          <a:xfrm>
            <a:off x="320040" y="1280160"/>
            <a:ext cx="5486400" cy="146304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7" name="Shape 5"/>
          <p:cNvSpPr/>
          <p:nvPr/>
        </p:nvSpPr>
        <p:spPr>
          <a:xfrm>
            <a:off x="320040" y="2816352"/>
            <a:ext cx="3200400" cy="54864"/>
          </a:xfrm>
          <a:prstGeom prst="rect">
            <a:avLst/>
          </a:prstGeom>
          <a:solidFill>
            <a:srgbClr val="C8963E"/>
          </a:solidFill>
          <a:ln/>
        </p:spPr>
      </p:sp>
      <p:sp>
        <p:nvSpPr>
          <p:cNvPr id="8" name="Text 6"/>
          <p:cNvSpPr/>
          <p:nvPr/>
        </p:nvSpPr>
        <p:spPr>
          <a:xfrm>
            <a:off x="320040" y="2944368"/>
            <a:ext cx="5486400" cy="347472"/>
          </a:xfrm>
          <a:prstGeom prst="rect">
            <a:avLst/>
          </a:prstGeom>
          <a:noFill/>
          <a:ln/>
        </p:spPr>
        <p:txBody>
          <a:bodyPr wrap="square" lIns="0" tIns="0" rIns="0" bIns="0" rtlCol="0" anchor="ctr"/>
          <a:lstStyle/>
          <a:p>
            <a:pPr marL="0" indent="0">
              <a:buNone/>
            </a:pPr>
            <a:r>
              <a:rPr lang="en-US" sz="1400" i="1" dirty="0">
                <a:solidFill>
                  <a:srgbClr val="D6E0EA"/>
                </a:solidFill>
                <a:latin typeface="Calibri" pitchFamily="34" charset="0"/>
                <a:ea typeface="Calibri" pitchFamily="34" charset="-122"/>
                <a:cs typeface="Calibri" pitchFamily="34" charset="-120"/>
              </a:rPr>
              <a:t>We welcome questions, feedback, and discussion.</a:t>
            </a:r>
            <a:endParaRPr lang="en-US" sz="1400" dirty="0"/>
          </a:p>
        </p:txBody>
      </p:sp>
      <p:sp>
        <p:nvSpPr>
          <p:cNvPr id="9" name="Text 7"/>
          <p:cNvSpPr/>
          <p:nvPr/>
        </p:nvSpPr>
        <p:spPr>
          <a:xfrm>
            <a:off x="320040" y="3429000"/>
            <a:ext cx="5486400" cy="274320"/>
          </a:xfrm>
          <a:prstGeom prst="rect">
            <a:avLst/>
          </a:prstGeom>
          <a:noFill/>
          <a:ln/>
        </p:spPr>
        <p:txBody>
          <a:bodyPr wrap="square" lIns="0" tIns="0" rIns="0" bIns="0" rtlCol="0" anchor="ctr"/>
          <a:lstStyle/>
          <a:p>
            <a:pPr marL="0" indent="0">
              <a:buNone/>
            </a:pPr>
            <a:r>
              <a:rPr lang="en-US" sz="1200" b="1" dirty="0">
                <a:solidFill>
                  <a:srgbClr val="C8963E"/>
                </a:solidFill>
                <a:latin typeface="Calibri" pitchFamily="34" charset="0"/>
                <a:ea typeface="Calibri" pitchFamily="34" charset="-122"/>
                <a:cs typeface="Calibri" pitchFamily="34" charset="-120"/>
              </a:rPr>
              <a:t>Portfolio Optimisation — Group Project</a:t>
            </a:r>
            <a:endParaRPr lang="en-US" sz="1200" dirty="0"/>
          </a:p>
        </p:txBody>
      </p:sp>
      <p:sp>
        <p:nvSpPr>
          <p:cNvPr id="10" name="Text 8"/>
          <p:cNvSpPr/>
          <p:nvPr/>
        </p:nvSpPr>
        <p:spPr>
          <a:xfrm>
            <a:off x="320040" y="3749040"/>
            <a:ext cx="5486400" cy="256032"/>
          </a:xfrm>
          <a:prstGeom prst="rect">
            <a:avLst/>
          </a:prstGeom>
          <a:noFill/>
          <a:ln/>
        </p:spPr>
        <p:txBody>
          <a:bodyPr wrap="square" lIns="0" tIns="0" rIns="0" bIns="0" rtlCol="0" anchor="ctr"/>
          <a:lstStyle/>
          <a:p>
            <a:pPr marL="0" indent="0">
              <a:buNone/>
            </a:pPr>
            <a:r>
              <a:rPr lang="en-US" sz="1100" dirty="0">
                <a:solidFill>
                  <a:srgbClr val="D6E0EA"/>
                </a:solidFill>
                <a:latin typeface="Calibri" pitchFamily="34" charset="0"/>
                <a:ea typeface="Calibri" pitchFamily="34" charset="-122"/>
                <a:cs typeface="Calibri" pitchFamily="34" charset="-120"/>
              </a:rPr>
              <a:t>Indian Statistical Institute, Kolkata  |  Statistics for Finance  |  2025–26</a:t>
            </a:r>
            <a:endParaRPr lang="en-US" sz="1100" dirty="0"/>
          </a:p>
        </p:txBody>
      </p:sp>
      <p:sp>
        <p:nvSpPr>
          <p:cNvPr id="11" name="Text 9"/>
          <p:cNvSpPr/>
          <p:nvPr/>
        </p:nvSpPr>
        <p:spPr>
          <a:xfrm>
            <a:off x="320040" y="4069080"/>
            <a:ext cx="8412480" cy="256032"/>
          </a:xfrm>
          <a:prstGeom prst="rect">
            <a:avLst/>
          </a:prstGeom>
          <a:noFill/>
          <a:ln/>
        </p:spPr>
        <p:txBody>
          <a:bodyPr wrap="square" lIns="0" tIns="0" rIns="0" bIns="0" rtlCol="0" anchor="ctr"/>
          <a:lstStyle/>
          <a:p>
            <a:pPr marL="0" indent="0">
              <a:buNone/>
            </a:pPr>
            <a:r>
              <a:rPr lang="en-US" sz="1100" dirty="0">
                <a:solidFill>
                  <a:srgbClr val="D6E0EA"/>
                </a:solidFill>
                <a:latin typeface="Calibri" pitchFamily="34" charset="0"/>
                <a:ea typeface="Calibri" pitchFamily="34" charset="-122"/>
                <a:cs typeface="Calibri" pitchFamily="34" charset="-120"/>
              </a:rPr>
              <a:t>Team: [Member 1]  ·  [Member 2]  ·  [Member 3]  ·  [Member 4]  ·  [Member 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6029</Words>
  <Application>Microsoft Office PowerPoint</Application>
  <PresentationFormat>On-screen Show (16:9)</PresentationFormat>
  <Paragraphs>770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Optimisation</dc:title>
  <dc:subject>PptxGenJS Presentation</dc:subject>
  <dc:creator>Group Project</dc:creator>
  <cp:lastModifiedBy>SOUMYA CHANDA</cp:lastModifiedBy>
  <cp:revision>2</cp:revision>
  <dcterms:created xsi:type="dcterms:W3CDTF">2026-04-02T19:36:47Z</dcterms:created>
  <dcterms:modified xsi:type="dcterms:W3CDTF">2026-04-03T01:54:16Z</dcterms:modified>
</cp:coreProperties>
</file>